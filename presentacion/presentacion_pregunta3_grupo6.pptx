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6.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7.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8.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2222"/>
                </a:solidFill>
                <a:latin typeface="Calibri"/>
              </a:defRPr>
            </a:pPr>
            <a:r>
              <a:rPr sz="1300" b="0" i="0" u="none" strike="noStrike">
                <a:solidFill>
                  <a:srgbClr val="222222"/>
                </a:solidFill>
                <a:latin typeface="Calibri"/>
              </a:rPr>
              <a:t>Cajas de entrenamiento por especie</a:t>
            </a:r>
          </a:p>
        </c:rich>
      </c:tx>
      <c:layout/>
      <c:overlay val="0"/>
    </c:title>
    <c:autoTitleDeleted val="0"/>
    <c:plotArea>
      <c:layout/>
      <c:barChart>
        <c:barDir val="bar"/>
        <c:grouping val="clustered"/>
        <c:varyColors val="0"/>
        <c:ser>
          <c:idx val="0"/>
          <c:order val="0"/>
          <c:tx>
            <c:strRef>
              <c:f>Sheet1!$B$1</c:f>
              <c:strCache>
                <c:ptCount val="1"/>
                <c:pt idx="0">
                  <c:v>Cajas de entrenamiento</c:v>
                </c:pt>
              </c:strCache>
            </c:strRef>
          </c:tx>
          <c:spPr>
            <a:solidFill>
              <a:srgbClr val="1F3B66"/>
            </a:solidFill>
            <a:effectLst/>
          </c:spPr>
          <c:invertIfNegative val="0"/>
          <c:dLbls>
            <c:numFmt formatCode="0"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cat>
            <c:multiLvlStrRef>
              <c:f>Sheet1!$A$2:$A$15</c:f>
              <c:multiLvlStrCache>
                <c:ptCount val="14"/>
                <c:lvl>
                  <c:pt idx="0">
                    <c:v>zorro</c:v>
                  </c:pt>
                  <c:pt idx="1">
                    <c:v>tejón</c:v>
                  </c:pt>
                  <c:pt idx="2">
                    <c:v>ciervo</c:v>
                  </c:pt>
                  <c:pt idx="3">
                    <c:v>zorrillo</c:v>
                  </c:pt>
                  <c:pt idx="4">
                    <c:v>roedor</c:v>
                  </c:pt>
                  <c:pt idx="5">
                    <c:v>ave</c:v>
                  </c:pt>
                  <c:pt idx="6">
                    <c:v>lince</c:v>
                  </c:pt>
                  <c:pt idx="7">
                    <c:v>perro</c:v>
                  </c:pt>
                  <c:pt idx="8">
                    <c:v>mapache</c:v>
                  </c:pt>
                  <c:pt idx="9">
                    <c:v>ardilla</c:v>
                  </c:pt>
                  <c:pt idx="10">
                    <c:v>gato</c:v>
                  </c:pt>
                  <c:pt idx="11">
                    <c:v>coyote</c:v>
                  </c:pt>
                  <c:pt idx="12">
                    <c:v>conejo</c:v>
                  </c:pt>
                  <c:pt idx="13">
                    <c:v>zarigüeya</c:v>
                  </c:pt>
                </c:lvl>
              </c:multiLvlStrCache>
            </c:multiLvlStrRef>
          </c:cat>
          <c:val>
            <c:numRef>
              <c:f>Sheet1!$B$2:$B$15</c:f>
              <c:numCache>
                <c:formatCode>General</c:formatCode>
                <c:ptCount val="14"/>
                <c:pt idx="0">
                  <c:v>5</c:v>
                </c:pt>
                <c:pt idx="1">
                  <c:v>9</c:v>
                </c:pt>
                <c:pt idx="2">
                  <c:v>44</c:v>
                </c:pt>
                <c:pt idx="3">
                  <c:v>214</c:v>
                </c:pt>
                <c:pt idx="4">
                  <c:v>264</c:v>
                </c:pt>
                <c:pt idx="5">
                  <c:v>560</c:v>
                </c:pt>
                <c:pt idx="6">
                  <c:v>684</c:v>
                </c:pt>
                <c:pt idx="7">
                  <c:v>769</c:v>
                </c:pt>
                <c:pt idx="8">
                  <c:v>1030</c:v>
                </c:pt>
                <c:pt idx="9">
                  <c:v>1037</c:v>
                </c:pt>
                <c:pt idx="10">
                  <c:v>1170</c:v>
                </c:pt>
                <c:pt idx="11">
                  <c:v>1371</c:v>
                </c:pt>
                <c:pt idx="12">
                  <c:v>2278</c:v>
                </c:pt>
                <c:pt idx="13">
                  <c:v>2514</c:v>
                </c:pt>
              </c:numCache>
            </c:numRef>
          </c:val>
        </c:ser>
        <c:dLbls>
          <c:numFmt formatCode="0"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A5A5A"/>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5A5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2222"/>
                </a:solidFill>
                <a:latin typeface="Calibri"/>
              </a:defRPr>
            </a:pPr>
            <a:r>
              <a:rPr sz="1300" b="0" i="0" u="none" strike="noStrike">
                <a:solidFill>
                  <a:srgbClr val="222222"/>
                </a:solidFill>
                <a:latin typeface="Calibri"/>
              </a:rPr>
              <a:t>Validación (cis_val + trans_val, 4 213 imágenes)</a:t>
            </a:r>
          </a:p>
        </c:rich>
      </c:tx>
      <c:layout/>
      <c:overlay val="0"/>
    </c:title>
    <c:autoTitleDeleted val="0"/>
    <c:plotArea>
      <c:layout/>
      <c:barChart>
        <c:barDir val="col"/>
        <c:grouping val="clustered"/>
        <c:varyColors val="0"/>
        <c:ser>
          <c:idx val="0"/>
          <c:order val="0"/>
          <c:tx>
            <c:strRef>
              <c:f>Sheet1!$B$1</c:f>
              <c:strCache>
                <c:ptCount val="1"/>
                <c:pt idx="0">
                  <c:v>E1 sin vacías</c:v>
                </c:pt>
              </c:strCache>
            </c:strRef>
          </c:tx>
          <c:spPr>
            <a:solidFill>
              <a:srgbClr val="B8B8B8"/>
            </a:solidFill>
            <a:effectLst/>
          </c:spPr>
          <c:invertIfNegative val="0"/>
          <c:dLbls>
            <c:numFmt formatCode="0.000"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cat>
            <c:multiLvlStrRef>
              <c:f>Sheet1!$A$2:$A$3</c:f>
              <c:multiLvlStrCache>
                <c:ptCount val="2"/>
                <c:lvl>
                  <c:pt idx="0">
                    <c:v>mAP@0.5</c:v>
                  </c:pt>
                  <c:pt idx="1">
                    <c:v>mAP@0.5:0.95</c:v>
                  </c:pt>
                </c:lvl>
              </c:multiLvlStrCache>
            </c:multiLvlStrRef>
          </c:cat>
          <c:val>
            <c:numRef>
              <c:f>Sheet1!$B$2:$B$3</c:f>
              <c:numCache>
                <c:formatCode>General</c:formatCode>
                <c:ptCount val="2"/>
                <c:pt idx="0">
                  <c:v>0.73</c:v>
                </c:pt>
                <c:pt idx="1">
                  <c:v>0.486</c:v>
                </c:pt>
              </c:numCache>
            </c:numRef>
          </c:val>
        </c:ser>
        <c:ser>
          <c:idx val="1"/>
          <c:order val="1"/>
          <c:tx>
            <c:strRef>
              <c:f>Sheet1!$C$1</c:f>
              <c:strCache>
                <c:ptCount val="1"/>
                <c:pt idx="0">
                  <c:v>E2 +20 % vacías</c:v>
                </c:pt>
              </c:strCache>
            </c:strRef>
          </c:tx>
          <c:spPr>
            <a:solidFill>
              <a:srgbClr val="1F3B66"/>
            </a:solidFill>
            <a:effectLst/>
          </c:spPr>
          <c:invertIfNegative val="0"/>
          <c:dLbls>
            <c:numFmt formatCode="0.000"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cat>
            <c:multiLvlStrRef>
              <c:f>Sheet1!$A$2:$A$3</c:f>
              <c:multiLvlStrCache>
                <c:ptCount val="2"/>
                <c:lvl>
                  <c:pt idx="0">
                    <c:v>mAP@0.5</c:v>
                  </c:pt>
                  <c:pt idx="1">
                    <c:v>mAP@0.5:0.95</c:v>
                  </c:pt>
                </c:lvl>
              </c:multiLvlStrCache>
            </c:multiLvlStrRef>
          </c:cat>
          <c:val>
            <c:numRef>
              <c:f>Sheet1!$C$2:$C$3</c:f>
              <c:numCache>
                <c:formatCode>General</c:formatCode>
                <c:ptCount val="2"/>
                <c:pt idx="0">
                  <c:v>0.748</c:v>
                </c:pt>
                <c:pt idx="1">
                  <c:v>0.514</c:v>
                </c:pt>
              </c:numCache>
            </c:numRef>
          </c:val>
        </c:ser>
        <c:ser>
          <c:idx val="2"/>
          <c:order val="2"/>
          <c:tx>
            <c:strRef>
              <c:f>Sheet1!$D$1</c:f>
              <c:strCache>
                <c:ptCount val="1"/>
                <c:pt idx="0">
                  <c:v>E3 YOLOv8s</c:v>
                </c:pt>
              </c:strCache>
            </c:strRef>
          </c:tx>
          <c:spPr>
            <a:solidFill>
              <a:srgbClr val="7A1518"/>
            </a:solidFill>
            <a:effectLst/>
          </c:spPr>
          <c:invertIfNegative val="0"/>
          <c:dLbls>
            <c:numFmt formatCode="0.000"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cat>
            <c:multiLvlStrRef>
              <c:f>Sheet1!$A$2:$A$3</c:f>
              <c:multiLvlStrCache>
                <c:ptCount val="2"/>
                <c:lvl>
                  <c:pt idx="0">
                    <c:v>mAP@0.5</c:v>
                  </c:pt>
                  <c:pt idx="1">
                    <c:v>mAP@0.5:0.95</c:v>
                  </c:pt>
                </c:lvl>
              </c:multiLvlStrCache>
            </c:multiLvlStrRef>
          </c:cat>
          <c:val>
            <c:numRef>
              <c:f>Sheet1!$D$2:$D$3</c:f>
              <c:numCache>
                <c:formatCode>General</c:formatCode>
                <c:ptCount val="2"/>
                <c:pt idx="0">
                  <c:v>0.784</c:v>
                </c:pt>
                <c:pt idx="1">
                  <c:v>0.539</c:v>
                </c:pt>
              </c:numCache>
            </c:numRef>
          </c:val>
        </c:ser>
        <c:dLbls>
          <c:numFmt formatCode="0.000"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5A5A"/>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5A5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2222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2222"/>
                </a:solidFill>
                <a:latin typeface="Calibri"/>
              </a:defRPr>
            </a:pPr>
            <a:r>
              <a:rPr sz="1300" b="0" i="0" u="none" strike="noStrike">
                <a:solidFill>
                  <a:srgbClr val="222222"/>
                </a:solidFill>
                <a:latin typeface="Calibri"/>
              </a:rPr>
              <a:t>Falsos disparos: % de vacías con alguna detección</a:t>
            </a:r>
          </a:p>
        </c:rich>
      </c:tx>
      <c:layout/>
      <c:overlay val="0"/>
    </c:title>
    <c:autoTitleDeleted val="0"/>
    <c:plotArea>
      <c:layout/>
      <c:barChart>
        <c:barDir val="col"/>
        <c:grouping val="clustered"/>
        <c:varyColors val="0"/>
        <c:ser>
          <c:idx val="0"/>
          <c:order val="0"/>
          <c:tx>
            <c:strRef>
              <c:f>Sheet1!$B$1</c:f>
              <c:strCache>
                <c:ptCount val="1"/>
                <c:pt idx="0">
                  <c:v>E1 sin vacías</c:v>
                </c:pt>
              </c:strCache>
            </c:strRef>
          </c:tx>
          <c:spPr>
            <a:solidFill>
              <a:srgbClr val="B8B8B8"/>
            </a:solidFill>
            <a:effectLst/>
          </c:spPr>
          <c:invertIfNegative val="0"/>
          <c:dLbls>
            <c:numFmt formatCode="0.0&quot;%&quot;"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cat>
            <c:multiLvlStrRef>
              <c:f>Sheet1!$A$2:$A$3</c:f>
              <c:multiLvlStrCache>
                <c:ptCount val="2"/>
                <c:lvl>
                  <c:pt idx="0">
                    <c:v>cis_val</c:v>
                  </c:pt>
                  <c:pt idx="1">
                    <c:v>trans_val</c:v>
                  </c:pt>
                </c:lvl>
              </c:multiLvlStrCache>
            </c:multiLvlStrRef>
          </c:cat>
          <c:val>
            <c:numRef>
              <c:f>Sheet1!$B$2:$B$3</c:f>
              <c:numCache>
                <c:formatCode>General</c:formatCode>
                <c:ptCount val="2"/>
                <c:pt idx="0">
                  <c:v>6</c:v>
                </c:pt>
                <c:pt idx="1">
                  <c:v>8.2</c:v>
                </c:pt>
              </c:numCache>
            </c:numRef>
          </c:val>
        </c:ser>
        <c:ser>
          <c:idx val="1"/>
          <c:order val="1"/>
          <c:tx>
            <c:strRef>
              <c:f>Sheet1!$C$1</c:f>
              <c:strCache>
                <c:ptCount val="1"/>
                <c:pt idx="0">
                  <c:v>E2 +20 % vacías</c:v>
                </c:pt>
              </c:strCache>
            </c:strRef>
          </c:tx>
          <c:spPr>
            <a:solidFill>
              <a:srgbClr val="1F3B66"/>
            </a:solidFill>
            <a:effectLst/>
          </c:spPr>
          <c:invertIfNegative val="0"/>
          <c:dLbls>
            <c:numFmt formatCode="0.0&quot;%&quot;"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cat>
            <c:multiLvlStrRef>
              <c:f>Sheet1!$A$2:$A$3</c:f>
              <c:multiLvlStrCache>
                <c:ptCount val="2"/>
                <c:lvl>
                  <c:pt idx="0">
                    <c:v>cis_val</c:v>
                  </c:pt>
                  <c:pt idx="1">
                    <c:v>trans_val</c:v>
                  </c:pt>
                </c:lvl>
              </c:multiLvlStrCache>
            </c:multiLvlStrRef>
          </c:cat>
          <c:val>
            <c:numRef>
              <c:f>Sheet1!$C$2:$C$3</c:f>
              <c:numCache>
                <c:formatCode>General</c:formatCode>
                <c:ptCount val="2"/>
                <c:pt idx="0">
                  <c:v>3.4</c:v>
                </c:pt>
                <c:pt idx="1">
                  <c:v>4.9</c:v>
                </c:pt>
              </c:numCache>
            </c:numRef>
          </c:val>
        </c:ser>
        <c:dLbls>
          <c:numFmt formatCode="0.0&quot;%&quot;"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5A5A"/>
                </a:solidFill>
                <a:latin typeface="Calibri"/>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6350" cap="flat">
              <a:solidFill>
                <a:srgbClr val="E6E6E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5A5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2222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2222"/>
                </a:solidFill>
                <a:latin typeface="Calibri"/>
              </a:defRPr>
            </a:pPr>
            <a:r>
              <a:rPr sz="1300" b="0" i="0" u="none" strike="noStrike">
                <a:solidFill>
                  <a:srgbClr val="222222"/>
                </a:solidFill>
                <a:latin typeface="Calibri"/>
              </a:rPr>
              <a:t>AP@0.5 por especie (ordenadas por cajas de entrenamiento)</a:t>
            </a:r>
          </a:p>
        </c:rich>
      </c:tx>
      <c:layout/>
      <c:overlay val="0"/>
    </c:title>
    <c:autoTitleDeleted val="0"/>
    <c:plotArea>
      <c:layout/>
      <c:barChart>
        <c:barDir val="col"/>
        <c:grouping val="clustered"/>
        <c:varyColors val="0"/>
        <c:ser>
          <c:idx val="0"/>
          <c:order val="0"/>
          <c:tx>
            <c:strRef>
              <c:f>Sheet1!$B$1</c:f>
              <c:strCache>
                <c:ptCount val="1"/>
                <c:pt idx="0">
                  <c:v>cis_test</c:v>
                </c:pt>
              </c:strCache>
            </c:strRef>
          </c:tx>
          <c:spPr>
            <a:solidFill>
              <a:srgbClr val="2E7D32"/>
            </a:solidFill>
            <a:effectLst/>
          </c:spPr>
          <c:invertIfNegative val="0"/>
          <c:dLbls>
            <c:numFmt formatCode="#,##0" sourceLinked="0"/>
            <c:txPr>
              <a:bodyPr/>
              <a:lstStyle/>
              <a:p>
                <a:pPr>
                  <a:defRPr b="0" i="0" strike="noStrike" sz="1000" u="none">
                    <a:solidFill>
                      <a:srgbClr val="222222"/>
                    </a:solidFill>
                    <a:latin typeface="Calibri"/>
                  </a:defRPr>
                </a:pPr>
              </a:p>
            </c:txPr>
            <c:showLegendKey val="0"/>
            <c:showVal val="0"/>
            <c:showCatName val="0"/>
            <c:showSerName val="0"/>
            <c:showPercent val="0"/>
            <c:showBubbleSize val="0"/>
            <c:showLeaderLines val="0"/>
          </c:dLbls>
          <c:cat>
            <c:multiLvlStrRef>
              <c:f>Sheet1!$A$2:$A$15</c:f>
              <c:multiLvlStrCache>
                <c:ptCount val="14"/>
                <c:lvl>
                  <c:pt idx="0">
                    <c:v>zorro</c:v>
                  </c:pt>
                  <c:pt idx="1">
                    <c:v>tejón</c:v>
                  </c:pt>
                  <c:pt idx="2">
                    <c:v>ciervo*</c:v>
                  </c:pt>
                  <c:pt idx="3">
                    <c:v>zorrillo</c:v>
                  </c:pt>
                  <c:pt idx="4">
                    <c:v>roedor</c:v>
                  </c:pt>
                  <c:pt idx="5">
                    <c:v>ave</c:v>
                  </c:pt>
                  <c:pt idx="6">
                    <c:v>lince</c:v>
                  </c:pt>
                  <c:pt idx="7">
                    <c:v>perro</c:v>
                  </c:pt>
                  <c:pt idx="8">
                    <c:v>mapache</c:v>
                  </c:pt>
                  <c:pt idx="9">
                    <c:v>ardilla</c:v>
                  </c:pt>
                  <c:pt idx="10">
                    <c:v>gato</c:v>
                  </c:pt>
                  <c:pt idx="11">
                    <c:v>coyote</c:v>
                  </c:pt>
                  <c:pt idx="12">
                    <c:v>conejo</c:v>
                  </c:pt>
                  <c:pt idx="13">
                    <c:v>zarigüeya</c:v>
                  </c:pt>
                </c:lvl>
              </c:multiLvlStrCache>
            </c:multiLvlStrRef>
          </c:cat>
          <c:val>
            <c:numRef>
              <c:f>Sheet1!$B$2:$B$15</c:f>
              <c:numCache>
                <c:formatCode>General</c:formatCode>
                <c:ptCount val="14"/>
                <c:pt idx="0">
                  <c:v>0.224</c:v>
                </c:pt>
                <c:pt idx="1">
                  <c:v>0.003</c:v>
                </c:pt>
                <c:pt idx="2">
                  <c:v>0.504</c:v>
                </c:pt>
                <c:pt idx="3">
                  <c:v>0.947</c:v>
                </c:pt>
                <c:pt idx="4">
                  <c:v>0.811</c:v>
                </c:pt>
                <c:pt idx="5">
                  <c:v>0.622</c:v>
                </c:pt>
                <c:pt idx="6">
                  <c:v>0.863</c:v>
                </c:pt>
                <c:pt idx="7">
                  <c:v>0.765</c:v>
                </c:pt>
                <c:pt idx="8">
                  <c:v>0.932</c:v>
                </c:pt>
                <c:pt idx="9">
                  <c:v>0.724</c:v>
                </c:pt>
                <c:pt idx="10">
                  <c:v>0.933</c:v>
                </c:pt>
                <c:pt idx="11">
                  <c:v>0.922</c:v>
                </c:pt>
                <c:pt idx="12">
                  <c:v>0.901</c:v>
                </c:pt>
                <c:pt idx="13">
                  <c:v>0.948</c:v>
                </c:pt>
              </c:numCache>
            </c:numRef>
          </c:val>
        </c:ser>
        <c:ser>
          <c:idx val="1"/>
          <c:order val="1"/>
          <c:tx>
            <c:strRef>
              <c:f>Sheet1!$C$1</c:f>
              <c:strCache>
                <c:ptCount val="1"/>
                <c:pt idx="0">
                  <c:v>trans_test</c:v>
                </c:pt>
              </c:strCache>
            </c:strRef>
          </c:tx>
          <c:spPr>
            <a:solidFill>
              <a:srgbClr val="7A1518"/>
            </a:solidFill>
            <a:effectLst/>
          </c:spPr>
          <c:invertIfNegative val="0"/>
          <c:dLbls>
            <c:numFmt formatCode="#,##0" sourceLinked="0"/>
            <c:txPr>
              <a:bodyPr/>
              <a:lstStyle/>
              <a:p>
                <a:pPr>
                  <a:defRPr b="0" i="0" strike="noStrike" sz="1000" u="none">
                    <a:solidFill>
                      <a:srgbClr val="222222"/>
                    </a:solidFill>
                    <a:latin typeface="Calibri"/>
                  </a:defRPr>
                </a:pPr>
              </a:p>
            </c:txPr>
            <c:showLegendKey val="0"/>
            <c:showVal val="0"/>
            <c:showCatName val="0"/>
            <c:showSerName val="0"/>
            <c:showPercent val="0"/>
            <c:showBubbleSize val="0"/>
            <c:showLeaderLines val="0"/>
          </c:dLbls>
          <c:cat>
            <c:multiLvlStrRef>
              <c:f>Sheet1!$A$2:$A$15</c:f>
              <c:multiLvlStrCache>
                <c:ptCount val="14"/>
                <c:lvl>
                  <c:pt idx="0">
                    <c:v>zorro</c:v>
                  </c:pt>
                  <c:pt idx="1">
                    <c:v>tejón</c:v>
                  </c:pt>
                  <c:pt idx="2">
                    <c:v>ciervo*</c:v>
                  </c:pt>
                  <c:pt idx="3">
                    <c:v>zorrillo</c:v>
                  </c:pt>
                  <c:pt idx="4">
                    <c:v>roedor</c:v>
                  </c:pt>
                  <c:pt idx="5">
                    <c:v>ave</c:v>
                  </c:pt>
                  <c:pt idx="6">
                    <c:v>lince</c:v>
                  </c:pt>
                  <c:pt idx="7">
                    <c:v>perro</c:v>
                  </c:pt>
                  <c:pt idx="8">
                    <c:v>mapache</c:v>
                  </c:pt>
                  <c:pt idx="9">
                    <c:v>ardilla</c:v>
                  </c:pt>
                  <c:pt idx="10">
                    <c:v>gato</c:v>
                  </c:pt>
                  <c:pt idx="11">
                    <c:v>coyote</c:v>
                  </c:pt>
                  <c:pt idx="12">
                    <c:v>conejo</c:v>
                  </c:pt>
                  <c:pt idx="13">
                    <c:v>zarigüeya</c:v>
                  </c:pt>
                </c:lvl>
              </c:multiLvlStrCache>
            </c:multiLvlStrRef>
          </c:cat>
          <c:val>
            <c:numRef>
              <c:f>Sheet1!$C$2:$C$15</c:f>
              <c:numCache>
                <c:formatCode>General</c:formatCode>
                <c:ptCount val="14"/>
                <c:pt idx="0">
                  <c:v>0</c:v>
                </c:pt>
                <c:pt idx="1">
                  <c:v>0.141</c:v>
                </c:pt>
                <c:pt idx="2">
                  <c:v>0</c:v>
                </c:pt>
                <c:pt idx="3">
                  <c:v>0.818</c:v>
                </c:pt>
                <c:pt idx="4">
                  <c:v>0.003</c:v>
                </c:pt>
                <c:pt idx="5">
                  <c:v>0.094</c:v>
                </c:pt>
                <c:pt idx="6">
                  <c:v>0.703</c:v>
                </c:pt>
                <c:pt idx="7">
                  <c:v>0.707</c:v>
                </c:pt>
                <c:pt idx="8">
                  <c:v>0.78</c:v>
                </c:pt>
                <c:pt idx="9">
                  <c:v>0.296</c:v>
                </c:pt>
                <c:pt idx="10">
                  <c:v>0.293</c:v>
                </c:pt>
                <c:pt idx="11">
                  <c:v>0.608</c:v>
                </c:pt>
                <c:pt idx="12">
                  <c:v>0.642</c:v>
                </c:pt>
                <c:pt idx="13">
                  <c:v>0.885</c:v>
                </c:pt>
              </c:numCache>
            </c:numRef>
          </c:val>
        </c:ser>
        <c:dLbls>
          <c:numFmt formatCode="#,##0" sourceLinked="0"/>
          <c:txPr>
            <a:bodyPr/>
            <a:lstStyle/>
            <a:p>
              <a:pPr>
                <a:defRPr b="0" i="0" strike="noStrike" sz="1000" u="none">
                  <a:solidFill>
                    <a:srgbClr val="222222"/>
                  </a:solidFill>
                  <a:latin typeface="Calibri"/>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5A5A"/>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6E6E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5A5A"/>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22222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de cajas en las 2 cámaras principales</c:v>
                </c:pt>
              </c:strCache>
            </c:strRef>
          </c:tx>
          <c:spPr>
            <a:solidFill>
              <a:srgbClr val="1F3B66"/>
            </a:solidFill>
            <a:effectLst/>
          </c:spPr>
          <c:invertIfNegative val="0"/>
          <c:dLbls>
            <c:numFmt formatCode="#,##0" sourceLinked="0"/>
            <c:txPr>
              <a:bodyPr/>
              <a:lstStyle/>
              <a:p>
                <a:pPr>
                  <a:defRPr b="0" i="0" strike="noStrike" sz="900" u="none">
                    <a:solidFill>
                      <a:srgbClr val="222222"/>
                    </a:solidFill>
                    <a:latin typeface="Calibri"/>
                  </a:defRPr>
                </a:pPr>
              </a:p>
            </c:txPr>
            <c:showLegendKey val="0"/>
            <c:showVal val="1"/>
            <c:showCatName val="0"/>
            <c:showSerName val="0"/>
            <c:showPercent val="0"/>
            <c:showBubbleSize val="0"/>
            <c:showLeaderLines val="0"/>
          </c:dLbls>
          <c:cat>
            <c:multiLvlStrRef>
              <c:f>Sheet1!$A$2:$A$12</c:f>
              <c:multiLvlStrCache>
                <c:ptCount val="11"/>
                <c:lvl>
                  <c:pt idx="0">
                    <c:v>roedor</c:v>
                  </c:pt>
                  <c:pt idx="1">
                    <c:v>gato</c:v>
                  </c:pt>
                  <c:pt idx="2">
                    <c:v>ave</c:v>
                  </c:pt>
                  <c:pt idx="3">
                    <c:v>zarigüeya</c:v>
                  </c:pt>
                  <c:pt idx="4">
                    <c:v>perro</c:v>
                  </c:pt>
                  <c:pt idx="5">
                    <c:v>lince</c:v>
                  </c:pt>
                  <c:pt idx="6">
                    <c:v>mapache</c:v>
                  </c:pt>
                  <c:pt idx="7">
                    <c:v>coyote</c:v>
                  </c:pt>
                  <c:pt idx="8">
                    <c:v>zorrillo</c:v>
                  </c:pt>
                  <c:pt idx="9">
                    <c:v>ardilla</c:v>
                  </c:pt>
                  <c:pt idx="10">
                    <c:v>conejo</c:v>
                  </c:pt>
                </c:lvl>
              </c:multiLvlStrCache>
            </c:multiLvlStrRef>
          </c:cat>
          <c:val>
            <c:numRef>
              <c:f>Sheet1!$B$2:$B$12</c:f>
              <c:numCache>
                <c:formatCode>General</c:formatCode>
                <c:ptCount val="11"/>
                <c:pt idx="0">
                  <c:v>90</c:v>
                </c:pt>
                <c:pt idx="1">
                  <c:v>88</c:v>
                </c:pt>
                <c:pt idx="2">
                  <c:v>81</c:v>
                </c:pt>
                <c:pt idx="3">
                  <c:v>74</c:v>
                </c:pt>
                <c:pt idx="4">
                  <c:v>73</c:v>
                </c:pt>
                <c:pt idx="5">
                  <c:v>70</c:v>
                </c:pt>
                <c:pt idx="6">
                  <c:v>64</c:v>
                </c:pt>
                <c:pt idx="7">
                  <c:v>57</c:v>
                </c:pt>
                <c:pt idx="8">
                  <c:v>57</c:v>
                </c:pt>
                <c:pt idx="9">
                  <c:v>56</c:v>
                </c:pt>
                <c:pt idx="10">
                  <c:v>53</c:v>
                </c:pt>
              </c:numCache>
            </c:numRef>
          </c:val>
        </c:ser>
        <c:ser>
          <c:idx val="1"/>
          <c:order val="1"/>
          <c:tx>
            <c:strRef>
              <c:f>Sheet1!$C$1</c:f>
              <c:strCache>
                <c:ptCount val="1"/>
                <c:pt idx="0">
                  <c:v>Caída de AP@0.5 cis → trans (puntos)</c:v>
                </c:pt>
              </c:strCache>
            </c:strRef>
          </c:tx>
          <c:spPr>
            <a:solidFill>
              <a:srgbClr val="7A1518"/>
            </a:solidFill>
            <a:effectLst/>
          </c:spPr>
          <c:invertIfNegative val="0"/>
          <c:dLbls>
            <c:numFmt formatCode="#,##0" sourceLinked="0"/>
            <c:txPr>
              <a:bodyPr/>
              <a:lstStyle/>
              <a:p>
                <a:pPr>
                  <a:defRPr b="0" i="0" strike="noStrike" sz="900" u="none">
                    <a:solidFill>
                      <a:srgbClr val="222222"/>
                    </a:solidFill>
                    <a:latin typeface="Calibri"/>
                  </a:defRPr>
                </a:pPr>
              </a:p>
            </c:txPr>
            <c:showLegendKey val="0"/>
            <c:showVal val="1"/>
            <c:showCatName val="0"/>
            <c:showSerName val="0"/>
            <c:showPercent val="0"/>
            <c:showBubbleSize val="0"/>
            <c:showLeaderLines val="0"/>
          </c:dLbls>
          <c:cat>
            <c:multiLvlStrRef>
              <c:f>Sheet1!$A$2:$A$12</c:f>
              <c:multiLvlStrCache>
                <c:ptCount val="11"/>
                <c:lvl>
                  <c:pt idx="0">
                    <c:v>roedor</c:v>
                  </c:pt>
                  <c:pt idx="1">
                    <c:v>gato</c:v>
                  </c:pt>
                  <c:pt idx="2">
                    <c:v>ave</c:v>
                  </c:pt>
                  <c:pt idx="3">
                    <c:v>zarigüeya</c:v>
                  </c:pt>
                  <c:pt idx="4">
                    <c:v>perro</c:v>
                  </c:pt>
                  <c:pt idx="5">
                    <c:v>lince</c:v>
                  </c:pt>
                  <c:pt idx="6">
                    <c:v>mapache</c:v>
                  </c:pt>
                  <c:pt idx="7">
                    <c:v>coyote</c:v>
                  </c:pt>
                  <c:pt idx="8">
                    <c:v>zorrillo</c:v>
                  </c:pt>
                  <c:pt idx="9">
                    <c:v>ardilla</c:v>
                  </c:pt>
                  <c:pt idx="10">
                    <c:v>conejo</c:v>
                  </c:pt>
                </c:lvl>
              </c:multiLvlStrCache>
            </c:multiLvlStrRef>
          </c:cat>
          <c:val>
            <c:numRef>
              <c:f>Sheet1!$C$2:$C$12</c:f>
              <c:numCache>
                <c:formatCode>General</c:formatCode>
                <c:ptCount val="11"/>
                <c:pt idx="0">
                  <c:v>81</c:v>
                </c:pt>
                <c:pt idx="1">
                  <c:v>64</c:v>
                </c:pt>
                <c:pt idx="2">
                  <c:v>53</c:v>
                </c:pt>
                <c:pt idx="3">
                  <c:v>6</c:v>
                </c:pt>
                <c:pt idx="4">
                  <c:v>6</c:v>
                </c:pt>
                <c:pt idx="5">
                  <c:v>16</c:v>
                </c:pt>
                <c:pt idx="6">
                  <c:v>15</c:v>
                </c:pt>
                <c:pt idx="7">
                  <c:v>31</c:v>
                </c:pt>
                <c:pt idx="8">
                  <c:v>13</c:v>
                </c:pt>
                <c:pt idx="9">
                  <c:v>43</c:v>
                </c:pt>
                <c:pt idx="10">
                  <c:v>26</c:v>
                </c:pt>
              </c:numCache>
            </c:numRef>
          </c:val>
        </c:ser>
        <c:dLbls>
          <c:numFmt formatCode="#,##0" sourceLinked="0"/>
          <c:txPr>
            <a:bodyPr/>
            <a:lstStyle/>
            <a:p>
              <a:pPr>
                <a:defRPr b="0" i="0" strike="noStrike" sz="900" u="none">
                  <a:solidFill>
                    <a:srgbClr val="222222"/>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5A5A"/>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5A5A"/>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22222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2222"/>
                </a:solidFill>
                <a:latin typeface="Calibri"/>
              </a:defRPr>
            </a:pPr>
            <a:r>
              <a:rPr sz="1300" b="0" i="0" u="none" strike="noStrike">
                <a:solidFill>
                  <a:srgbClr val="222222"/>
                </a:solidFill>
                <a:latin typeface="Calibri"/>
              </a:rPr>
              <a:t>Recall (IoU ≥ 0,5, especie correcta) por tamaño de caja</a:t>
            </a:r>
          </a:p>
        </c:rich>
      </c:tx>
      <c:layout/>
      <c:overlay val="0"/>
    </c:title>
    <c:autoTitleDeleted val="0"/>
    <c:plotArea>
      <c:layout/>
      <c:barChart>
        <c:barDir val="col"/>
        <c:grouping val="clustered"/>
        <c:varyColors val="0"/>
        <c:ser>
          <c:idx val="0"/>
          <c:order val="0"/>
          <c:tx>
            <c:strRef>
              <c:f>Sheet1!$B$1</c:f>
              <c:strCache>
                <c:ptCount val="1"/>
                <c:pt idx="0">
                  <c:v>cis_test</c:v>
                </c:pt>
              </c:strCache>
            </c:strRef>
          </c:tx>
          <c:spPr>
            <a:solidFill>
              <a:srgbClr val="2E7D32"/>
            </a:solidFill>
            <a:effectLst/>
          </c:spPr>
          <c:invertIfNegative val="0"/>
          <c:dLbls>
            <c:numFmt formatCode="0.00"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pequeña (&lt;1 %)</c:v>
                  </c:pt>
                  <c:pt idx="1">
                    <c:v>mediana (1–5 %)</c:v>
                  </c:pt>
                  <c:pt idx="2">
                    <c:v>grande (&gt;5 %)</c:v>
                  </c:pt>
                </c:lvl>
              </c:multiLvlStrCache>
            </c:multiLvlStrRef>
          </c:cat>
          <c:val>
            <c:numRef>
              <c:f>Sheet1!$B$2:$B$4</c:f>
              <c:numCache>
                <c:formatCode>General</c:formatCode>
                <c:ptCount val="3"/>
                <c:pt idx="0">
                  <c:v>0.56</c:v>
                </c:pt>
                <c:pt idx="1">
                  <c:v>0.844</c:v>
                </c:pt>
                <c:pt idx="2">
                  <c:v>0.823</c:v>
                </c:pt>
              </c:numCache>
            </c:numRef>
          </c:val>
        </c:ser>
        <c:ser>
          <c:idx val="1"/>
          <c:order val="1"/>
          <c:tx>
            <c:strRef>
              <c:f>Sheet1!$C$1</c:f>
              <c:strCache>
                <c:ptCount val="1"/>
                <c:pt idx="0">
                  <c:v>trans_test</c:v>
                </c:pt>
              </c:strCache>
            </c:strRef>
          </c:tx>
          <c:spPr>
            <a:solidFill>
              <a:srgbClr val="7A1518"/>
            </a:solidFill>
            <a:effectLst/>
          </c:spPr>
          <c:invertIfNegative val="0"/>
          <c:dLbls>
            <c:numFmt formatCode="0.00"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pequeña (&lt;1 %)</c:v>
                  </c:pt>
                  <c:pt idx="1">
                    <c:v>mediana (1–5 %)</c:v>
                  </c:pt>
                  <c:pt idx="2">
                    <c:v>grande (&gt;5 %)</c:v>
                  </c:pt>
                </c:lvl>
              </c:multiLvlStrCache>
            </c:multiLvlStrRef>
          </c:cat>
          <c:val>
            <c:numRef>
              <c:f>Sheet1!$C$2:$C$4</c:f>
              <c:numCache>
                <c:formatCode>General</c:formatCode>
                <c:ptCount val="3"/>
                <c:pt idx="0">
                  <c:v>0.346</c:v>
                </c:pt>
                <c:pt idx="1">
                  <c:v>0.713</c:v>
                </c:pt>
                <c:pt idx="2">
                  <c:v>0.462</c:v>
                </c:pt>
              </c:numCache>
            </c:numRef>
          </c:val>
        </c:ser>
        <c:dLbls>
          <c:numFmt formatCode="0.00"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5A5A"/>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5A5A"/>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22222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2222"/>
                </a:solidFill>
                <a:latin typeface="Calibri"/>
              </a:defRPr>
            </a:pPr>
            <a:r>
              <a:rPr sz="1300" b="0" i="0" u="none" strike="noStrike">
                <a:solidFill>
                  <a:srgbClr val="222222"/>
                </a:solidFill>
                <a:latin typeface="Calibri"/>
              </a:rPr>
              <a:t>Recall por nivel de oclusión</a:t>
            </a:r>
          </a:p>
        </c:rich>
      </c:tx>
      <c:layout/>
      <c:overlay val="0"/>
    </c:title>
    <c:autoTitleDeleted val="0"/>
    <c:plotArea>
      <c:layout/>
      <c:barChart>
        <c:barDir val="col"/>
        <c:grouping val="clustered"/>
        <c:varyColors val="0"/>
        <c:ser>
          <c:idx val="0"/>
          <c:order val="0"/>
          <c:tx>
            <c:strRef>
              <c:f>Sheet1!$B$1</c:f>
              <c:strCache>
                <c:ptCount val="1"/>
                <c:pt idx="0">
                  <c:v>cis_test</c:v>
                </c:pt>
              </c:strCache>
            </c:strRef>
          </c:tx>
          <c:spPr>
            <a:solidFill>
              <a:srgbClr val="2E7D32"/>
            </a:solidFill>
            <a:effectLst/>
          </c:spPr>
          <c:invertIfNegative val="0"/>
          <c:dLbls>
            <c:numFmt formatCode="0.00"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baja (n 96 / 76)</c:v>
                  </c:pt>
                  <c:pt idx="1">
                    <c:v>media (n 43 / 46)</c:v>
                  </c:pt>
                  <c:pt idx="2">
                    <c:v>alta (n 2 / 10)</c:v>
                  </c:pt>
                </c:lvl>
              </c:multiLvlStrCache>
            </c:multiLvlStrRef>
          </c:cat>
          <c:val>
            <c:numRef>
              <c:f>Sheet1!$B$2:$B$4</c:f>
              <c:numCache>
                <c:formatCode>General</c:formatCode>
                <c:ptCount val="3"/>
                <c:pt idx="0">
                  <c:v>0.906</c:v>
                </c:pt>
                <c:pt idx="1">
                  <c:v>0.744</c:v>
                </c:pt>
                <c:pt idx="2">
                  <c:v>0.5</c:v>
                </c:pt>
              </c:numCache>
            </c:numRef>
          </c:val>
        </c:ser>
        <c:ser>
          <c:idx val="1"/>
          <c:order val="1"/>
          <c:tx>
            <c:strRef>
              <c:f>Sheet1!$C$1</c:f>
              <c:strCache>
                <c:ptCount val="1"/>
                <c:pt idx="0">
                  <c:v>trans_test</c:v>
                </c:pt>
              </c:strCache>
            </c:strRef>
          </c:tx>
          <c:spPr>
            <a:solidFill>
              <a:srgbClr val="7A1518"/>
            </a:solidFill>
            <a:effectLst/>
          </c:spPr>
          <c:invertIfNegative val="0"/>
          <c:dLbls>
            <c:numFmt formatCode="0.00"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baja (n 96 / 76)</c:v>
                  </c:pt>
                  <c:pt idx="1">
                    <c:v>media (n 43 / 46)</c:v>
                  </c:pt>
                  <c:pt idx="2">
                    <c:v>alta (n 2 / 10)</c:v>
                  </c:pt>
                </c:lvl>
              </c:multiLvlStrCache>
            </c:multiLvlStrRef>
          </c:cat>
          <c:val>
            <c:numRef>
              <c:f>Sheet1!$C$2:$C$4</c:f>
              <c:numCache>
                <c:formatCode>General</c:formatCode>
                <c:ptCount val="3"/>
                <c:pt idx="0">
                  <c:v>0.816</c:v>
                </c:pt>
                <c:pt idx="1">
                  <c:v>0.522</c:v>
                </c:pt>
                <c:pt idx="2">
                  <c:v>0.1</c:v>
                </c:pt>
              </c:numCache>
            </c:numRef>
          </c:val>
        </c:ser>
        <c:dLbls>
          <c:numFmt formatCode="0.00"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5A5A"/>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5A5A"/>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22222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2222"/>
                </a:solidFill>
                <a:latin typeface="Calibri"/>
              </a:defRPr>
            </a:pPr>
            <a:r>
              <a:rPr sz="1300" b="0" i="0" u="none" strike="noStrike">
                <a:solidFill>
                  <a:srgbClr val="222222"/>
                </a:solidFill>
                <a:latin typeface="Calibri"/>
              </a:rPr>
              <a:t>Eventos por especie en la cámara 46</a:t>
            </a:r>
          </a:p>
        </c:rich>
      </c:tx>
      <c:layout/>
      <c:overlay val="0"/>
    </c:title>
    <c:autoTitleDeleted val="0"/>
    <c:plotArea>
      <c:layout/>
      <c:barChart>
        <c:barDir val="col"/>
        <c:grouping val="clustered"/>
        <c:varyColors val="0"/>
        <c:ser>
          <c:idx val="0"/>
          <c:order val="0"/>
          <c:tx>
            <c:strRef>
              <c:f>Sheet1!$B$1</c:f>
              <c:strCache>
                <c:ptCount val="1"/>
                <c:pt idx="0">
                  <c:v>Real (revisión manual)</c:v>
                </c:pt>
              </c:strCache>
            </c:strRef>
          </c:tx>
          <c:spPr>
            <a:solidFill>
              <a:srgbClr val="5A5A5A"/>
            </a:solidFill>
            <a:effectLst/>
          </c:spPr>
          <c:invertIfNegative val="0"/>
          <c:dLbls>
            <c:numFmt formatCode="#,##0" sourceLinked="0"/>
            <c:txPr>
              <a:bodyPr/>
              <a:lstStyle/>
              <a:p>
                <a:pPr>
                  <a:defRPr b="0" i="0" strike="noStrike" sz="900" u="none">
                    <a:solidFill>
                      <a:srgbClr val="222222"/>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zarigüeya</c:v>
                  </c:pt>
                  <c:pt idx="1">
                    <c:v>lince</c:v>
                  </c:pt>
                  <c:pt idx="2">
                    <c:v>mapache</c:v>
                  </c:pt>
                  <c:pt idx="3">
                    <c:v>coyote</c:v>
                  </c:pt>
                  <c:pt idx="4">
                    <c:v>conejo</c:v>
                  </c:pt>
                  <c:pt idx="5">
                    <c:v>zorrillo</c:v>
                  </c:pt>
                  <c:pt idx="6">
                    <c:v>ave</c:v>
                  </c:pt>
                  <c:pt idx="7">
                    <c:v>roedor</c:v>
                  </c:pt>
                  <c:pt idx="8">
                    <c:v>gato</c:v>
                  </c:pt>
                </c:lvl>
              </c:multiLvlStrCache>
            </c:multiLvlStrRef>
          </c:cat>
          <c:val>
            <c:numRef>
              <c:f>Sheet1!$B$2:$B$10</c:f>
              <c:numCache>
                <c:formatCode>General</c:formatCode>
                <c:ptCount val="9"/>
                <c:pt idx="0">
                  <c:v>344</c:v>
                </c:pt>
                <c:pt idx="1">
                  <c:v>232</c:v>
                </c:pt>
                <c:pt idx="2">
                  <c:v>175</c:v>
                </c:pt>
                <c:pt idx="3">
                  <c:v>168</c:v>
                </c:pt>
                <c:pt idx="4">
                  <c:v>155</c:v>
                </c:pt>
                <c:pt idx="5">
                  <c:v>31</c:v>
                </c:pt>
                <c:pt idx="6">
                  <c:v>25</c:v>
                </c:pt>
                <c:pt idx="7">
                  <c:v>14</c:v>
                </c:pt>
                <c:pt idx="8">
                  <c:v>5</c:v>
                </c:pt>
              </c:numCache>
            </c:numRef>
          </c:val>
        </c:ser>
        <c:ser>
          <c:idx val="1"/>
          <c:order val="1"/>
          <c:tx>
            <c:strRef>
              <c:f>Sheet1!$C$1</c:f>
              <c:strCache>
                <c:ptCount val="1"/>
                <c:pt idx="0">
                  <c:v>Modelo</c:v>
                </c:pt>
              </c:strCache>
            </c:strRef>
          </c:tx>
          <c:spPr>
            <a:solidFill>
              <a:srgbClr val="7A1518"/>
            </a:solidFill>
            <a:effectLst/>
          </c:spPr>
          <c:invertIfNegative val="0"/>
          <c:dLbls>
            <c:numFmt formatCode="#,##0" sourceLinked="0"/>
            <c:txPr>
              <a:bodyPr/>
              <a:lstStyle/>
              <a:p>
                <a:pPr>
                  <a:defRPr b="0" i="0" strike="noStrike" sz="900" u="none">
                    <a:solidFill>
                      <a:srgbClr val="222222"/>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zarigüeya</c:v>
                  </c:pt>
                  <c:pt idx="1">
                    <c:v>lince</c:v>
                  </c:pt>
                  <c:pt idx="2">
                    <c:v>mapache</c:v>
                  </c:pt>
                  <c:pt idx="3">
                    <c:v>coyote</c:v>
                  </c:pt>
                  <c:pt idx="4">
                    <c:v>conejo</c:v>
                  </c:pt>
                  <c:pt idx="5">
                    <c:v>zorrillo</c:v>
                  </c:pt>
                  <c:pt idx="6">
                    <c:v>ave</c:v>
                  </c:pt>
                  <c:pt idx="7">
                    <c:v>roedor</c:v>
                  </c:pt>
                  <c:pt idx="8">
                    <c:v>gato</c:v>
                  </c:pt>
                </c:lvl>
              </c:multiLvlStrCache>
            </c:multiLvlStrRef>
          </c:cat>
          <c:val>
            <c:numRef>
              <c:f>Sheet1!$C$2:$C$10</c:f>
              <c:numCache>
                <c:formatCode>General</c:formatCode>
                <c:ptCount val="9"/>
                <c:pt idx="0">
                  <c:v>319</c:v>
                </c:pt>
                <c:pt idx="1">
                  <c:v>203</c:v>
                </c:pt>
                <c:pt idx="2">
                  <c:v>74</c:v>
                </c:pt>
                <c:pt idx="3">
                  <c:v>134</c:v>
                </c:pt>
                <c:pt idx="4">
                  <c:v>115</c:v>
                </c:pt>
                <c:pt idx="5">
                  <c:v>29</c:v>
                </c:pt>
                <c:pt idx="6">
                  <c:v>3</c:v>
                </c:pt>
                <c:pt idx="7">
                  <c:v>0</c:v>
                </c:pt>
                <c:pt idx="8">
                  <c:v>55</c:v>
                </c:pt>
              </c:numCache>
            </c:numRef>
          </c:val>
        </c:ser>
        <c:dLbls>
          <c:numFmt formatCode="#,##0" sourceLinked="0"/>
          <c:txPr>
            <a:bodyPr/>
            <a:lstStyle/>
            <a:p>
              <a:pPr>
                <a:defRPr b="0" i="0" strike="noStrike" sz="900" u="none">
                  <a:solidFill>
                    <a:srgbClr val="222222"/>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5A5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5A5A"/>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22222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Presento la pregunta 3: detectar y clasificar fauna en fotos de cámaras trampa con YOLO, y medir qué tan bien funciona en cámaras que el modelo nunca vio.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ruta. Las etiquetas E1 a E6 marcan cuál de los seis entregables de la pregunta responde cada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cámara trampa se activa con movimiento o calor y toma ráfagas. Muchas fotos son de noche, infrarrojas, y muchas no tienen ningún animal. Revisarlas a mano es el cuello de botella. La pregunta práctica es si un detector entrenado con algunas cámaras sirve en una cámara recién instalada.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Usamos Caltech Camera Traps en su versión CCT-20. Lo que más condiciona el problema es el desbalance: la zarigüeya tiene más de dos mil quinientas cajas y el zorro, cinco. Además, el split de entrenamiento no trae ninguna foto vacía, algo que corregimos en la preparación.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CCT-20 fue diseñado para esto. Cis_test usa las mismas diez cámaras del entrenamiento; trans_test usa nueve cámaras distintas. Comprobamos que no hay ninguna ubicación compartida. Además, cada especie se concentra en pocas cámaras: tres de cada cuatro gatos de entrenamiento vienen de una sola.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pasos de preparación. Las imágenes etiquetadas con especie pero sin caja no sirven ni como positivo ni como fondo, porque le enseñarían al modelo a ignorar un animal presente. Car no es fauna. Y para compensar la falta de vacías, agregamos fotos vacías de 106 ubicaciones que no pertenecen a CCT-20, así no se filtra información del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Usamos la implementación de Ultralytics de YOLOv8, ajustando desde pesos preentrenados en COCO. Cada decisión tiene una razón: no volteamos verticalmente porque los animales no aparecen de cabeza, bajamos la saturación porque más de la mitad de las fotos son infrarrojas, y cerramos el mosaico al final para que el modelo vea imágenes completas.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E1 y E2 son idénticos salvo por las vacías. Con vacías, los falsos disparos en fotos vacías bajan de 6 a 3,4 por ciento en cis y de 8,2 a 4,9 en trans. Lo inesperado es que también sube el mAP: sin negativos, el modelo marca texturas del fondo como animales y eso le quita precisión. Por eso E3 se entrenó con vacías.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resultado central. En las cámaras de entrenamiento el modelo llega a 0,72 de mAP a 0,5; en cámaras nuevas baja a 0,46. Lo importante es de dónde viene la caída: el recall baja de 0,66 a 0,42, mientras que los falsos disparos en fotos vacías casi no cambian. En una cámara nueva el modelo deja de ver animales mucho más de lo que inventa.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especie la caída no es uniforme. Zarigüeya, zorrillo, lince y perro casi se mantienen. Gato pasa de 0,93 a 0,29, ave de 0,62 a 0,09, roedor de 0,81 a prácticamente cero. Ciervo no aparece en trans_test, por eso no tiene barra roja. Zorro y tejón tienen dos y cuatro instancias de test: su AP no permite conclusiones.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Cruzamos el AP de cada especie con su número de cajas de entrenamiento. En cis la correlación de Spearman es 0,68 y significativa. En trans baja a 0,49 y deja de serlo. El desbalance explica los extremos, como zorro y tejón, pero no las peores caídas: gato tiene más de mil cajas y aun así se desploma en cámaras nuevas.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Medimos qué fracción de las cajas de cada especie viene de sus dos cámaras principales. Las tres especies que más caen, roedor, gato y ave, son las más concentradas: el modelo las vio casi siempre sobre el mismo fondo. Pero la correlación con las once especies es débil, 0,33. Ardilla está repartida y cae igual. No basta para afirmar que aprendió el fondo; por eso hicimos las dos pruebas siguientes.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el modelo usara el fondo como atajo, al tapar al animal seguiría prediciendo la especie. Tomamos 300 imágenes con un solo animal por split, tapamos la caja con el color medio de la imagen y volvimos a detectar. En ninguna de las 600 apareció la especie en la zona tapada. Solo en tres apareció en otra parte de la escena: un conejo y dos ardillas.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la interpretabilidad usamos EigenCAM, la variante de Grad-CAM sin gradientes, más fácil de aplicar a un detector. Proyecta las activaciones del final del backbone sobre su primera componente principal. Medimos el lift: energía dentro de la caja dividida por el área de la caja. Sale entre 0,05 y 0,08 incluso en aciertos. La primera componente captura lo que más varía en una cámara fija: la escena. Junto con el borrado, concluimos que el backbone representa sobre todo el fondo, pero la decisión de la cabeza no depende de él.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recall por tamaño de caja muestra dos problemas. Los pequeños fallan en ambos tests, porque a 640 píxeles una caja del uno por ciento queda en unos 60 por 50 píxeles. Lo inesperado son los grandes en trans: recall de 0,46, pero el 64 por ciento sí se localiza. Revisamos esas 625 cajas: el 80 por ciento toca el borde de la imagen, son animales tan cerca que salen cortados. La confusión dominante es mapache por coyote.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CCT-20 no trae información de oclusión, así que armamos una muestra de 150 cajas por split y le asignamos a cada una un nivel según qué parte del animal no se ve. Por tiempo, el etiquetado inicial lo hizo un modelo de visión siguiendo el criterio, y una persona re-etiqueta 50 cajas a ciegas para medir el acuerdo. El resultado es claro: con oclusión baja el recall es 0,91 en cis y 0,82 en trans; con oclusión media cae a 0,74 y 0,52. Ver solo una parte del animal ya es difícil, y en una cámara nueva lo es mucho más. La oclusión alta tiene muy pocos casos, solo marca la tendencia.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equipo de manejo no necesita cajas por foto, sino eventos, especies e individuos por cámara. El módulo aplica cinco reglas. Lo importante es la regla dos: agrupamos fotos por tiempo porque la cámara dispara ráfagas, y contar fotos inflaría la actividad. Y la regla cuatro: los individuos son el máximo en un fotograma, no la suma, porque el mismo animal sale en varias fotos. Las mismas reglas aplicadas a las etiquetas reales dan la referencia de una revisión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cámara 46, que el modelo nunca vio, el reporte acierta la especie en tres de cada cuatro eventos. Lo más útil para un ecólogo se conserva: la fracción de actividad nocturna de zarigüeya, mapache, zorrillo y lince difiere a lo sumo en cinco centésimas. Agrupar en eventos compensa errores por foto: basta con acertar una foto de la ráfaga.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Pero el módulo no reemplaza la revisión humana. Se pierden 221 eventos con animal, el 19 por ciento, que el modelo marca como vacíos. Ave y roedor casi desaparecen: 21 de 25 eventos de ave y 12 de 14 de roedor quedan vacíos. El mapache se subestima a menos de la mitad. Y aparecen 55 gatos donde hay 5: la matriz de confusión muestra que 24 son linces, 16 coyotes y 8 mapaches.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riesgos. Primero, el error golpea más a las especies raras, que suelen ser las de mayor interés para la conservación: un reporte automático podría declarar ausente a una especie que solo es invisible para el modelo. Segundo, el diecinueve por ciento de eventos perdidos: hace falta un humano en el circuito. Tercero, ubicación y privacidad: coordenadas y horarios pueden ayudar a cazadores furtivos, y las cámaras fotografían personas. Cuarto, CCT-20 es un solo ecosistema: usarlo en la Amazonía o los Andes requeriría datos locales.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Cierro con cuatro conclusiones. Las vacías son una decisión barata con un efecto claro. En cámaras nuevas el problema es de recall. El modelo no hace trampa con el fondo, pero deja de reconocer animales cuando el fondo cambia. Y como herramienta de monitoreo sirve para patrones de actividad de especies comunes, no para inventarios completos.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el flujo se reproduce con un comando: descarga, conversión, los tres entrenamientos, la evaluación y todos los análisis. Cada paso se salta si ya existe, así que tolera cortes de Colab. Como trabajo futuro: entrenar a mayor resolución para los animales pequeños, agregar cámaras de otros ecosistemas, y un mapa de interpretabilidad basado en gradientes de cada caja.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pic>
        <p:nvPicPr>
          <p:cNvPr id="2" name="Image 0" descr="C:\Users\derla\AppData\Local\Temp\claude\C--Users-derla-Documents-maestria-RNC\a18331b0-62b1-40c0-8bf2-8626c603f7b5\scratchpad\ppt\img\logo_uni.png">    </p:cNvPr>
          <p:cNvPicPr>
            <a:picLocks noChangeAspect="1"/>
          </p:cNvPicPr>
          <p:nvPr/>
        </p:nvPicPr>
        <p:blipFill>
          <a:blip r:embed="rId1"/>
          <a:stretch>
            <a:fillRect/>
          </a:stretch>
        </p:blipFill>
        <p:spPr>
          <a:xfrm>
            <a:off x="320040" y="182880"/>
            <a:ext cx="566928" cy="713232"/>
          </a:xfrm>
          <a:prstGeom prst="rect">
            <a:avLst/>
          </a:prstGeom>
        </p:spPr>
      </p:pic>
      <p:sp>
        <p:nvSpPr>
          <p:cNvPr id="3" name="Text 0"/>
          <p:cNvSpPr/>
          <p:nvPr/>
        </p:nvSpPr>
        <p:spPr>
          <a:xfrm>
            <a:off x="932688" y="329184"/>
            <a:ext cx="3108960" cy="219456"/>
          </a:xfrm>
          <a:prstGeom prst="rect">
            <a:avLst/>
          </a:prstGeom>
          <a:noFill/>
          <a:ln/>
        </p:spPr>
        <p:txBody>
          <a:bodyPr wrap="square" lIns="0" tIns="0" rIns="0" bIns="0" rtlCol="0" anchor="ctr"/>
          <a:lstStyle/>
          <a:p>
            <a:pPr indent="0" marL="0">
              <a:buNone/>
            </a:pPr>
            <a:r>
              <a:rPr lang="en-US" sz="1050" b="1" dirty="0">
                <a:solidFill>
                  <a:srgbClr val="7A1518"/>
                </a:solidFill>
              </a:rPr>
              <a:t>UNIVERSIDAD NACIONAL DE INGENIERÍA</a:t>
            </a:r>
            <a:endParaRPr lang="en-US" sz="1050" dirty="0"/>
          </a:p>
        </p:txBody>
      </p:sp>
      <p:sp>
        <p:nvSpPr>
          <p:cNvPr id="4" name="Text 1"/>
          <p:cNvSpPr/>
          <p:nvPr/>
        </p:nvSpPr>
        <p:spPr>
          <a:xfrm>
            <a:off x="932688" y="548640"/>
            <a:ext cx="3108960" cy="182880"/>
          </a:xfrm>
          <a:prstGeom prst="rect">
            <a:avLst/>
          </a:prstGeom>
          <a:noFill/>
          <a:ln/>
        </p:spPr>
        <p:txBody>
          <a:bodyPr wrap="square" lIns="0" tIns="0" rIns="0" bIns="0" rtlCol="0" anchor="ctr"/>
          <a:lstStyle/>
          <a:p>
            <a:pPr indent="0" marL="0">
              <a:buNone/>
            </a:pPr>
            <a:r>
              <a:rPr lang="en-US" sz="800" dirty="0">
                <a:solidFill>
                  <a:srgbClr val="7A1518"/>
                </a:solidFill>
              </a:rPr>
              <a:t>FACULTAD DE INGENIERÍA DE SISTEMAS E INDUSTRIAL</a:t>
            </a:r>
            <a:endParaRPr lang="en-US" sz="800" dirty="0"/>
          </a:p>
        </p:txBody>
      </p:sp>
      <p:sp>
        <p:nvSpPr>
          <p:cNvPr id="5" name="Shape 2"/>
          <p:cNvSpPr/>
          <p:nvPr/>
        </p:nvSpPr>
        <p:spPr>
          <a:xfrm>
            <a:off x="320040" y="941832"/>
            <a:ext cx="11548872" cy="0"/>
          </a:xfrm>
          <a:prstGeom prst="line">
            <a:avLst/>
          </a:prstGeom>
          <a:noFill/>
          <a:ln w="19050">
            <a:solidFill>
              <a:srgbClr val="7A1518"/>
            </a:solidFill>
            <a:prstDash val="solid"/>
          </a:ln>
        </p:spPr>
      </p:sp>
      <p:sp>
        <p:nvSpPr>
          <p:cNvPr id="6" name="Shape 3"/>
          <p:cNvSpPr/>
          <p:nvPr/>
        </p:nvSpPr>
        <p:spPr>
          <a:xfrm>
            <a:off x="320040" y="6345936"/>
            <a:ext cx="11548872" cy="0"/>
          </a:xfrm>
          <a:prstGeom prst="line">
            <a:avLst/>
          </a:prstGeom>
          <a:noFill/>
          <a:ln w="12700">
            <a:solidFill>
              <a:srgbClr val="7A1518"/>
            </a:solidFill>
            <a:prstDash val="solid"/>
          </a:ln>
        </p:spPr>
      </p:sp>
      <p:sp>
        <p:nvSpPr>
          <p:cNvPr id="7" name="Text 4"/>
          <p:cNvSpPr/>
          <p:nvPr/>
        </p:nvSpPr>
        <p:spPr>
          <a:xfrm>
            <a:off x="320040" y="6391656"/>
            <a:ext cx="9144000" cy="365760"/>
          </a:xfrm>
          <a:prstGeom prst="rect">
            <a:avLst/>
          </a:prstGeom>
          <a:noFill/>
          <a:ln/>
        </p:spPr>
        <p:txBody>
          <a:bodyPr wrap="square" lIns="0" tIns="0" rIns="0" bIns="0" rtlCol="0" anchor="ctr"/>
          <a:lstStyle/>
          <a:p>
            <a:pPr indent="0" marL="0">
              <a:buNone/>
            </a:pPr>
            <a:r>
              <a:rPr lang="en-US" sz="850" i="1" dirty="0">
                <a:solidFill>
                  <a:srgbClr val="5A5A5A"/>
                </a:solidFill>
              </a:rPr>
              <a:t>Detección de fauna en cámaras trampa con YOLO (CCT-20) · Pregunta 3 · Grupo 6</a:t>
            </a:r>
            <a:endParaRPr lang="en-US" sz="85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ORTADA">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derla\AppData\Local\Temp\claude\C--Users-derla-Documents-maestria-RNC\a18331b0-62b1-40c0-8bf2-8626c603f7b5\scratchpad\ppt\img\logo_uni.png">    </p:cNvPr>
          <p:cNvPicPr>
            <a:picLocks noChangeAspect="1"/>
          </p:cNvPicPr>
          <p:nvPr/>
        </p:nvPicPr>
        <p:blipFill>
          <a:blip r:embed="rId1"/>
          <a:stretch>
            <a:fillRect/>
          </a:stretch>
        </p:blipFill>
        <p:spPr>
          <a:xfrm>
            <a:off x="576072" y="521208"/>
            <a:ext cx="1161288" cy="1463040"/>
          </a:xfrm>
          <a:prstGeom prst="rect">
            <a:avLst/>
          </a:prstGeom>
        </p:spPr>
      </p:pic>
      <p:sp>
        <p:nvSpPr>
          <p:cNvPr id="3" name="Text 0"/>
          <p:cNvSpPr txBox="1"/>
          <p:nvPr/>
        </p:nvSpPr>
        <p:spPr>
          <a:xfrm>
            <a:off x="2194560" y="502920"/>
            <a:ext cx="9418320" cy="1463040"/>
          </a:xfrm>
          <a:prstGeom prst="rect">
            <a:avLst/>
          </a:prstGeom>
          <a:noFill/>
          <a:ln/>
        </p:spPr>
        <p:txBody>
          <a:bodyPr wrap="square" lIns="0" tIns="0" rIns="0" bIns="0" rtlCol="0" anchor="ctr"/>
          <a:lstStyle/>
          <a:p>
            <a:pPr indent="0" marL="0">
              <a:buNone/>
            </a:pPr>
            <a:r>
              <a:rPr lang="en-US" sz="2600" b="1" dirty="0">
                <a:solidFill>
                  <a:srgbClr val="7A1518"/>
                </a:solidFill>
              </a:rPr>
              <a:t>UNIVERSIDAD NACIONAL DE INGENIERÍA</a:t>
            </a:r>
            <a:endParaRPr lang="en-US" sz="2600" dirty="0"/>
          </a:p>
          <a:p>
            <a:pPr indent="0" marL="0">
              <a:buNone/>
            </a:pPr>
            <a:r>
              <a:rPr lang="en-US" sz="1800" dirty="0">
                <a:solidFill>
                  <a:srgbClr val="7A1518"/>
                </a:solidFill>
              </a:rPr>
              <a:t>FACULTAD DE INGENIERÍA DE SISTEMAS E INDUSTRIAL</a:t>
            </a:r>
            <a:endParaRPr lang="en-US" sz="2600" dirty="0"/>
          </a:p>
        </p:txBody>
      </p:sp>
      <p:sp>
        <p:nvSpPr>
          <p:cNvPr id="4" name="Text 1"/>
          <p:cNvSpPr txBox="1"/>
          <p:nvPr/>
        </p:nvSpPr>
        <p:spPr>
          <a:xfrm>
            <a:off x="914400" y="2331720"/>
            <a:ext cx="10360152" cy="1051560"/>
          </a:xfrm>
          <a:prstGeom prst="rect">
            <a:avLst/>
          </a:prstGeom>
          <a:noFill/>
          <a:ln/>
        </p:spPr>
        <p:txBody>
          <a:bodyPr wrap="square" rtlCol="0" anchor="ctr"/>
          <a:lstStyle/>
          <a:p>
            <a:pPr algn="ctr" indent="0" marL="0">
              <a:buNone/>
            </a:pPr>
            <a:r>
              <a:rPr lang="en-US" sz="2800" b="1" i="1" dirty="0">
                <a:solidFill>
                  <a:srgbClr val="1F3B66"/>
                </a:solidFill>
              </a:rPr>
              <a:t>Detección de fauna en cámaras trampa con YOLO: generalización a ubicaciones nuevas y monitoreo ecológico</a:t>
            </a:r>
            <a:endParaRPr lang="en-US" sz="2800" dirty="0"/>
          </a:p>
        </p:txBody>
      </p:sp>
      <p:sp>
        <p:nvSpPr>
          <p:cNvPr id="5" name="Text 2"/>
          <p:cNvSpPr txBox="1"/>
          <p:nvPr/>
        </p:nvSpPr>
        <p:spPr>
          <a:xfrm>
            <a:off x="914400" y="3520440"/>
            <a:ext cx="10360152" cy="457200"/>
          </a:xfrm>
          <a:prstGeom prst="rect">
            <a:avLst/>
          </a:prstGeom>
          <a:noFill/>
          <a:ln/>
        </p:spPr>
        <p:txBody>
          <a:bodyPr wrap="square" rtlCol="0" anchor="ctr"/>
          <a:lstStyle/>
          <a:p>
            <a:pPr algn="ctr" indent="0" marL="0">
              <a:buNone/>
            </a:pPr>
            <a:r>
              <a:rPr lang="en-US" sz="2400" b="1" dirty="0">
                <a:solidFill>
                  <a:srgbClr val="7A1518"/>
                </a:solidFill>
              </a:rPr>
              <a:t>Examen Parcial · Pregunta 3</a:t>
            </a:r>
            <a:endParaRPr lang="en-US" sz="2400" dirty="0"/>
          </a:p>
        </p:txBody>
      </p:sp>
      <p:sp>
        <p:nvSpPr>
          <p:cNvPr id="6" name="Text 3"/>
          <p:cNvSpPr txBox="1"/>
          <p:nvPr/>
        </p:nvSpPr>
        <p:spPr>
          <a:xfrm>
            <a:off x="822960" y="4041648"/>
            <a:ext cx="8229600" cy="1965960"/>
          </a:xfrm>
          <a:prstGeom prst="rect">
            <a:avLst/>
          </a:prstGeom>
          <a:noFill/>
          <a:ln/>
        </p:spPr>
        <p:txBody>
          <a:bodyPr wrap="square" lIns="0" tIns="0" rIns="0" bIns="0" rtlCol="0" anchor="t"/>
          <a:lstStyle/>
          <a:p>
            <a:pPr indent="0" marL="0">
              <a:buNone/>
            </a:pPr>
            <a:r>
              <a:rPr lang="en-US" sz="1500" b="1" dirty="0">
                <a:solidFill>
                  <a:srgbClr val="7A1518"/>
                </a:solidFill>
              </a:rPr>
              <a:t>Curso: </a:t>
            </a:r>
            <a:pPr indent="0" marL="0">
              <a:buNone/>
            </a:pPr>
            <a:r>
              <a:rPr lang="en-US" sz="1500" dirty="0">
                <a:solidFill>
                  <a:srgbClr val="222222"/>
                </a:solidFill>
              </a:rPr>
              <a:t>Redes Neuronales y Aprendizaje Profundo</a:t>
            </a:r>
            <a:endParaRPr lang="en-US" sz="1500" dirty="0"/>
          </a:p>
          <a:p>
            <a:pPr indent="0" marL="0">
              <a:buNone/>
            </a:pPr>
            <a:r>
              <a:rPr lang="en-US" sz="1500" b="1" dirty="0">
                <a:solidFill>
                  <a:srgbClr val="7A1518"/>
                </a:solidFill>
              </a:rPr>
              <a:t>Autores (Grupo 6):</a:t>
            </a:r>
            <a:endParaRPr lang="en-US" sz="1500" dirty="0"/>
          </a:p>
          <a:p>
            <a:pPr indent="0" marL="0">
              <a:buNone/>
            </a:pPr>
            <a:r>
              <a:rPr lang="en-US" sz="1500" dirty="0">
                <a:solidFill>
                  <a:srgbClr val="222222"/>
                </a:solidFill>
              </a:rPr>
              <a:t>Contreras Avendaño, Juan Sebastian Francesco</a:t>
            </a:r>
            <a:endParaRPr lang="en-US" sz="1500" dirty="0"/>
          </a:p>
          <a:p>
            <a:pPr indent="0" marL="0">
              <a:buNone/>
            </a:pPr>
            <a:r>
              <a:rPr lang="en-US" sz="1500" dirty="0">
                <a:solidFill>
                  <a:srgbClr val="222222"/>
                </a:solidFill>
              </a:rPr>
              <a:t>Romero Lovera, Junior</a:t>
            </a:r>
            <a:endParaRPr lang="en-US" sz="1500" dirty="0"/>
          </a:p>
          <a:p>
            <a:pPr indent="0" marL="0">
              <a:buNone/>
            </a:pPr>
            <a:r>
              <a:rPr lang="en-US" sz="1500" dirty="0">
                <a:solidFill>
                  <a:srgbClr val="222222"/>
                </a:solidFill>
              </a:rPr>
              <a:t>Muñoz Cañabe, Luis</a:t>
            </a:r>
            <a:endParaRPr lang="en-US" sz="1500" dirty="0"/>
          </a:p>
          <a:p>
            <a:pPr indent="0" marL="0">
              <a:buNone/>
            </a:pPr>
            <a:r>
              <a:rPr lang="en-US" sz="1500" dirty="0">
                <a:solidFill>
                  <a:srgbClr val="222222"/>
                </a:solidFill>
              </a:rPr>
              <a:t>Oha Quispe, Derly Raúl</a:t>
            </a:r>
            <a:endParaRPr lang="en-US" sz="1500" dirty="0"/>
          </a:p>
          <a:p>
            <a:pPr indent="0" marL="0">
              <a:buNone/>
            </a:pPr>
            <a:r>
              <a:rPr lang="en-US" sz="1500" dirty="0">
                <a:solidFill>
                  <a:srgbClr val="222222"/>
                </a:solidFill>
              </a:rPr>
              <a:t>Pedraza Palomino, Lourdes</a:t>
            </a:r>
            <a:endParaRPr lang="en-US" sz="1500" dirty="0"/>
          </a:p>
        </p:txBody>
      </p:sp>
      <p:sp>
        <p:nvSpPr>
          <p:cNvPr id="7" name="Text 4"/>
          <p:cNvSpPr txBox="1"/>
          <p:nvPr/>
        </p:nvSpPr>
        <p:spPr>
          <a:xfrm>
            <a:off x="914400" y="6126480"/>
            <a:ext cx="10360152" cy="457200"/>
          </a:xfrm>
          <a:prstGeom prst="rect">
            <a:avLst/>
          </a:prstGeom>
          <a:noFill/>
          <a:ln/>
        </p:spPr>
        <p:txBody>
          <a:bodyPr wrap="square" rtlCol="0" anchor="ctr"/>
          <a:lstStyle/>
          <a:p>
            <a:pPr algn="ctr" indent="0" marL="0">
              <a:buNone/>
            </a:pPr>
            <a:r>
              <a:rPr lang="en-US" sz="2200" b="1" dirty="0">
                <a:solidFill>
                  <a:srgbClr val="7A1518"/>
                </a:solidFill>
              </a:rPr>
              <a:t>Octubre - 2026</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Agenda</a:t>
            </a:r>
            <a:endParaRPr lang="en-US" sz="2700" dirty="0"/>
          </a:p>
        </p:txBody>
      </p:sp>
      <p:sp>
        <p:nvSpPr>
          <p:cNvPr id="4" name="Shape 1"/>
          <p:cNvSpPr/>
          <p:nvPr/>
        </p:nvSpPr>
        <p:spPr>
          <a:xfrm>
            <a:off x="2926080" y="1325880"/>
            <a:ext cx="347472" cy="347472"/>
          </a:xfrm>
          <a:prstGeom prst="ellipse">
            <a:avLst/>
          </a:prstGeom>
          <a:solidFill>
            <a:srgbClr val="7A1518"/>
          </a:solidFill>
          <a:ln w="12700">
            <a:solidFill>
              <a:srgbClr val="7A1518"/>
            </a:solidFill>
            <a:prstDash val="solid"/>
          </a:ln>
        </p:spPr>
      </p:sp>
      <p:sp>
        <p:nvSpPr>
          <p:cNvPr id="5" name="Text 2"/>
          <p:cNvSpPr txBox="1"/>
          <p:nvPr/>
        </p:nvSpPr>
        <p:spPr>
          <a:xfrm>
            <a:off x="2926080" y="132588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3"/>
          <p:cNvSpPr txBox="1"/>
          <p:nvPr/>
        </p:nvSpPr>
        <p:spPr>
          <a:xfrm>
            <a:off x="3474720" y="1289304"/>
            <a:ext cx="6035040" cy="420624"/>
          </a:xfrm>
          <a:prstGeom prst="rect">
            <a:avLst/>
          </a:prstGeom>
          <a:noFill/>
          <a:ln/>
        </p:spPr>
        <p:txBody>
          <a:bodyPr wrap="square" lIns="0" tIns="0" rIns="0" bIns="0" rtlCol="0" anchor="ctr"/>
          <a:lstStyle/>
          <a:p>
            <a:pPr indent="0" marL="0">
              <a:buNone/>
            </a:pPr>
            <a:r>
              <a:rPr lang="en-US" sz="1700" dirty="0">
                <a:solidFill>
                  <a:srgbClr val="222222"/>
                </a:solidFill>
              </a:rPr>
              <a:t>El problema: cámaras trampa y fotos vacías</a:t>
            </a:r>
            <a:endParaRPr lang="en-US" sz="1700" dirty="0"/>
          </a:p>
        </p:txBody>
      </p:sp>
      <p:sp>
        <p:nvSpPr>
          <p:cNvPr id="7" name="Shape 4"/>
          <p:cNvSpPr/>
          <p:nvPr/>
        </p:nvSpPr>
        <p:spPr>
          <a:xfrm>
            <a:off x="2926080" y="1837944"/>
            <a:ext cx="347472" cy="347472"/>
          </a:xfrm>
          <a:prstGeom prst="ellipse">
            <a:avLst/>
          </a:prstGeom>
          <a:solidFill>
            <a:srgbClr val="7A1518"/>
          </a:solidFill>
          <a:ln w="12700">
            <a:solidFill>
              <a:srgbClr val="7A1518"/>
            </a:solidFill>
            <a:prstDash val="solid"/>
          </a:ln>
        </p:spPr>
      </p:sp>
      <p:sp>
        <p:nvSpPr>
          <p:cNvPr id="8" name="Text 5"/>
          <p:cNvSpPr txBox="1"/>
          <p:nvPr/>
        </p:nvSpPr>
        <p:spPr>
          <a:xfrm>
            <a:off x="2926080" y="183794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6"/>
          <p:cNvSpPr txBox="1"/>
          <p:nvPr/>
        </p:nvSpPr>
        <p:spPr>
          <a:xfrm>
            <a:off x="3474720" y="1801368"/>
            <a:ext cx="6035040" cy="420624"/>
          </a:xfrm>
          <a:prstGeom prst="rect">
            <a:avLst/>
          </a:prstGeom>
          <a:noFill/>
          <a:ln/>
        </p:spPr>
        <p:txBody>
          <a:bodyPr wrap="square" lIns="0" tIns="0" rIns="0" bIns="0" rtlCol="0" anchor="ctr"/>
          <a:lstStyle/>
          <a:p>
            <a:pPr indent="0" marL="0">
              <a:buNone/>
            </a:pPr>
            <a:r>
              <a:rPr lang="en-US" sz="1700" dirty="0">
                <a:solidFill>
                  <a:srgbClr val="222222"/>
                </a:solidFill>
              </a:rPr>
              <a:t>Datos: CCT-20, cámaras vistas (cis) y nuevas (trans)</a:t>
            </a:r>
            <a:endParaRPr lang="en-US" sz="1700" dirty="0"/>
          </a:p>
        </p:txBody>
      </p:sp>
      <p:sp>
        <p:nvSpPr>
          <p:cNvPr id="10" name="Shape 7"/>
          <p:cNvSpPr/>
          <p:nvPr/>
        </p:nvSpPr>
        <p:spPr>
          <a:xfrm>
            <a:off x="2926080" y="2350008"/>
            <a:ext cx="347472" cy="347472"/>
          </a:xfrm>
          <a:prstGeom prst="ellipse">
            <a:avLst/>
          </a:prstGeom>
          <a:solidFill>
            <a:srgbClr val="7A1518"/>
          </a:solidFill>
          <a:ln w="12700">
            <a:solidFill>
              <a:srgbClr val="7A1518"/>
            </a:solidFill>
            <a:prstDash val="solid"/>
          </a:ln>
        </p:spPr>
      </p:sp>
      <p:sp>
        <p:nvSpPr>
          <p:cNvPr id="11" name="Text 8"/>
          <p:cNvSpPr txBox="1"/>
          <p:nvPr/>
        </p:nvSpPr>
        <p:spPr>
          <a:xfrm>
            <a:off x="2926080" y="235000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Text 9"/>
          <p:cNvSpPr txBox="1"/>
          <p:nvPr/>
        </p:nvSpPr>
        <p:spPr>
          <a:xfrm>
            <a:off x="3474720" y="2313432"/>
            <a:ext cx="6035040" cy="420624"/>
          </a:xfrm>
          <a:prstGeom prst="rect">
            <a:avLst/>
          </a:prstGeom>
          <a:noFill/>
          <a:ln/>
        </p:spPr>
        <p:txBody>
          <a:bodyPr wrap="square" lIns="0" tIns="0" rIns="0" bIns="0" rtlCol="0" anchor="ctr"/>
          <a:lstStyle/>
          <a:p>
            <a:pPr indent="0" marL="0">
              <a:buNone/>
            </a:pPr>
            <a:r>
              <a:rPr lang="en-US" sz="1700" dirty="0">
                <a:solidFill>
                  <a:srgbClr val="222222"/>
                </a:solidFill>
              </a:rPr>
              <a:t>Preparación: exclusiones y vacías como fondo</a:t>
            </a:r>
            <a:endParaRPr lang="en-US" sz="1700" dirty="0"/>
          </a:p>
        </p:txBody>
      </p:sp>
      <p:sp>
        <p:nvSpPr>
          <p:cNvPr id="13" name="Shape 10"/>
          <p:cNvSpPr/>
          <p:nvPr/>
        </p:nvSpPr>
        <p:spPr>
          <a:xfrm>
            <a:off x="9601200" y="2386584"/>
            <a:ext cx="1005840" cy="274320"/>
          </a:xfrm>
          <a:prstGeom prst="roundRect">
            <a:avLst>
              <a:gd name="adj" fmla="val 50000"/>
            </a:avLst>
          </a:prstGeom>
          <a:solidFill>
            <a:srgbClr val="1F3B66"/>
          </a:solidFill>
          <a:ln w="12700">
            <a:solidFill>
              <a:srgbClr val="1F3B66"/>
            </a:solidFill>
            <a:prstDash val="solid"/>
          </a:ln>
        </p:spPr>
      </p:sp>
      <p:sp>
        <p:nvSpPr>
          <p:cNvPr id="14" name="Text 11"/>
          <p:cNvSpPr txBox="1"/>
          <p:nvPr/>
        </p:nvSpPr>
        <p:spPr>
          <a:xfrm>
            <a:off x="9601200" y="2386584"/>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rPr>
              <a:t>E1</a:t>
            </a:r>
            <a:endParaRPr lang="en-US" sz="1000" dirty="0"/>
          </a:p>
        </p:txBody>
      </p:sp>
      <p:sp>
        <p:nvSpPr>
          <p:cNvPr id="15" name="Shape 12"/>
          <p:cNvSpPr/>
          <p:nvPr/>
        </p:nvSpPr>
        <p:spPr>
          <a:xfrm>
            <a:off x="2926080" y="2862072"/>
            <a:ext cx="347472" cy="347472"/>
          </a:xfrm>
          <a:prstGeom prst="ellipse">
            <a:avLst/>
          </a:prstGeom>
          <a:solidFill>
            <a:srgbClr val="7A1518"/>
          </a:solidFill>
          <a:ln w="12700">
            <a:solidFill>
              <a:srgbClr val="7A1518"/>
            </a:solidFill>
            <a:prstDash val="solid"/>
          </a:ln>
        </p:spPr>
      </p:sp>
      <p:sp>
        <p:nvSpPr>
          <p:cNvPr id="16" name="Text 13"/>
          <p:cNvSpPr txBox="1"/>
          <p:nvPr/>
        </p:nvSpPr>
        <p:spPr>
          <a:xfrm>
            <a:off x="2926080" y="286207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4"/>
          <p:cNvSpPr txBox="1"/>
          <p:nvPr/>
        </p:nvSpPr>
        <p:spPr>
          <a:xfrm>
            <a:off x="3474720" y="2825496"/>
            <a:ext cx="6035040" cy="420624"/>
          </a:xfrm>
          <a:prstGeom prst="rect">
            <a:avLst/>
          </a:prstGeom>
          <a:noFill/>
          <a:ln/>
        </p:spPr>
        <p:txBody>
          <a:bodyPr wrap="square" lIns="0" tIns="0" rIns="0" bIns="0" rtlCol="0" anchor="ctr"/>
          <a:lstStyle/>
          <a:p>
            <a:pPr indent="0" marL="0">
              <a:buNone/>
            </a:pPr>
            <a:r>
              <a:rPr lang="en-US" sz="1700" dirty="0">
                <a:solidFill>
                  <a:srgbClr val="222222"/>
                </a:solidFill>
              </a:rPr>
              <a:t>Entrenamiento y efecto de las vacías</a:t>
            </a:r>
            <a:endParaRPr lang="en-US" sz="1700" dirty="0"/>
          </a:p>
        </p:txBody>
      </p:sp>
      <p:sp>
        <p:nvSpPr>
          <p:cNvPr id="18" name="Shape 15"/>
          <p:cNvSpPr/>
          <p:nvPr/>
        </p:nvSpPr>
        <p:spPr>
          <a:xfrm>
            <a:off x="9601200" y="2898648"/>
            <a:ext cx="1005840" cy="274320"/>
          </a:xfrm>
          <a:prstGeom prst="roundRect">
            <a:avLst>
              <a:gd name="adj" fmla="val 50000"/>
            </a:avLst>
          </a:prstGeom>
          <a:solidFill>
            <a:srgbClr val="1F3B66"/>
          </a:solidFill>
          <a:ln w="12700">
            <a:solidFill>
              <a:srgbClr val="1F3B66"/>
            </a:solidFill>
            <a:prstDash val="solid"/>
          </a:ln>
        </p:spPr>
      </p:sp>
      <p:sp>
        <p:nvSpPr>
          <p:cNvPr id="19" name="Text 16"/>
          <p:cNvSpPr txBox="1"/>
          <p:nvPr/>
        </p:nvSpPr>
        <p:spPr>
          <a:xfrm>
            <a:off x="9601200" y="2898648"/>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rPr>
              <a:t>E1</a:t>
            </a:r>
            <a:endParaRPr lang="en-US" sz="1000" dirty="0"/>
          </a:p>
        </p:txBody>
      </p:sp>
      <p:sp>
        <p:nvSpPr>
          <p:cNvPr id="20" name="Shape 17"/>
          <p:cNvSpPr/>
          <p:nvPr/>
        </p:nvSpPr>
        <p:spPr>
          <a:xfrm>
            <a:off x="2926080" y="3374136"/>
            <a:ext cx="347472" cy="347472"/>
          </a:xfrm>
          <a:prstGeom prst="ellipse">
            <a:avLst/>
          </a:prstGeom>
          <a:solidFill>
            <a:srgbClr val="7A1518"/>
          </a:solidFill>
          <a:ln w="12700">
            <a:solidFill>
              <a:srgbClr val="7A1518"/>
            </a:solidFill>
            <a:prstDash val="solid"/>
          </a:ln>
        </p:spPr>
      </p:sp>
      <p:sp>
        <p:nvSpPr>
          <p:cNvPr id="21" name="Text 18"/>
          <p:cNvSpPr txBox="1"/>
          <p:nvPr/>
        </p:nvSpPr>
        <p:spPr>
          <a:xfrm>
            <a:off x="2926080" y="337413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19"/>
          <p:cNvSpPr txBox="1"/>
          <p:nvPr/>
        </p:nvSpPr>
        <p:spPr>
          <a:xfrm>
            <a:off x="3474720" y="3337560"/>
            <a:ext cx="6035040" cy="420624"/>
          </a:xfrm>
          <a:prstGeom prst="rect">
            <a:avLst/>
          </a:prstGeom>
          <a:noFill/>
          <a:ln/>
        </p:spPr>
        <p:txBody>
          <a:bodyPr wrap="square" lIns="0" tIns="0" rIns="0" bIns="0" rtlCol="0" anchor="ctr"/>
          <a:lstStyle/>
          <a:p>
            <a:pPr indent="0" marL="0">
              <a:buNone/>
            </a:pPr>
            <a:r>
              <a:rPr lang="en-US" sz="1700" dirty="0">
                <a:solidFill>
                  <a:srgbClr val="222222"/>
                </a:solidFill>
              </a:rPr>
              <a:t>Resultados por especie y desbalance</a:t>
            </a:r>
            <a:endParaRPr lang="en-US" sz="1700" dirty="0"/>
          </a:p>
        </p:txBody>
      </p:sp>
      <p:sp>
        <p:nvSpPr>
          <p:cNvPr id="23" name="Shape 20"/>
          <p:cNvSpPr/>
          <p:nvPr/>
        </p:nvSpPr>
        <p:spPr>
          <a:xfrm>
            <a:off x="9601200" y="3410712"/>
            <a:ext cx="1005840" cy="274320"/>
          </a:xfrm>
          <a:prstGeom prst="roundRect">
            <a:avLst>
              <a:gd name="adj" fmla="val 50000"/>
            </a:avLst>
          </a:prstGeom>
          <a:solidFill>
            <a:srgbClr val="1F3B66"/>
          </a:solidFill>
          <a:ln w="12700">
            <a:solidFill>
              <a:srgbClr val="1F3B66"/>
            </a:solidFill>
            <a:prstDash val="solid"/>
          </a:ln>
        </p:spPr>
      </p:sp>
      <p:sp>
        <p:nvSpPr>
          <p:cNvPr id="24" name="Text 21"/>
          <p:cNvSpPr txBox="1"/>
          <p:nvPr/>
        </p:nvSpPr>
        <p:spPr>
          <a:xfrm>
            <a:off x="9601200" y="3410712"/>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rPr>
              <a:t>E2</a:t>
            </a:r>
            <a:endParaRPr lang="en-US" sz="1000" dirty="0"/>
          </a:p>
        </p:txBody>
      </p:sp>
      <p:sp>
        <p:nvSpPr>
          <p:cNvPr id="25" name="Shape 22"/>
          <p:cNvSpPr/>
          <p:nvPr/>
        </p:nvSpPr>
        <p:spPr>
          <a:xfrm>
            <a:off x="2926080" y="3886200"/>
            <a:ext cx="347472" cy="347472"/>
          </a:xfrm>
          <a:prstGeom prst="ellipse">
            <a:avLst/>
          </a:prstGeom>
          <a:solidFill>
            <a:srgbClr val="7A1518"/>
          </a:solidFill>
          <a:ln w="12700">
            <a:solidFill>
              <a:srgbClr val="7A1518"/>
            </a:solidFill>
            <a:prstDash val="solid"/>
          </a:ln>
        </p:spPr>
      </p:sp>
      <p:sp>
        <p:nvSpPr>
          <p:cNvPr id="26" name="Text 23"/>
          <p:cNvSpPr txBox="1"/>
          <p:nvPr/>
        </p:nvSpPr>
        <p:spPr>
          <a:xfrm>
            <a:off x="2926080" y="388620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7" name="Text 24"/>
          <p:cNvSpPr txBox="1"/>
          <p:nvPr/>
        </p:nvSpPr>
        <p:spPr>
          <a:xfrm>
            <a:off x="3474720" y="3849624"/>
            <a:ext cx="6035040" cy="420624"/>
          </a:xfrm>
          <a:prstGeom prst="rect">
            <a:avLst/>
          </a:prstGeom>
          <a:noFill/>
          <a:ln/>
        </p:spPr>
        <p:txBody>
          <a:bodyPr wrap="square" lIns="0" tIns="0" rIns="0" bIns="0" rtlCol="0" anchor="ctr"/>
          <a:lstStyle/>
          <a:p>
            <a:pPr indent="0" marL="0">
              <a:buNone/>
            </a:pPr>
            <a:r>
              <a:rPr lang="en-US" sz="1700" dirty="0">
                <a:solidFill>
                  <a:srgbClr val="222222"/>
                </a:solidFill>
              </a:rPr>
              <a:t>Generalización y aprendizaje del fondo</a:t>
            </a:r>
            <a:endParaRPr lang="en-US" sz="1700" dirty="0"/>
          </a:p>
        </p:txBody>
      </p:sp>
      <p:sp>
        <p:nvSpPr>
          <p:cNvPr id="28" name="Shape 25"/>
          <p:cNvSpPr/>
          <p:nvPr/>
        </p:nvSpPr>
        <p:spPr>
          <a:xfrm>
            <a:off x="9601200" y="3922776"/>
            <a:ext cx="1005840" cy="274320"/>
          </a:xfrm>
          <a:prstGeom prst="roundRect">
            <a:avLst>
              <a:gd name="adj" fmla="val 50000"/>
            </a:avLst>
          </a:prstGeom>
          <a:solidFill>
            <a:srgbClr val="1F3B66"/>
          </a:solidFill>
          <a:ln w="12700">
            <a:solidFill>
              <a:srgbClr val="1F3B66"/>
            </a:solidFill>
            <a:prstDash val="solid"/>
          </a:ln>
        </p:spPr>
      </p:sp>
      <p:sp>
        <p:nvSpPr>
          <p:cNvPr id="29" name="Text 26"/>
          <p:cNvSpPr txBox="1"/>
          <p:nvPr/>
        </p:nvSpPr>
        <p:spPr>
          <a:xfrm>
            <a:off x="9601200" y="3922776"/>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rPr>
              <a:t>E3</a:t>
            </a:r>
            <a:endParaRPr lang="en-US" sz="1000" dirty="0"/>
          </a:p>
        </p:txBody>
      </p:sp>
      <p:sp>
        <p:nvSpPr>
          <p:cNvPr id="30" name="Shape 27"/>
          <p:cNvSpPr/>
          <p:nvPr/>
        </p:nvSpPr>
        <p:spPr>
          <a:xfrm>
            <a:off x="2926080" y="4398264"/>
            <a:ext cx="347472" cy="347472"/>
          </a:xfrm>
          <a:prstGeom prst="ellipse">
            <a:avLst/>
          </a:prstGeom>
          <a:solidFill>
            <a:srgbClr val="7A1518"/>
          </a:solidFill>
          <a:ln w="12700">
            <a:solidFill>
              <a:srgbClr val="7A1518"/>
            </a:solidFill>
            <a:prstDash val="solid"/>
          </a:ln>
        </p:spPr>
      </p:sp>
      <p:sp>
        <p:nvSpPr>
          <p:cNvPr id="31" name="Text 28"/>
          <p:cNvSpPr txBox="1"/>
          <p:nvPr/>
        </p:nvSpPr>
        <p:spPr>
          <a:xfrm>
            <a:off x="2926080" y="43982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32" name="Text 29"/>
          <p:cNvSpPr txBox="1"/>
          <p:nvPr/>
        </p:nvSpPr>
        <p:spPr>
          <a:xfrm>
            <a:off x="3474720" y="4361688"/>
            <a:ext cx="6035040" cy="420624"/>
          </a:xfrm>
          <a:prstGeom prst="rect">
            <a:avLst/>
          </a:prstGeom>
          <a:noFill/>
          <a:ln/>
        </p:spPr>
        <p:txBody>
          <a:bodyPr wrap="square" lIns="0" tIns="0" rIns="0" bIns="0" rtlCol="0" anchor="ctr"/>
          <a:lstStyle/>
          <a:p>
            <a:pPr indent="0" marL="0">
              <a:buNone/>
            </a:pPr>
            <a:r>
              <a:rPr lang="en-US" sz="1700" dirty="0">
                <a:solidFill>
                  <a:srgbClr val="222222"/>
                </a:solidFill>
              </a:rPr>
              <a:t>Robustez a tamaño y oclusión</a:t>
            </a:r>
            <a:endParaRPr lang="en-US" sz="1700" dirty="0"/>
          </a:p>
        </p:txBody>
      </p:sp>
      <p:sp>
        <p:nvSpPr>
          <p:cNvPr id="33" name="Shape 30"/>
          <p:cNvSpPr/>
          <p:nvPr/>
        </p:nvSpPr>
        <p:spPr>
          <a:xfrm>
            <a:off x="9601200" y="4434840"/>
            <a:ext cx="1005840" cy="274320"/>
          </a:xfrm>
          <a:prstGeom prst="roundRect">
            <a:avLst>
              <a:gd name="adj" fmla="val 50000"/>
            </a:avLst>
          </a:prstGeom>
          <a:solidFill>
            <a:srgbClr val="1F3B66"/>
          </a:solidFill>
          <a:ln w="12700">
            <a:solidFill>
              <a:srgbClr val="1F3B66"/>
            </a:solidFill>
            <a:prstDash val="solid"/>
          </a:ln>
        </p:spPr>
      </p:sp>
      <p:sp>
        <p:nvSpPr>
          <p:cNvPr id="34" name="Text 31"/>
          <p:cNvSpPr txBox="1"/>
          <p:nvPr/>
        </p:nvSpPr>
        <p:spPr>
          <a:xfrm>
            <a:off x="9601200" y="4434840"/>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rPr>
              <a:t>E4</a:t>
            </a:r>
            <a:endParaRPr lang="en-US" sz="1000" dirty="0"/>
          </a:p>
        </p:txBody>
      </p:sp>
      <p:sp>
        <p:nvSpPr>
          <p:cNvPr id="35" name="Shape 32"/>
          <p:cNvSpPr/>
          <p:nvPr/>
        </p:nvSpPr>
        <p:spPr>
          <a:xfrm>
            <a:off x="2926080" y="4910328"/>
            <a:ext cx="347472" cy="347472"/>
          </a:xfrm>
          <a:prstGeom prst="ellipse">
            <a:avLst/>
          </a:prstGeom>
          <a:solidFill>
            <a:srgbClr val="7A1518"/>
          </a:solidFill>
          <a:ln w="12700">
            <a:solidFill>
              <a:srgbClr val="7A1518"/>
            </a:solidFill>
            <a:prstDash val="solid"/>
          </a:ln>
        </p:spPr>
      </p:sp>
      <p:sp>
        <p:nvSpPr>
          <p:cNvPr id="36" name="Text 33"/>
          <p:cNvSpPr txBox="1"/>
          <p:nvPr/>
        </p:nvSpPr>
        <p:spPr>
          <a:xfrm>
            <a:off x="2926080" y="491032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37" name="Text 34"/>
          <p:cNvSpPr txBox="1"/>
          <p:nvPr/>
        </p:nvSpPr>
        <p:spPr>
          <a:xfrm>
            <a:off x="3474720" y="4873752"/>
            <a:ext cx="6035040" cy="420624"/>
          </a:xfrm>
          <a:prstGeom prst="rect">
            <a:avLst/>
          </a:prstGeom>
          <a:noFill/>
          <a:ln/>
        </p:spPr>
        <p:txBody>
          <a:bodyPr wrap="square" lIns="0" tIns="0" rIns="0" bIns="0" rtlCol="0" anchor="ctr"/>
          <a:lstStyle/>
          <a:p>
            <a:pPr indent="0" marL="0">
              <a:buNone/>
            </a:pPr>
            <a:r>
              <a:rPr lang="en-US" sz="1700" dirty="0">
                <a:solidFill>
                  <a:srgbClr val="222222"/>
                </a:solidFill>
              </a:rPr>
              <a:t>Monitoreo ecológico en una cámara nueva</a:t>
            </a:r>
            <a:endParaRPr lang="en-US" sz="1700" dirty="0"/>
          </a:p>
        </p:txBody>
      </p:sp>
      <p:sp>
        <p:nvSpPr>
          <p:cNvPr id="38" name="Shape 35"/>
          <p:cNvSpPr/>
          <p:nvPr/>
        </p:nvSpPr>
        <p:spPr>
          <a:xfrm>
            <a:off x="9601200" y="4946904"/>
            <a:ext cx="1005840" cy="274320"/>
          </a:xfrm>
          <a:prstGeom prst="roundRect">
            <a:avLst>
              <a:gd name="adj" fmla="val 50000"/>
            </a:avLst>
          </a:prstGeom>
          <a:solidFill>
            <a:srgbClr val="1F3B66"/>
          </a:solidFill>
          <a:ln w="12700">
            <a:solidFill>
              <a:srgbClr val="1F3B66"/>
            </a:solidFill>
            <a:prstDash val="solid"/>
          </a:ln>
        </p:spPr>
      </p:sp>
      <p:sp>
        <p:nvSpPr>
          <p:cNvPr id="39" name="Text 36"/>
          <p:cNvSpPr txBox="1"/>
          <p:nvPr/>
        </p:nvSpPr>
        <p:spPr>
          <a:xfrm>
            <a:off x="9601200" y="4946904"/>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rPr>
              <a:t>E5</a:t>
            </a:r>
            <a:endParaRPr lang="en-US" sz="1000" dirty="0"/>
          </a:p>
        </p:txBody>
      </p:sp>
      <p:sp>
        <p:nvSpPr>
          <p:cNvPr id="40" name="Shape 37"/>
          <p:cNvSpPr/>
          <p:nvPr/>
        </p:nvSpPr>
        <p:spPr>
          <a:xfrm>
            <a:off x="2926080" y="5422392"/>
            <a:ext cx="347472" cy="347472"/>
          </a:xfrm>
          <a:prstGeom prst="ellipse">
            <a:avLst/>
          </a:prstGeom>
          <a:solidFill>
            <a:srgbClr val="7A1518"/>
          </a:solidFill>
          <a:ln w="12700">
            <a:solidFill>
              <a:srgbClr val="7A1518"/>
            </a:solidFill>
            <a:prstDash val="solid"/>
          </a:ln>
        </p:spPr>
      </p:sp>
      <p:sp>
        <p:nvSpPr>
          <p:cNvPr id="41" name="Text 38"/>
          <p:cNvSpPr txBox="1"/>
          <p:nvPr/>
        </p:nvSpPr>
        <p:spPr>
          <a:xfrm>
            <a:off x="2926080" y="542239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9</a:t>
            </a:r>
            <a:endParaRPr lang="en-US" sz="1400" dirty="0"/>
          </a:p>
        </p:txBody>
      </p:sp>
      <p:sp>
        <p:nvSpPr>
          <p:cNvPr id="42" name="Text 39"/>
          <p:cNvSpPr txBox="1"/>
          <p:nvPr/>
        </p:nvSpPr>
        <p:spPr>
          <a:xfrm>
            <a:off x="3474720" y="5385816"/>
            <a:ext cx="6035040" cy="420624"/>
          </a:xfrm>
          <a:prstGeom prst="rect">
            <a:avLst/>
          </a:prstGeom>
          <a:noFill/>
          <a:ln/>
        </p:spPr>
        <p:txBody>
          <a:bodyPr wrap="square" lIns="0" tIns="0" rIns="0" bIns="0" rtlCol="0" anchor="ctr"/>
          <a:lstStyle/>
          <a:p>
            <a:pPr indent="0" marL="0">
              <a:buNone/>
            </a:pPr>
            <a:r>
              <a:rPr lang="en-US" sz="1700" dirty="0">
                <a:solidFill>
                  <a:srgbClr val="222222"/>
                </a:solidFill>
              </a:rPr>
              <a:t>Ética y conclusiones</a:t>
            </a:r>
            <a:endParaRPr lang="en-US" sz="1700" dirty="0"/>
          </a:p>
        </p:txBody>
      </p:sp>
      <p:sp>
        <p:nvSpPr>
          <p:cNvPr id="43" name="Shape 40"/>
          <p:cNvSpPr/>
          <p:nvPr/>
        </p:nvSpPr>
        <p:spPr>
          <a:xfrm>
            <a:off x="9601200" y="5458968"/>
            <a:ext cx="1005840" cy="274320"/>
          </a:xfrm>
          <a:prstGeom prst="roundRect">
            <a:avLst>
              <a:gd name="adj" fmla="val 50000"/>
            </a:avLst>
          </a:prstGeom>
          <a:solidFill>
            <a:srgbClr val="1F3B66"/>
          </a:solidFill>
          <a:ln w="12700">
            <a:solidFill>
              <a:srgbClr val="1F3B66"/>
            </a:solidFill>
            <a:prstDash val="solid"/>
          </a:ln>
        </p:spPr>
      </p:sp>
      <p:sp>
        <p:nvSpPr>
          <p:cNvPr id="44" name="Text 41"/>
          <p:cNvSpPr txBox="1"/>
          <p:nvPr/>
        </p:nvSpPr>
        <p:spPr>
          <a:xfrm>
            <a:off x="9601200" y="5458968"/>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rPr>
              <a:t>E6</a:t>
            </a:r>
            <a:endParaRPr lang="en-US" sz="1000" dirty="0"/>
          </a:p>
        </p:txBody>
      </p:sp>
      <p:sp>
        <p:nvSpPr>
          <p:cNvPr id="45" name="Text 42"/>
          <p:cNvSpPr txBox="1"/>
          <p:nvPr/>
        </p:nvSpPr>
        <p:spPr>
          <a:xfrm>
            <a:off x="2926080" y="5989320"/>
            <a:ext cx="7680960" cy="274320"/>
          </a:xfrm>
          <a:prstGeom prst="rect">
            <a:avLst/>
          </a:prstGeom>
          <a:noFill/>
          <a:ln/>
        </p:spPr>
        <p:txBody>
          <a:bodyPr wrap="square" lIns="0" tIns="0" rIns="0" bIns="0" rtlCol="0" anchor="ctr"/>
          <a:lstStyle/>
          <a:p>
            <a:pPr indent="0" marL="0">
              <a:buNone/>
            </a:pPr>
            <a:r>
              <a:rPr lang="en-US" sz="1000" i="1" dirty="0">
                <a:solidFill>
                  <a:srgbClr val="5A5A5A"/>
                </a:solidFill>
              </a:rPr>
              <a:t>E1–E6: entregables de la pregunta 3 que cubre cada sección.</a:t>
            </a:r>
            <a:endParaRPr lang="en-US" sz="100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El problema</a:t>
            </a:r>
            <a:endParaRPr lang="en-US" sz="2700" dirty="0"/>
          </a:p>
        </p:txBody>
      </p:sp>
      <p:sp>
        <p:nvSpPr>
          <p:cNvPr id="3" name="Text 1"/>
          <p:cNvSpPr txBox="1"/>
          <p:nvPr/>
        </p:nvSpPr>
        <p:spPr>
          <a:xfrm>
            <a:off x="548640" y="1033272"/>
            <a:ext cx="11091672" cy="384048"/>
          </a:xfrm>
          <a:prstGeom prst="rect">
            <a:avLst/>
          </a:prstGeom>
          <a:noFill/>
          <a:ln/>
        </p:spPr>
        <p:txBody>
          <a:bodyPr wrap="square" rtlCol="0" anchor="ctr"/>
          <a:lstStyle/>
          <a:p>
            <a:pPr algn="ctr" indent="0" marL="0">
              <a:buNone/>
            </a:pPr>
            <a:r>
              <a:rPr lang="en-US" sz="1700" b="1" dirty="0">
                <a:solidFill>
                  <a:srgbClr val="7A1518"/>
                </a:solidFill>
                <a:latin typeface="Cambria" pitchFamily="34" charset="0"/>
                <a:ea typeface="Cambria" pitchFamily="34" charset="-122"/>
                <a:cs typeface="Cambria" pitchFamily="34" charset="-120"/>
              </a:rPr>
              <a:t>Una cámara trampa dispara por movimiento: miles de fotos que alguien tiene que revisar</a:t>
            </a:r>
            <a:endParaRPr lang="en-US" sz="1700" dirty="0"/>
          </a:p>
        </p:txBody>
      </p:sp>
      <p:pic>
        <p:nvPicPr>
          <p:cNvPr id="5" name="Image 0" descr="C:\Users\derla\AppData\Local\Temp\claude\C--Users-derla-Documents-maestria-RNC\a18331b0-62b1-40c0-8bf2-8626c603f7b5\scratchpad\ppt\img\59b12e4e.jpg">    </p:cNvPr>
          <p:cNvPicPr>
            <a:picLocks noChangeAspect="1"/>
          </p:cNvPicPr>
          <p:nvPr/>
        </p:nvPicPr>
        <p:blipFill>
          <a:blip r:embed="rId1"/>
          <a:stretch>
            <a:fillRect/>
          </a:stretch>
        </p:blipFill>
        <p:spPr>
          <a:xfrm>
            <a:off x="548640" y="1691640"/>
            <a:ext cx="3291840" cy="2404872"/>
          </a:xfrm>
          <a:prstGeom prst="rect">
            <a:avLst/>
          </a:prstGeom>
        </p:spPr>
      </p:pic>
      <p:pic>
        <p:nvPicPr>
          <p:cNvPr id="6" name="Image 1" descr="C:\Users\derla\AppData\Local\Temp\claude\C--Users-derla-Documents-maestria-RNC\a18331b0-62b1-40c0-8bf2-8626c603f7b5\scratchpad\ppt\img\5995acfc.jpg">    </p:cNvPr>
          <p:cNvPicPr>
            <a:picLocks noChangeAspect="1"/>
          </p:cNvPicPr>
          <p:nvPr/>
        </p:nvPicPr>
        <p:blipFill>
          <a:blip r:embed="rId2"/>
          <a:stretch>
            <a:fillRect/>
          </a:stretch>
        </p:blipFill>
        <p:spPr>
          <a:xfrm>
            <a:off x="4023360" y="1691640"/>
            <a:ext cx="3291840" cy="2404872"/>
          </a:xfrm>
          <a:prstGeom prst="rect">
            <a:avLst/>
          </a:prstGeom>
        </p:spPr>
      </p:pic>
      <p:sp>
        <p:nvSpPr>
          <p:cNvPr id="7" name="Text 2"/>
          <p:cNvSpPr txBox="1"/>
          <p:nvPr/>
        </p:nvSpPr>
        <p:spPr>
          <a:xfrm>
            <a:off x="548640" y="4160520"/>
            <a:ext cx="6766560" cy="457200"/>
          </a:xfrm>
          <a:prstGeom prst="rect">
            <a:avLst/>
          </a:prstGeom>
          <a:noFill/>
          <a:ln/>
        </p:spPr>
        <p:txBody>
          <a:bodyPr wrap="square" lIns="0" tIns="0" rIns="0" bIns="0" rtlCol="0" anchor="ctr"/>
          <a:lstStyle/>
          <a:p>
            <a:pPr indent="0" marL="0">
              <a:buNone/>
            </a:pPr>
            <a:r>
              <a:rPr lang="en-US" sz="1100" i="1" dirty="0">
                <a:solidFill>
                  <a:srgbClr val="5A5A5A"/>
                </a:solidFill>
              </a:rPr>
              <a:t>Conejo entre la vegetación (cámara 51) y gato entre sombras que el modelo no detectó (cámara 38): el animal suele ocupar una fracción pequeña de la imagen.</a:t>
            </a:r>
            <a:endParaRPr lang="en-US" sz="1100" dirty="0"/>
          </a:p>
        </p:txBody>
      </p:sp>
      <p:sp>
        <p:nvSpPr>
          <p:cNvPr id="8" name="Shape 3"/>
          <p:cNvSpPr/>
          <p:nvPr/>
        </p:nvSpPr>
        <p:spPr>
          <a:xfrm>
            <a:off x="548640" y="4754880"/>
            <a:ext cx="3291840" cy="1371600"/>
          </a:xfrm>
          <a:prstGeom prst="roundRect">
            <a:avLst>
              <a:gd name="adj" fmla="val 5333"/>
            </a:avLst>
          </a:prstGeom>
          <a:solidFill>
            <a:srgbClr val="F3F4F6"/>
          </a:solidFill>
          <a:ln w="9525">
            <a:solidFill>
              <a:srgbClr val="D9D9D9"/>
            </a:solidFill>
            <a:prstDash val="solid"/>
          </a:ln>
        </p:spPr>
      </p:sp>
      <p:sp>
        <p:nvSpPr>
          <p:cNvPr id="9" name="Text 4"/>
          <p:cNvSpPr txBox="1"/>
          <p:nvPr/>
        </p:nvSpPr>
        <p:spPr>
          <a:xfrm>
            <a:off x="731520" y="4864608"/>
            <a:ext cx="2926080" cy="1152144"/>
          </a:xfrm>
          <a:prstGeom prst="rect">
            <a:avLst/>
          </a:prstGeom>
          <a:noFill/>
          <a:ln/>
        </p:spPr>
        <p:txBody>
          <a:bodyPr wrap="square" lIns="0" tIns="0" rIns="0" bIns="0" rtlCol="0" anchor="t"/>
          <a:lstStyle/>
          <a:p>
            <a:pPr indent="0" marL="0">
              <a:spcAft>
                <a:spcPts val="400"/>
              </a:spcAft>
              <a:buNone/>
            </a:pPr>
            <a:r>
              <a:rPr lang="en-US" sz="1300" b="1" dirty="0">
                <a:solidFill>
                  <a:srgbClr val="7A1518"/>
                </a:solidFill>
              </a:rPr>
              <a:t>Volumen</a:t>
            </a:r>
            <a:endParaRPr lang="en-US" sz="1300" dirty="0"/>
          </a:p>
          <a:p>
            <a:pPr indent="0" marL="0">
              <a:spcAft>
                <a:spcPts val="400"/>
              </a:spcAft>
              <a:buNone/>
            </a:pPr>
            <a:r>
              <a:rPr lang="en-US" sz="1200" dirty="0">
                <a:solidFill>
                  <a:srgbClr val="222222"/>
                </a:solidFill>
              </a:rPr>
              <a:t>Cientos de miles de fotos por temporada; una gran parte sin animal (viento, sombras, luz).</a:t>
            </a:r>
            <a:endParaRPr lang="en-US" sz="1300" dirty="0"/>
          </a:p>
        </p:txBody>
      </p:sp>
      <p:sp>
        <p:nvSpPr>
          <p:cNvPr id="10" name="Shape 5"/>
          <p:cNvSpPr/>
          <p:nvPr/>
        </p:nvSpPr>
        <p:spPr>
          <a:xfrm>
            <a:off x="4023360" y="4754880"/>
            <a:ext cx="3291840" cy="1371600"/>
          </a:xfrm>
          <a:prstGeom prst="roundRect">
            <a:avLst>
              <a:gd name="adj" fmla="val 5333"/>
            </a:avLst>
          </a:prstGeom>
          <a:solidFill>
            <a:srgbClr val="F3F4F6"/>
          </a:solidFill>
          <a:ln w="9525">
            <a:solidFill>
              <a:srgbClr val="D9D9D9"/>
            </a:solidFill>
            <a:prstDash val="solid"/>
          </a:ln>
        </p:spPr>
      </p:sp>
      <p:sp>
        <p:nvSpPr>
          <p:cNvPr id="11" name="Text 6"/>
          <p:cNvSpPr txBox="1"/>
          <p:nvPr/>
        </p:nvSpPr>
        <p:spPr>
          <a:xfrm>
            <a:off x="4206240" y="4864608"/>
            <a:ext cx="2926080" cy="1152144"/>
          </a:xfrm>
          <a:prstGeom prst="rect">
            <a:avLst/>
          </a:prstGeom>
          <a:noFill/>
          <a:ln/>
        </p:spPr>
        <p:txBody>
          <a:bodyPr wrap="square" lIns="0" tIns="0" rIns="0" bIns="0" rtlCol="0" anchor="t"/>
          <a:lstStyle/>
          <a:p>
            <a:pPr indent="0" marL="0">
              <a:spcAft>
                <a:spcPts val="400"/>
              </a:spcAft>
              <a:buNone/>
            </a:pPr>
            <a:r>
              <a:rPr lang="en-US" sz="1300" b="1" dirty="0">
                <a:solidFill>
                  <a:srgbClr val="7A1518"/>
                </a:solidFill>
              </a:rPr>
              <a:t>Condiciones difíciles</a:t>
            </a:r>
            <a:endParaRPr lang="en-US" sz="1300" dirty="0"/>
          </a:p>
          <a:p>
            <a:pPr indent="0" marL="0">
              <a:spcAft>
                <a:spcPts val="400"/>
              </a:spcAft>
              <a:buNone/>
            </a:pPr>
            <a:r>
              <a:rPr lang="en-US" sz="1200" dirty="0">
                <a:solidFill>
                  <a:srgbClr val="222222"/>
                </a:solidFill>
              </a:rPr>
              <a:t>55–72 % de fotos nocturnas en gris; animales pequeños, cortados o tapados.</a:t>
            </a:r>
            <a:endParaRPr lang="en-US" sz="1300" dirty="0"/>
          </a:p>
        </p:txBody>
      </p:sp>
      <p:sp>
        <p:nvSpPr>
          <p:cNvPr id="12" name="Shape 7"/>
          <p:cNvSpPr/>
          <p:nvPr/>
        </p:nvSpPr>
        <p:spPr>
          <a:xfrm>
            <a:off x="7680960" y="1691640"/>
            <a:ext cx="3959352" cy="2286000"/>
          </a:xfrm>
          <a:prstGeom prst="roundRect">
            <a:avLst>
              <a:gd name="adj" fmla="val 3200"/>
            </a:avLst>
          </a:prstGeom>
          <a:solidFill>
            <a:srgbClr val="E2EFDA"/>
          </a:solidFill>
          <a:ln w="9525">
            <a:solidFill>
              <a:srgbClr val="8FBF7F"/>
            </a:solidFill>
            <a:prstDash val="solid"/>
          </a:ln>
        </p:spPr>
      </p:sp>
      <p:sp>
        <p:nvSpPr>
          <p:cNvPr id="13" name="Text 8"/>
          <p:cNvSpPr txBox="1"/>
          <p:nvPr/>
        </p:nvSpPr>
        <p:spPr>
          <a:xfrm>
            <a:off x="7863840" y="1801368"/>
            <a:ext cx="3593592" cy="2066544"/>
          </a:xfrm>
          <a:prstGeom prst="rect">
            <a:avLst/>
          </a:prstGeom>
          <a:noFill/>
          <a:ln/>
        </p:spPr>
        <p:txBody>
          <a:bodyPr wrap="square" lIns="0" tIns="0" rIns="0" bIns="0" rtlCol="0" anchor="t"/>
          <a:lstStyle/>
          <a:p>
            <a:pPr indent="0" marL="0">
              <a:spcAft>
                <a:spcPts val="400"/>
              </a:spcAft>
              <a:buNone/>
            </a:pPr>
            <a:r>
              <a:rPr lang="en-US" sz="1500" b="1" dirty="0">
                <a:solidFill>
                  <a:srgbClr val="2E7D32"/>
                </a:solidFill>
              </a:rPr>
              <a:t>Objetivo</a:t>
            </a:r>
            <a:endParaRPr lang="en-US" sz="1500" dirty="0"/>
          </a:p>
          <a:p>
            <a:pPr indent="0" marL="0">
              <a:spcAft>
                <a:spcPts val="400"/>
              </a:spcAft>
              <a:buNone/>
            </a:pPr>
            <a:r>
              <a:rPr lang="en-US" sz="1400" dirty="0">
                <a:solidFill>
                  <a:srgbClr val="222222"/>
                </a:solidFill>
              </a:rPr>
              <a:t>Ajustar YOLO para detectar y clasificar 14 especies, y convertir sus detecciones en información útil para un equipo de manejo de fauna.</a:t>
            </a:r>
            <a:endParaRPr lang="en-US" sz="1500" dirty="0"/>
          </a:p>
        </p:txBody>
      </p:sp>
      <p:sp>
        <p:nvSpPr>
          <p:cNvPr id="14" name="Shape 9"/>
          <p:cNvSpPr/>
          <p:nvPr/>
        </p:nvSpPr>
        <p:spPr>
          <a:xfrm>
            <a:off x="7680960" y="4160520"/>
            <a:ext cx="3959352" cy="1965960"/>
          </a:xfrm>
          <a:prstGeom prst="roundRect">
            <a:avLst>
              <a:gd name="adj" fmla="val 3721"/>
            </a:avLst>
          </a:prstGeom>
          <a:solidFill>
            <a:srgbClr val="FFF1D6"/>
          </a:solidFill>
          <a:ln w="9525">
            <a:solidFill>
              <a:srgbClr val="E5B567"/>
            </a:solidFill>
            <a:prstDash val="solid"/>
          </a:ln>
        </p:spPr>
      </p:sp>
      <p:sp>
        <p:nvSpPr>
          <p:cNvPr id="15" name="Text 10"/>
          <p:cNvSpPr txBox="1"/>
          <p:nvPr/>
        </p:nvSpPr>
        <p:spPr>
          <a:xfrm>
            <a:off x="7863840" y="4270248"/>
            <a:ext cx="3593592" cy="1746504"/>
          </a:xfrm>
          <a:prstGeom prst="rect">
            <a:avLst/>
          </a:prstGeom>
          <a:noFill/>
          <a:ln/>
        </p:spPr>
        <p:txBody>
          <a:bodyPr wrap="square" lIns="0" tIns="0" rIns="0" bIns="0" rtlCol="0" anchor="t"/>
          <a:lstStyle/>
          <a:p>
            <a:pPr indent="0" marL="0">
              <a:spcAft>
                <a:spcPts val="400"/>
              </a:spcAft>
              <a:buNone/>
            </a:pPr>
            <a:r>
              <a:rPr lang="en-US" sz="1500" b="1" dirty="0">
                <a:solidFill>
                  <a:srgbClr val="B26A00"/>
                </a:solidFill>
              </a:rPr>
              <a:t>Pregunta clave</a:t>
            </a:r>
            <a:endParaRPr lang="en-US" sz="1500" dirty="0"/>
          </a:p>
          <a:p>
            <a:pPr indent="0" marL="0">
              <a:spcAft>
                <a:spcPts val="400"/>
              </a:spcAft>
              <a:buNone/>
            </a:pPr>
            <a:r>
              <a:rPr lang="en-US" sz="1400" dirty="0">
                <a:solidFill>
                  <a:srgbClr val="222222"/>
                </a:solidFill>
              </a:rPr>
              <a:t>¿El detector funciona en una cámara que nunca vio, o solo aprendió el fondo de las cámaras de entrenamiento?</a:t>
            </a:r>
            <a:endParaRPr lang="en-US" sz="150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Datos: CCT-20</a:t>
            </a:r>
            <a:endParaRPr lang="en-US" sz="2700" dirty="0"/>
          </a:p>
        </p:txBody>
      </p:sp>
      <p:sp>
        <p:nvSpPr>
          <p:cNvPr id="3" name="Text 1"/>
          <p:cNvSpPr txBox="1"/>
          <p:nvPr/>
        </p:nvSpPr>
        <p:spPr>
          <a:xfrm>
            <a:off x="548640" y="1033272"/>
            <a:ext cx="11091672" cy="384048"/>
          </a:xfrm>
          <a:prstGeom prst="rect">
            <a:avLst/>
          </a:prstGeom>
          <a:noFill/>
          <a:ln/>
        </p:spPr>
        <p:txBody>
          <a:bodyPr wrap="square" rtlCol="0" anchor="ctr"/>
          <a:lstStyle/>
          <a:p>
            <a:pPr algn="ctr" indent="0" marL="0">
              <a:buNone/>
            </a:pPr>
            <a:r>
              <a:rPr lang="en-US" sz="1700" b="1" dirty="0">
                <a:solidFill>
                  <a:srgbClr val="7A1518"/>
                </a:solidFill>
                <a:latin typeface="Cambria" pitchFamily="34" charset="0"/>
                <a:ea typeface="Cambria" pitchFamily="34" charset="-122"/>
                <a:cs typeface="Cambria" pitchFamily="34" charset="-120"/>
              </a:rPr>
              <a:t>57 864 fotos de 20 cámaras y un desbalance extremo entre especies</a:t>
            </a:r>
            <a:endParaRPr lang="en-US" sz="1700" dirty="0"/>
          </a:p>
        </p:txBody>
      </p:sp>
      <p:sp>
        <p:nvSpPr>
          <p:cNvPr id="5" name="Shape 2"/>
          <p:cNvSpPr/>
          <p:nvPr/>
        </p:nvSpPr>
        <p:spPr>
          <a:xfrm>
            <a:off x="548640" y="1645920"/>
            <a:ext cx="2377440" cy="1325880"/>
          </a:xfrm>
          <a:prstGeom prst="roundRect">
            <a:avLst>
              <a:gd name="adj" fmla="val 5517"/>
            </a:avLst>
          </a:prstGeom>
          <a:solidFill>
            <a:srgbClr val="F3F4F6"/>
          </a:solidFill>
          <a:ln w="9525">
            <a:solidFill>
              <a:srgbClr val="D9D9D9"/>
            </a:solidFill>
            <a:prstDash val="solid"/>
          </a:ln>
        </p:spPr>
      </p:sp>
      <p:sp>
        <p:nvSpPr>
          <p:cNvPr id="6" name="Text 3"/>
          <p:cNvSpPr txBox="1"/>
          <p:nvPr/>
        </p:nvSpPr>
        <p:spPr>
          <a:xfrm>
            <a:off x="548640" y="1755648"/>
            <a:ext cx="2377440" cy="689458"/>
          </a:xfrm>
          <a:prstGeom prst="rect">
            <a:avLst/>
          </a:prstGeom>
          <a:noFill/>
          <a:ln/>
        </p:spPr>
        <p:txBody>
          <a:bodyPr wrap="square" lIns="0" tIns="0" rIns="0" bIns="0" rtlCol="0" anchor="ctr"/>
          <a:lstStyle/>
          <a:p>
            <a:pPr algn="ctr" indent="0" marL="0">
              <a:buNone/>
            </a:pPr>
            <a:r>
              <a:rPr lang="en-US" sz="3200" b="1" dirty="0">
                <a:solidFill>
                  <a:srgbClr val="222222"/>
                </a:solidFill>
              </a:rPr>
              <a:t>57 864</a:t>
            </a:r>
            <a:endParaRPr lang="en-US" sz="3200" dirty="0"/>
          </a:p>
        </p:txBody>
      </p:sp>
      <p:sp>
        <p:nvSpPr>
          <p:cNvPr id="7" name="Text 4"/>
          <p:cNvSpPr txBox="1"/>
          <p:nvPr/>
        </p:nvSpPr>
        <p:spPr>
          <a:xfrm>
            <a:off x="685800" y="2441448"/>
            <a:ext cx="2103120" cy="477317"/>
          </a:xfrm>
          <a:prstGeom prst="rect">
            <a:avLst/>
          </a:prstGeom>
          <a:noFill/>
          <a:ln/>
        </p:spPr>
        <p:txBody>
          <a:bodyPr wrap="square" lIns="0" tIns="0" rIns="0" bIns="0" rtlCol="0" anchor="t"/>
          <a:lstStyle/>
          <a:p>
            <a:pPr algn="ctr" indent="0" marL="0">
              <a:buNone/>
            </a:pPr>
            <a:r>
              <a:rPr lang="en-US" sz="1150" dirty="0">
                <a:solidFill>
                  <a:srgbClr val="5A5A5A"/>
                </a:solidFill>
              </a:rPr>
              <a:t>fotos (versión reducida, 1024 px)</a:t>
            </a:r>
            <a:endParaRPr lang="en-US" sz="1150" dirty="0"/>
          </a:p>
        </p:txBody>
      </p:sp>
      <p:sp>
        <p:nvSpPr>
          <p:cNvPr id="8" name="Shape 5"/>
          <p:cNvSpPr/>
          <p:nvPr/>
        </p:nvSpPr>
        <p:spPr>
          <a:xfrm>
            <a:off x="3108960" y="1645920"/>
            <a:ext cx="2377440" cy="1325880"/>
          </a:xfrm>
          <a:prstGeom prst="roundRect">
            <a:avLst>
              <a:gd name="adj" fmla="val 5517"/>
            </a:avLst>
          </a:prstGeom>
          <a:solidFill>
            <a:srgbClr val="F3F4F6"/>
          </a:solidFill>
          <a:ln w="9525">
            <a:solidFill>
              <a:srgbClr val="D9D9D9"/>
            </a:solidFill>
            <a:prstDash val="solid"/>
          </a:ln>
        </p:spPr>
      </p:sp>
      <p:sp>
        <p:nvSpPr>
          <p:cNvPr id="9" name="Text 6"/>
          <p:cNvSpPr txBox="1"/>
          <p:nvPr/>
        </p:nvSpPr>
        <p:spPr>
          <a:xfrm>
            <a:off x="3108960" y="1755648"/>
            <a:ext cx="2377440" cy="689458"/>
          </a:xfrm>
          <a:prstGeom prst="rect">
            <a:avLst/>
          </a:prstGeom>
          <a:noFill/>
          <a:ln/>
        </p:spPr>
        <p:txBody>
          <a:bodyPr wrap="square" lIns="0" tIns="0" rIns="0" bIns="0" rtlCol="0" anchor="ctr"/>
          <a:lstStyle/>
          <a:p>
            <a:pPr algn="ctr" indent="0" marL="0">
              <a:buNone/>
            </a:pPr>
            <a:r>
              <a:rPr lang="en-US" sz="3200" b="1" dirty="0">
                <a:solidFill>
                  <a:srgbClr val="222222"/>
                </a:solidFill>
              </a:rPr>
              <a:t>20</a:t>
            </a:r>
            <a:endParaRPr lang="en-US" sz="3200" dirty="0"/>
          </a:p>
        </p:txBody>
      </p:sp>
      <p:sp>
        <p:nvSpPr>
          <p:cNvPr id="10" name="Text 7"/>
          <p:cNvSpPr txBox="1"/>
          <p:nvPr/>
        </p:nvSpPr>
        <p:spPr>
          <a:xfrm>
            <a:off x="3246120" y="2441448"/>
            <a:ext cx="2103120" cy="477317"/>
          </a:xfrm>
          <a:prstGeom prst="rect">
            <a:avLst/>
          </a:prstGeom>
          <a:noFill/>
          <a:ln/>
        </p:spPr>
        <p:txBody>
          <a:bodyPr wrap="square" lIns="0" tIns="0" rIns="0" bIns="0" rtlCol="0" anchor="t"/>
          <a:lstStyle/>
          <a:p>
            <a:pPr algn="ctr" indent="0" marL="0">
              <a:buNone/>
            </a:pPr>
            <a:r>
              <a:rPr lang="en-US" sz="1150" dirty="0">
                <a:solidFill>
                  <a:srgbClr val="5A5A5A"/>
                </a:solidFill>
              </a:rPr>
              <a:t>cámaras en 5 splits</a:t>
            </a:r>
            <a:endParaRPr lang="en-US" sz="1150" dirty="0"/>
          </a:p>
        </p:txBody>
      </p:sp>
      <p:sp>
        <p:nvSpPr>
          <p:cNvPr id="11" name="Shape 8"/>
          <p:cNvSpPr/>
          <p:nvPr/>
        </p:nvSpPr>
        <p:spPr>
          <a:xfrm>
            <a:off x="548640" y="3154680"/>
            <a:ext cx="2377440" cy="1325880"/>
          </a:xfrm>
          <a:prstGeom prst="roundRect">
            <a:avLst>
              <a:gd name="adj" fmla="val 5517"/>
            </a:avLst>
          </a:prstGeom>
          <a:solidFill>
            <a:srgbClr val="F3F4F6"/>
          </a:solidFill>
          <a:ln w="9525">
            <a:solidFill>
              <a:srgbClr val="D9D9D9"/>
            </a:solidFill>
            <a:prstDash val="solid"/>
          </a:ln>
        </p:spPr>
      </p:sp>
      <p:sp>
        <p:nvSpPr>
          <p:cNvPr id="12" name="Text 9"/>
          <p:cNvSpPr txBox="1"/>
          <p:nvPr/>
        </p:nvSpPr>
        <p:spPr>
          <a:xfrm>
            <a:off x="548640" y="3264408"/>
            <a:ext cx="2377440" cy="689458"/>
          </a:xfrm>
          <a:prstGeom prst="rect">
            <a:avLst/>
          </a:prstGeom>
          <a:noFill/>
          <a:ln/>
        </p:spPr>
        <p:txBody>
          <a:bodyPr wrap="square" lIns="0" tIns="0" rIns="0" bIns="0" rtlCol="0" anchor="ctr"/>
          <a:lstStyle/>
          <a:p>
            <a:pPr algn="ctr" indent="0" marL="0">
              <a:buNone/>
            </a:pPr>
            <a:r>
              <a:rPr lang="en-US" sz="3200" b="1" dirty="0">
                <a:solidFill>
                  <a:srgbClr val="222222"/>
                </a:solidFill>
              </a:rPr>
              <a:t>14</a:t>
            </a:r>
            <a:endParaRPr lang="en-US" sz="3200" dirty="0"/>
          </a:p>
        </p:txBody>
      </p:sp>
      <p:sp>
        <p:nvSpPr>
          <p:cNvPr id="13" name="Text 10"/>
          <p:cNvSpPr txBox="1"/>
          <p:nvPr/>
        </p:nvSpPr>
        <p:spPr>
          <a:xfrm>
            <a:off x="685800" y="3950208"/>
            <a:ext cx="2103120" cy="477317"/>
          </a:xfrm>
          <a:prstGeom prst="rect">
            <a:avLst/>
          </a:prstGeom>
          <a:noFill/>
          <a:ln/>
        </p:spPr>
        <p:txBody>
          <a:bodyPr wrap="square" lIns="0" tIns="0" rIns="0" bIns="0" rtlCol="0" anchor="t"/>
          <a:lstStyle/>
          <a:p>
            <a:pPr algn="ctr" indent="0" marL="0">
              <a:buNone/>
            </a:pPr>
            <a:r>
              <a:rPr lang="en-US" sz="1150" dirty="0">
                <a:solidFill>
                  <a:srgbClr val="5A5A5A"/>
                </a:solidFill>
              </a:rPr>
              <a:t>especies (+ car y empty)</a:t>
            </a:r>
            <a:endParaRPr lang="en-US" sz="1150" dirty="0"/>
          </a:p>
        </p:txBody>
      </p:sp>
      <p:sp>
        <p:nvSpPr>
          <p:cNvPr id="14" name="Shape 11"/>
          <p:cNvSpPr/>
          <p:nvPr/>
        </p:nvSpPr>
        <p:spPr>
          <a:xfrm>
            <a:off x="3108960" y="3154680"/>
            <a:ext cx="2377440" cy="1325880"/>
          </a:xfrm>
          <a:prstGeom prst="roundRect">
            <a:avLst>
              <a:gd name="adj" fmla="val 5517"/>
            </a:avLst>
          </a:prstGeom>
          <a:solidFill>
            <a:srgbClr val="F3F4F6"/>
          </a:solidFill>
          <a:ln w="9525">
            <a:solidFill>
              <a:srgbClr val="D9D9D9"/>
            </a:solidFill>
            <a:prstDash val="solid"/>
          </a:ln>
        </p:spPr>
      </p:sp>
      <p:sp>
        <p:nvSpPr>
          <p:cNvPr id="15" name="Text 12"/>
          <p:cNvSpPr txBox="1"/>
          <p:nvPr/>
        </p:nvSpPr>
        <p:spPr>
          <a:xfrm>
            <a:off x="3108960" y="3264408"/>
            <a:ext cx="2377440" cy="689458"/>
          </a:xfrm>
          <a:prstGeom prst="rect">
            <a:avLst/>
          </a:prstGeom>
          <a:noFill/>
          <a:ln/>
        </p:spPr>
        <p:txBody>
          <a:bodyPr wrap="square" lIns="0" tIns="0" rIns="0" bIns="0" rtlCol="0" anchor="ctr"/>
          <a:lstStyle/>
          <a:p>
            <a:pPr algn="ctr" indent="0" marL="0">
              <a:buNone/>
            </a:pPr>
            <a:r>
              <a:rPr lang="en-US" sz="3200" b="1" dirty="0">
                <a:solidFill>
                  <a:srgbClr val="222222"/>
                </a:solidFill>
              </a:rPr>
              <a:t>55–72 %</a:t>
            </a:r>
            <a:endParaRPr lang="en-US" sz="3200" dirty="0"/>
          </a:p>
        </p:txBody>
      </p:sp>
      <p:sp>
        <p:nvSpPr>
          <p:cNvPr id="16" name="Text 13"/>
          <p:cNvSpPr txBox="1"/>
          <p:nvPr/>
        </p:nvSpPr>
        <p:spPr>
          <a:xfrm>
            <a:off x="3246120" y="3950208"/>
            <a:ext cx="2103120" cy="477317"/>
          </a:xfrm>
          <a:prstGeom prst="rect">
            <a:avLst/>
          </a:prstGeom>
          <a:noFill/>
          <a:ln/>
        </p:spPr>
        <p:txBody>
          <a:bodyPr wrap="square" lIns="0" tIns="0" rIns="0" bIns="0" rtlCol="0" anchor="t"/>
          <a:lstStyle/>
          <a:p>
            <a:pPr algn="ctr" indent="0" marL="0">
              <a:buNone/>
            </a:pPr>
            <a:r>
              <a:rPr lang="en-US" sz="1150" dirty="0">
                <a:solidFill>
                  <a:srgbClr val="5A5A5A"/>
                </a:solidFill>
              </a:rPr>
              <a:t>fotos nocturnas (IR)</a:t>
            </a:r>
            <a:endParaRPr lang="en-US" sz="1150" dirty="0"/>
          </a:p>
        </p:txBody>
      </p:sp>
      <p:sp>
        <p:nvSpPr>
          <p:cNvPr id="17" name="Shape 14"/>
          <p:cNvSpPr/>
          <p:nvPr/>
        </p:nvSpPr>
        <p:spPr>
          <a:xfrm>
            <a:off x="548640" y="4663440"/>
            <a:ext cx="4937760" cy="1463040"/>
          </a:xfrm>
          <a:prstGeom prst="roundRect">
            <a:avLst>
              <a:gd name="adj" fmla="val 5000"/>
            </a:avLst>
          </a:prstGeom>
          <a:solidFill>
            <a:srgbClr val="F6E4E4"/>
          </a:solidFill>
          <a:ln w="9525">
            <a:solidFill>
              <a:srgbClr val="F2B8B8"/>
            </a:solidFill>
            <a:prstDash val="solid"/>
          </a:ln>
        </p:spPr>
      </p:sp>
      <p:sp>
        <p:nvSpPr>
          <p:cNvPr id="18" name="Text 15"/>
          <p:cNvSpPr txBox="1"/>
          <p:nvPr/>
        </p:nvSpPr>
        <p:spPr>
          <a:xfrm>
            <a:off x="731520" y="4773168"/>
            <a:ext cx="4572000" cy="1243584"/>
          </a:xfrm>
          <a:prstGeom prst="rect">
            <a:avLst/>
          </a:prstGeom>
          <a:noFill/>
          <a:ln/>
        </p:spPr>
        <p:txBody>
          <a:bodyPr wrap="square" lIns="0" tIns="0" rIns="0" bIns="0" rtlCol="0" anchor="t"/>
          <a:lstStyle/>
          <a:p>
            <a:pPr indent="0" marL="0">
              <a:spcAft>
                <a:spcPts val="400"/>
              </a:spcAft>
              <a:buNone/>
            </a:pPr>
            <a:r>
              <a:rPr lang="en-US" sz="1300" b="1" dirty="0">
                <a:solidFill>
                  <a:srgbClr val="7A1518"/>
                </a:solidFill>
              </a:rPr>
              <a:t>0 vacías en train</a:t>
            </a:r>
            <a:endParaRPr lang="en-US" sz="1300" dirty="0"/>
          </a:p>
          <a:p>
            <a:pPr indent="0" marL="0">
              <a:spcAft>
                <a:spcPts val="400"/>
              </a:spcAft>
              <a:buNone/>
            </a:pPr>
            <a:r>
              <a:rPr lang="en-US" sz="1200" dirty="0">
                <a:solidFill>
                  <a:srgbClr val="222222"/>
                </a:solidFill>
              </a:rPr>
              <a:t>El split de entrenamiento no tiene ninguna foto vacía, aunque en test son el 7–8 %. El modelo nunca vería un fondo sin animal.</a:t>
            </a:r>
            <a:endParaRPr lang="en-US" sz="1300" dirty="0"/>
          </a:p>
        </p:txBody>
      </p:sp>
      <p:graphicFrame>
        <p:nvGraphicFramePr>
          <p:cNvPr id="19" name="Chart 0" descr=""/>
          <p:cNvGraphicFramePr/>
          <p:nvPr/>
        </p:nvGraphicFramePr>
        <p:xfrm>
          <a:off x="5852160" y="1554480"/>
          <a:ext cx="5852160" cy="46177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Datos: cis y trans</a:t>
            </a:r>
            <a:endParaRPr lang="en-US" sz="2700" dirty="0"/>
          </a:p>
        </p:txBody>
      </p:sp>
      <p:sp>
        <p:nvSpPr>
          <p:cNvPr id="3" name="Text 1"/>
          <p:cNvSpPr txBox="1"/>
          <p:nvPr/>
        </p:nvSpPr>
        <p:spPr>
          <a:xfrm>
            <a:off x="548640" y="1033272"/>
            <a:ext cx="11091672" cy="384048"/>
          </a:xfrm>
          <a:prstGeom prst="rect">
            <a:avLst/>
          </a:prstGeom>
          <a:noFill/>
          <a:ln/>
        </p:spPr>
        <p:txBody>
          <a:bodyPr wrap="square" rtlCol="0" anchor="ctr"/>
          <a:lstStyle/>
          <a:p>
            <a:pPr algn="ctr" indent="0" marL="0">
              <a:buNone/>
            </a:pPr>
            <a:r>
              <a:rPr lang="en-US" sz="1700" b="1" dirty="0">
                <a:solidFill>
                  <a:srgbClr val="7A1518"/>
                </a:solidFill>
                <a:latin typeface="Cambria" pitchFamily="34" charset="0"/>
                <a:ea typeface="Cambria" pitchFamily="34" charset="-122"/>
                <a:cs typeface="Cambria" pitchFamily="34" charset="-120"/>
              </a:rPr>
              <a:t>Los splits separan cámaras: así se mide si el modelo generaliza a una ubicación nueva</a:t>
            </a:r>
            <a:endParaRPr lang="en-US" sz="1700" dirty="0"/>
          </a:p>
        </p:txBody>
      </p:sp>
      <p:sp>
        <p:nvSpPr>
          <p:cNvPr id="5" name="Shape 2"/>
          <p:cNvSpPr/>
          <p:nvPr/>
        </p:nvSpPr>
        <p:spPr>
          <a:xfrm>
            <a:off x="548640" y="1645920"/>
            <a:ext cx="5486400" cy="3017520"/>
          </a:xfrm>
          <a:prstGeom prst="roundRect">
            <a:avLst>
              <a:gd name="adj" fmla="val 2424"/>
            </a:avLst>
          </a:prstGeom>
          <a:solidFill>
            <a:srgbClr val="E2EFDA"/>
          </a:solidFill>
          <a:ln w="9525">
            <a:solidFill>
              <a:srgbClr val="8FBF7F"/>
            </a:solidFill>
            <a:prstDash val="solid"/>
          </a:ln>
        </p:spPr>
      </p:sp>
      <p:sp>
        <p:nvSpPr>
          <p:cNvPr id="6" name="Text 3"/>
          <p:cNvSpPr txBox="1"/>
          <p:nvPr/>
        </p:nvSpPr>
        <p:spPr>
          <a:xfrm>
            <a:off x="731520" y="1737360"/>
            <a:ext cx="5120640" cy="365760"/>
          </a:xfrm>
          <a:prstGeom prst="rect">
            <a:avLst/>
          </a:prstGeom>
          <a:noFill/>
          <a:ln/>
        </p:spPr>
        <p:txBody>
          <a:bodyPr wrap="square" lIns="0" tIns="0" rIns="0" bIns="0" rtlCol="0" anchor="ctr"/>
          <a:lstStyle/>
          <a:p>
            <a:pPr indent="0" marL="0">
              <a:buNone/>
            </a:pPr>
            <a:r>
              <a:rPr lang="en-US" sz="1600" b="1" dirty="0">
                <a:solidFill>
                  <a:srgbClr val="2E7D32"/>
                </a:solidFill>
              </a:rPr>
              <a:t>Mismas 10 cámaras (cis)</a:t>
            </a:r>
            <a:endParaRPr lang="en-US" sz="1600" dirty="0"/>
          </a:p>
        </p:txBody>
      </p:sp>
      <p:sp>
        <p:nvSpPr>
          <p:cNvPr id="7" name="Shape 4"/>
          <p:cNvSpPr/>
          <p:nvPr/>
        </p:nvSpPr>
        <p:spPr>
          <a:xfrm>
            <a:off x="731520" y="2286000"/>
            <a:ext cx="1554480" cy="1005840"/>
          </a:xfrm>
          <a:prstGeom prst="roundRect">
            <a:avLst>
              <a:gd name="adj" fmla="val 7273"/>
            </a:avLst>
          </a:prstGeom>
          <a:solidFill>
            <a:srgbClr val="FFFFFF"/>
          </a:solidFill>
          <a:ln w="9525">
            <a:solidFill>
              <a:srgbClr val="8FBF7F"/>
            </a:solidFill>
            <a:prstDash val="solid"/>
          </a:ln>
        </p:spPr>
      </p:sp>
      <p:sp>
        <p:nvSpPr>
          <p:cNvPr id="8" name="Text 5"/>
          <p:cNvSpPr txBox="1"/>
          <p:nvPr/>
        </p:nvSpPr>
        <p:spPr>
          <a:xfrm>
            <a:off x="731520" y="2286000"/>
            <a:ext cx="1554480" cy="1005840"/>
          </a:xfrm>
          <a:prstGeom prst="rect">
            <a:avLst/>
          </a:prstGeom>
          <a:noFill/>
          <a:ln/>
        </p:spPr>
        <p:txBody>
          <a:bodyPr wrap="square" lIns="0" tIns="0" rIns="0" bIns="0" rtlCol="0" anchor="ctr"/>
          <a:lstStyle/>
          <a:p>
            <a:pPr algn="ctr" indent="0" marL="0">
              <a:buNone/>
            </a:pPr>
            <a:r>
              <a:rPr lang="en-US" sz="1400" b="1" dirty="0">
                <a:solidFill>
                  <a:srgbClr val="222222"/>
                </a:solidFill>
                <a:latin typeface="Consolas" pitchFamily="34" charset="0"/>
                <a:ea typeface="Consolas" pitchFamily="34" charset="-122"/>
                <a:cs typeface="Consolas" pitchFamily="34" charset="-120"/>
              </a:rPr>
              <a:t>train</a:t>
            </a:r>
            <a:endParaRPr lang="en-US" sz="1400" dirty="0"/>
          </a:p>
          <a:p>
            <a:pPr algn="ctr" indent="0" marL="0">
              <a:buNone/>
            </a:pPr>
            <a:r>
              <a:rPr lang="en-US" sz="1100" dirty="0">
                <a:solidFill>
                  <a:srgbClr val="5A5A5A"/>
                </a:solidFill>
              </a:rPr>
              <a:t>13 553 fotos</a:t>
            </a:r>
            <a:endParaRPr lang="en-US" sz="1400" dirty="0"/>
          </a:p>
        </p:txBody>
      </p:sp>
      <p:sp>
        <p:nvSpPr>
          <p:cNvPr id="9" name="Shape 6"/>
          <p:cNvSpPr/>
          <p:nvPr/>
        </p:nvSpPr>
        <p:spPr>
          <a:xfrm>
            <a:off x="2468880" y="2286000"/>
            <a:ext cx="1554480" cy="1005840"/>
          </a:xfrm>
          <a:prstGeom prst="roundRect">
            <a:avLst>
              <a:gd name="adj" fmla="val 7273"/>
            </a:avLst>
          </a:prstGeom>
          <a:solidFill>
            <a:srgbClr val="FFFFFF"/>
          </a:solidFill>
          <a:ln w="9525">
            <a:solidFill>
              <a:srgbClr val="8FBF7F"/>
            </a:solidFill>
            <a:prstDash val="solid"/>
          </a:ln>
        </p:spPr>
      </p:sp>
      <p:sp>
        <p:nvSpPr>
          <p:cNvPr id="10" name="Text 7"/>
          <p:cNvSpPr txBox="1"/>
          <p:nvPr/>
        </p:nvSpPr>
        <p:spPr>
          <a:xfrm>
            <a:off x="2468880" y="2286000"/>
            <a:ext cx="1554480" cy="1005840"/>
          </a:xfrm>
          <a:prstGeom prst="rect">
            <a:avLst/>
          </a:prstGeom>
          <a:noFill/>
          <a:ln/>
        </p:spPr>
        <p:txBody>
          <a:bodyPr wrap="square" lIns="0" tIns="0" rIns="0" bIns="0" rtlCol="0" anchor="ctr"/>
          <a:lstStyle/>
          <a:p>
            <a:pPr algn="ctr" indent="0" marL="0">
              <a:buNone/>
            </a:pPr>
            <a:r>
              <a:rPr lang="en-US" sz="1400" b="1" dirty="0">
                <a:solidFill>
                  <a:srgbClr val="222222"/>
                </a:solidFill>
                <a:latin typeface="Consolas" pitchFamily="34" charset="0"/>
                <a:ea typeface="Consolas" pitchFamily="34" charset="-122"/>
                <a:cs typeface="Consolas" pitchFamily="34" charset="-120"/>
              </a:rPr>
              <a:t>cis_val</a:t>
            </a:r>
            <a:endParaRPr lang="en-US" sz="1400" dirty="0"/>
          </a:p>
          <a:p>
            <a:pPr algn="ctr" indent="0" marL="0">
              <a:buNone/>
            </a:pPr>
            <a:r>
              <a:rPr lang="en-US" sz="1100" dirty="0">
                <a:solidFill>
                  <a:srgbClr val="5A5A5A"/>
                </a:solidFill>
              </a:rPr>
              <a:t>3 484 fotos</a:t>
            </a:r>
            <a:endParaRPr lang="en-US" sz="1400" dirty="0"/>
          </a:p>
        </p:txBody>
      </p:sp>
      <p:sp>
        <p:nvSpPr>
          <p:cNvPr id="11" name="Shape 8"/>
          <p:cNvSpPr/>
          <p:nvPr/>
        </p:nvSpPr>
        <p:spPr>
          <a:xfrm>
            <a:off x="4206240" y="2286000"/>
            <a:ext cx="1554480" cy="1005840"/>
          </a:xfrm>
          <a:prstGeom prst="roundRect">
            <a:avLst>
              <a:gd name="adj" fmla="val 7273"/>
            </a:avLst>
          </a:prstGeom>
          <a:solidFill>
            <a:srgbClr val="FFFFFF"/>
          </a:solidFill>
          <a:ln w="9525">
            <a:solidFill>
              <a:srgbClr val="8FBF7F"/>
            </a:solidFill>
            <a:prstDash val="solid"/>
          </a:ln>
        </p:spPr>
      </p:sp>
      <p:sp>
        <p:nvSpPr>
          <p:cNvPr id="12" name="Text 9"/>
          <p:cNvSpPr txBox="1"/>
          <p:nvPr/>
        </p:nvSpPr>
        <p:spPr>
          <a:xfrm>
            <a:off x="4206240" y="2286000"/>
            <a:ext cx="1554480" cy="1005840"/>
          </a:xfrm>
          <a:prstGeom prst="rect">
            <a:avLst/>
          </a:prstGeom>
          <a:noFill/>
          <a:ln/>
        </p:spPr>
        <p:txBody>
          <a:bodyPr wrap="square" lIns="0" tIns="0" rIns="0" bIns="0" rtlCol="0" anchor="ctr"/>
          <a:lstStyle/>
          <a:p>
            <a:pPr algn="ctr" indent="0" marL="0">
              <a:buNone/>
            </a:pPr>
            <a:r>
              <a:rPr lang="en-US" sz="1400" b="1" dirty="0">
                <a:solidFill>
                  <a:srgbClr val="222222"/>
                </a:solidFill>
                <a:latin typeface="Consolas" pitchFamily="34" charset="0"/>
                <a:ea typeface="Consolas" pitchFamily="34" charset="-122"/>
                <a:cs typeface="Consolas" pitchFamily="34" charset="-120"/>
              </a:rPr>
              <a:t>cis_test</a:t>
            </a:r>
            <a:endParaRPr lang="en-US" sz="1400" dirty="0"/>
          </a:p>
          <a:p>
            <a:pPr algn="ctr" indent="0" marL="0">
              <a:buNone/>
            </a:pPr>
            <a:r>
              <a:rPr lang="en-US" sz="1100" dirty="0">
                <a:solidFill>
                  <a:srgbClr val="5A5A5A"/>
                </a:solidFill>
              </a:rPr>
              <a:t>15 827 fotos</a:t>
            </a:r>
            <a:endParaRPr lang="en-US" sz="1400" dirty="0"/>
          </a:p>
        </p:txBody>
      </p:sp>
      <p:sp>
        <p:nvSpPr>
          <p:cNvPr id="13" name="Text 10"/>
          <p:cNvSpPr txBox="1"/>
          <p:nvPr/>
        </p:nvSpPr>
        <p:spPr>
          <a:xfrm>
            <a:off x="731520" y="3474720"/>
            <a:ext cx="5120640" cy="914400"/>
          </a:xfrm>
          <a:prstGeom prst="rect">
            <a:avLst/>
          </a:prstGeom>
          <a:noFill/>
          <a:ln/>
        </p:spPr>
        <p:txBody>
          <a:bodyPr wrap="square" lIns="0" tIns="0" rIns="0" bIns="0" rtlCol="0" anchor="ctr"/>
          <a:lstStyle/>
          <a:p>
            <a:pPr indent="0" marL="0">
              <a:buNone/>
            </a:pPr>
            <a:r>
              <a:rPr lang="en-US" sz="1300" dirty="0">
                <a:solidFill>
                  <a:srgbClr val="222222"/>
                </a:solidFill>
              </a:rPr>
              <a:t>El modelo ya conoce el fondo, el ángulo y la iluminación de estas cámaras.</a:t>
            </a:r>
            <a:endParaRPr lang="en-US" sz="1300" dirty="0"/>
          </a:p>
        </p:txBody>
      </p:sp>
      <p:sp>
        <p:nvSpPr>
          <p:cNvPr id="14" name="Shape 11"/>
          <p:cNvSpPr/>
          <p:nvPr/>
        </p:nvSpPr>
        <p:spPr>
          <a:xfrm>
            <a:off x="6263640" y="1645920"/>
            <a:ext cx="5376672" cy="3017520"/>
          </a:xfrm>
          <a:prstGeom prst="roundRect">
            <a:avLst>
              <a:gd name="adj" fmla="val 2424"/>
            </a:avLst>
          </a:prstGeom>
          <a:solidFill>
            <a:srgbClr val="F6E4E4"/>
          </a:solidFill>
          <a:ln w="9525">
            <a:solidFill>
              <a:srgbClr val="F2B8B8"/>
            </a:solidFill>
            <a:prstDash val="solid"/>
          </a:ln>
        </p:spPr>
      </p:sp>
      <p:sp>
        <p:nvSpPr>
          <p:cNvPr id="15" name="Text 12"/>
          <p:cNvSpPr txBox="1"/>
          <p:nvPr/>
        </p:nvSpPr>
        <p:spPr>
          <a:xfrm>
            <a:off x="6446520" y="1737360"/>
            <a:ext cx="5029200" cy="365760"/>
          </a:xfrm>
          <a:prstGeom prst="rect">
            <a:avLst/>
          </a:prstGeom>
          <a:noFill/>
          <a:ln/>
        </p:spPr>
        <p:txBody>
          <a:bodyPr wrap="square" lIns="0" tIns="0" rIns="0" bIns="0" rtlCol="0" anchor="ctr"/>
          <a:lstStyle/>
          <a:p>
            <a:pPr indent="0" marL="0">
              <a:buNone/>
            </a:pPr>
            <a:r>
              <a:rPr lang="en-US" sz="1600" b="1" dirty="0">
                <a:solidFill>
                  <a:srgbClr val="7A1518"/>
                </a:solidFill>
              </a:rPr>
              <a:t>Cámaras nuevas (trans)</a:t>
            </a:r>
            <a:endParaRPr lang="en-US" sz="1600" dirty="0"/>
          </a:p>
        </p:txBody>
      </p:sp>
      <p:sp>
        <p:nvSpPr>
          <p:cNvPr id="16" name="Shape 13"/>
          <p:cNvSpPr/>
          <p:nvPr/>
        </p:nvSpPr>
        <p:spPr>
          <a:xfrm>
            <a:off x="6446520" y="2286000"/>
            <a:ext cx="2331720" cy="1005840"/>
          </a:xfrm>
          <a:prstGeom prst="roundRect">
            <a:avLst>
              <a:gd name="adj" fmla="val 7273"/>
            </a:avLst>
          </a:prstGeom>
          <a:solidFill>
            <a:srgbClr val="FFFFFF"/>
          </a:solidFill>
          <a:ln w="9525">
            <a:solidFill>
              <a:srgbClr val="F2B8B8"/>
            </a:solidFill>
            <a:prstDash val="solid"/>
          </a:ln>
        </p:spPr>
      </p:sp>
      <p:sp>
        <p:nvSpPr>
          <p:cNvPr id="17" name="Text 14"/>
          <p:cNvSpPr txBox="1"/>
          <p:nvPr/>
        </p:nvSpPr>
        <p:spPr>
          <a:xfrm>
            <a:off x="6446520" y="2286000"/>
            <a:ext cx="2331720" cy="1005840"/>
          </a:xfrm>
          <a:prstGeom prst="rect">
            <a:avLst/>
          </a:prstGeom>
          <a:noFill/>
          <a:ln/>
        </p:spPr>
        <p:txBody>
          <a:bodyPr wrap="square" lIns="0" tIns="0" rIns="0" bIns="0" rtlCol="0" anchor="ctr"/>
          <a:lstStyle/>
          <a:p>
            <a:pPr algn="ctr" indent="0" marL="0">
              <a:buNone/>
            </a:pPr>
            <a:r>
              <a:rPr lang="en-US" sz="1400" b="1" dirty="0">
                <a:solidFill>
                  <a:srgbClr val="222222"/>
                </a:solidFill>
                <a:latin typeface="Consolas" pitchFamily="34" charset="0"/>
                <a:ea typeface="Consolas" pitchFamily="34" charset="-122"/>
                <a:cs typeface="Consolas" pitchFamily="34" charset="-120"/>
              </a:rPr>
              <a:t>trans_val</a:t>
            </a:r>
            <a:endParaRPr lang="en-US" sz="1400" dirty="0"/>
          </a:p>
          <a:p>
            <a:pPr algn="ctr" indent="0" marL="0">
              <a:buNone/>
            </a:pPr>
            <a:r>
              <a:rPr lang="en-US" sz="1100" dirty="0">
                <a:solidFill>
                  <a:srgbClr val="5A5A5A"/>
                </a:solidFill>
              </a:rPr>
              <a:t>1 cámara · 1 725</a:t>
            </a:r>
            <a:endParaRPr lang="en-US" sz="1400" dirty="0"/>
          </a:p>
        </p:txBody>
      </p:sp>
      <p:sp>
        <p:nvSpPr>
          <p:cNvPr id="18" name="Shape 15"/>
          <p:cNvSpPr/>
          <p:nvPr/>
        </p:nvSpPr>
        <p:spPr>
          <a:xfrm>
            <a:off x="8961120" y="2286000"/>
            <a:ext cx="2331720" cy="1005840"/>
          </a:xfrm>
          <a:prstGeom prst="roundRect">
            <a:avLst>
              <a:gd name="adj" fmla="val 7273"/>
            </a:avLst>
          </a:prstGeom>
          <a:solidFill>
            <a:srgbClr val="FFFFFF"/>
          </a:solidFill>
          <a:ln w="9525">
            <a:solidFill>
              <a:srgbClr val="F2B8B8"/>
            </a:solidFill>
            <a:prstDash val="solid"/>
          </a:ln>
        </p:spPr>
      </p:sp>
      <p:sp>
        <p:nvSpPr>
          <p:cNvPr id="19" name="Text 16"/>
          <p:cNvSpPr txBox="1"/>
          <p:nvPr/>
        </p:nvSpPr>
        <p:spPr>
          <a:xfrm>
            <a:off x="8961120" y="2286000"/>
            <a:ext cx="2331720" cy="1005840"/>
          </a:xfrm>
          <a:prstGeom prst="rect">
            <a:avLst/>
          </a:prstGeom>
          <a:noFill/>
          <a:ln/>
        </p:spPr>
        <p:txBody>
          <a:bodyPr wrap="square" lIns="0" tIns="0" rIns="0" bIns="0" rtlCol="0" anchor="ctr"/>
          <a:lstStyle/>
          <a:p>
            <a:pPr algn="ctr" indent="0" marL="0">
              <a:buNone/>
            </a:pPr>
            <a:r>
              <a:rPr lang="en-US" sz="1400" b="1" dirty="0">
                <a:solidFill>
                  <a:srgbClr val="222222"/>
                </a:solidFill>
                <a:latin typeface="Consolas" pitchFamily="34" charset="0"/>
                <a:ea typeface="Consolas" pitchFamily="34" charset="-122"/>
                <a:cs typeface="Consolas" pitchFamily="34" charset="-120"/>
              </a:rPr>
              <a:t>trans_test</a:t>
            </a:r>
            <a:endParaRPr lang="en-US" sz="1400" dirty="0"/>
          </a:p>
          <a:p>
            <a:pPr algn="ctr" indent="0" marL="0">
              <a:buNone/>
            </a:pPr>
            <a:r>
              <a:rPr lang="en-US" sz="1100" dirty="0">
                <a:solidFill>
                  <a:srgbClr val="5A5A5A"/>
                </a:solidFill>
              </a:rPr>
              <a:t>9 cámaras · 23 275</a:t>
            </a:r>
            <a:endParaRPr lang="en-US" sz="1400" dirty="0"/>
          </a:p>
        </p:txBody>
      </p:sp>
      <p:sp>
        <p:nvSpPr>
          <p:cNvPr id="20" name="Text 17"/>
          <p:cNvSpPr txBox="1"/>
          <p:nvPr/>
        </p:nvSpPr>
        <p:spPr>
          <a:xfrm>
            <a:off x="6446520" y="3474720"/>
            <a:ext cx="5029200" cy="914400"/>
          </a:xfrm>
          <a:prstGeom prst="rect">
            <a:avLst/>
          </a:prstGeom>
          <a:noFill/>
          <a:ln/>
        </p:spPr>
        <p:txBody>
          <a:bodyPr wrap="square" lIns="0" tIns="0" rIns="0" bIns="0" rtlCol="0" anchor="ctr"/>
          <a:lstStyle/>
          <a:p>
            <a:pPr indent="0" marL="0">
              <a:buNone/>
            </a:pPr>
            <a:r>
              <a:rPr lang="en-US" sz="1300" dirty="0">
                <a:solidFill>
                  <a:srgbClr val="222222"/>
                </a:solidFill>
              </a:rPr>
              <a:t>Cero ubicaciones compartidas con train: simula una cámara recién instalada.</a:t>
            </a:r>
            <a:endParaRPr lang="en-US" sz="1300" dirty="0"/>
          </a:p>
        </p:txBody>
      </p:sp>
      <p:sp>
        <p:nvSpPr>
          <p:cNvPr id="21" name="Shape 18"/>
          <p:cNvSpPr/>
          <p:nvPr/>
        </p:nvSpPr>
        <p:spPr>
          <a:xfrm>
            <a:off x="548640" y="4846320"/>
            <a:ext cx="2651760" cy="1325880"/>
          </a:xfrm>
          <a:prstGeom prst="roundRect">
            <a:avLst>
              <a:gd name="adj" fmla="val 5517"/>
            </a:avLst>
          </a:prstGeom>
          <a:solidFill>
            <a:srgbClr val="F3F4F6"/>
          </a:solidFill>
          <a:ln w="9525">
            <a:solidFill>
              <a:srgbClr val="D9D9D9"/>
            </a:solidFill>
            <a:prstDash val="solid"/>
          </a:ln>
        </p:spPr>
      </p:sp>
      <p:sp>
        <p:nvSpPr>
          <p:cNvPr id="22" name="Text 19"/>
          <p:cNvSpPr txBox="1"/>
          <p:nvPr/>
        </p:nvSpPr>
        <p:spPr>
          <a:xfrm>
            <a:off x="548640" y="4956048"/>
            <a:ext cx="2651760" cy="689458"/>
          </a:xfrm>
          <a:prstGeom prst="rect">
            <a:avLst/>
          </a:prstGeom>
          <a:noFill/>
          <a:ln/>
        </p:spPr>
        <p:txBody>
          <a:bodyPr wrap="square" lIns="0" tIns="0" rIns="0" bIns="0" rtlCol="0" anchor="ctr"/>
          <a:lstStyle/>
          <a:p>
            <a:pPr algn="ctr" indent="0" marL="0">
              <a:buNone/>
            </a:pPr>
            <a:r>
              <a:rPr lang="en-US" sz="3200" b="1" dirty="0">
                <a:solidFill>
                  <a:srgbClr val="7A1518"/>
                </a:solidFill>
              </a:rPr>
              <a:t>74 %</a:t>
            </a:r>
            <a:endParaRPr lang="en-US" sz="3200" dirty="0"/>
          </a:p>
        </p:txBody>
      </p:sp>
      <p:sp>
        <p:nvSpPr>
          <p:cNvPr id="23" name="Text 20"/>
          <p:cNvSpPr txBox="1"/>
          <p:nvPr/>
        </p:nvSpPr>
        <p:spPr>
          <a:xfrm>
            <a:off x="685800" y="5641848"/>
            <a:ext cx="2377440" cy="477317"/>
          </a:xfrm>
          <a:prstGeom prst="rect">
            <a:avLst/>
          </a:prstGeom>
          <a:noFill/>
          <a:ln/>
        </p:spPr>
        <p:txBody>
          <a:bodyPr wrap="square" lIns="0" tIns="0" rIns="0" bIns="0" rtlCol="0" anchor="t"/>
          <a:lstStyle/>
          <a:p>
            <a:pPr algn="ctr" indent="0" marL="0">
              <a:buNone/>
            </a:pPr>
            <a:r>
              <a:rPr lang="en-US" sz="1150" dirty="0">
                <a:solidFill>
                  <a:srgbClr val="5A5A5A"/>
                </a:solidFill>
              </a:rPr>
              <a:t>de los gatos de train vienen de una sola cámara (38)</a:t>
            </a:r>
            <a:endParaRPr lang="en-US" sz="1150" dirty="0"/>
          </a:p>
        </p:txBody>
      </p:sp>
      <p:sp>
        <p:nvSpPr>
          <p:cNvPr id="24" name="Shape 21"/>
          <p:cNvSpPr/>
          <p:nvPr/>
        </p:nvSpPr>
        <p:spPr>
          <a:xfrm>
            <a:off x="3383280" y="4846320"/>
            <a:ext cx="2651760" cy="1325880"/>
          </a:xfrm>
          <a:prstGeom prst="roundRect">
            <a:avLst>
              <a:gd name="adj" fmla="val 5517"/>
            </a:avLst>
          </a:prstGeom>
          <a:solidFill>
            <a:srgbClr val="F3F4F6"/>
          </a:solidFill>
          <a:ln w="9525">
            <a:solidFill>
              <a:srgbClr val="D9D9D9"/>
            </a:solidFill>
            <a:prstDash val="solid"/>
          </a:ln>
        </p:spPr>
      </p:sp>
      <p:sp>
        <p:nvSpPr>
          <p:cNvPr id="25" name="Text 22"/>
          <p:cNvSpPr txBox="1"/>
          <p:nvPr/>
        </p:nvSpPr>
        <p:spPr>
          <a:xfrm>
            <a:off x="3383280" y="4956048"/>
            <a:ext cx="2651760" cy="689458"/>
          </a:xfrm>
          <a:prstGeom prst="rect">
            <a:avLst/>
          </a:prstGeom>
          <a:noFill/>
          <a:ln/>
        </p:spPr>
        <p:txBody>
          <a:bodyPr wrap="square" lIns="0" tIns="0" rIns="0" bIns="0" rtlCol="0" anchor="ctr"/>
          <a:lstStyle/>
          <a:p>
            <a:pPr algn="ctr" indent="0" marL="0">
              <a:buNone/>
            </a:pPr>
            <a:r>
              <a:rPr lang="en-US" sz="3200" b="1" dirty="0">
                <a:solidFill>
                  <a:srgbClr val="7A1518"/>
                </a:solidFill>
              </a:rPr>
              <a:t>90 %</a:t>
            </a:r>
            <a:endParaRPr lang="en-US" sz="3200" dirty="0"/>
          </a:p>
        </p:txBody>
      </p:sp>
      <p:sp>
        <p:nvSpPr>
          <p:cNvPr id="26" name="Text 23"/>
          <p:cNvSpPr txBox="1"/>
          <p:nvPr/>
        </p:nvSpPr>
        <p:spPr>
          <a:xfrm>
            <a:off x="3520440" y="5641848"/>
            <a:ext cx="2377440" cy="477317"/>
          </a:xfrm>
          <a:prstGeom prst="rect">
            <a:avLst/>
          </a:prstGeom>
          <a:noFill/>
          <a:ln/>
        </p:spPr>
        <p:txBody>
          <a:bodyPr wrap="square" lIns="0" tIns="0" rIns="0" bIns="0" rtlCol="0" anchor="t"/>
          <a:lstStyle/>
          <a:p>
            <a:pPr algn="ctr" indent="0" marL="0">
              <a:buNone/>
            </a:pPr>
            <a:r>
              <a:rPr lang="en-US" sz="1150" dirty="0">
                <a:solidFill>
                  <a:srgbClr val="5A5A5A"/>
                </a:solidFill>
              </a:rPr>
              <a:t>de las cajas de roedor salen de solo 2 cámaras</a:t>
            </a:r>
            <a:endParaRPr lang="en-US" sz="1150" dirty="0"/>
          </a:p>
        </p:txBody>
      </p:sp>
      <p:sp>
        <p:nvSpPr>
          <p:cNvPr id="27" name="Shape 24"/>
          <p:cNvSpPr/>
          <p:nvPr/>
        </p:nvSpPr>
        <p:spPr>
          <a:xfrm>
            <a:off x="6263640" y="4846320"/>
            <a:ext cx="5376672" cy="1325880"/>
          </a:xfrm>
          <a:prstGeom prst="roundRect">
            <a:avLst>
              <a:gd name="adj" fmla="val 5517"/>
            </a:avLst>
          </a:prstGeom>
          <a:solidFill>
            <a:srgbClr val="FFF1D6"/>
          </a:solidFill>
          <a:ln w="9525">
            <a:solidFill>
              <a:srgbClr val="E5B567"/>
            </a:solidFill>
            <a:prstDash val="solid"/>
          </a:ln>
        </p:spPr>
      </p:sp>
      <p:sp>
        <p:nvSpPr>
          <p:cNvPr id="28" name="Text 25"/>
          <p:cNvSpPr txBox="1"/>
          <p:nvPr/>
        </p:nvSpPr>
        <p:spPr>
          <a:xfrm>
            <a:off x="6446520" y="4956048"/>
            <a:ext cx="5010912" cy="1106424"/>
          </a:xfrm>
          <a:prstGeom prst="rect">
            <a:avLst/>
          </a:prstGeom>
          <a:noFill/>
          <a:ln/>
        </p:spPr>
        <p:txBody>
          <a:bodyPr wrap="square" lIns="0" tIns="0" rIns="0" bIns="0" rtlCol="0" anchor="t"/>
          <a:lstStyle/>
          <a:p>
            <a:pPr indent="0" marL="0">
              <a:spcAft>
                <a:spcPts val="400"/>
              </a:spcAft>
              <a:buNone/>
            </a:pPr>
            <a:r>
              <a:rPr lang="en-US" sz="1300" b="1" dirty="0">
                <a:solidFill>
                  <a:srgbClr val="B26A00"/>
                </a:solidFill>
              </a:rPr>
              <a:t>Riesgo</a:t>
            </a:r>
            <a:endParaRPr lang="en-US" sz="1300" dirty="0"/>
          </a:p>
          <a:p>
            <a:pPr indent="0" marL="0">
              <a:spcAft>
                <a:spcPts val="400"/>
              </a:spcAft>
              <a:buNone/>
            </a:pPr>
            <a:r>
              <a:rPr lang="en-US" sz="1200" dirty="0">
                <a:solidFill>
                  <a:srgbClr val="222222"/>
                </a:solidFill>
              </a:rPr>
              <a:t>Si una especie aparece casi siempre sobre el mismo fondo, el modelo puede asociar especie y escena.</a:t>
            </a:r>
            <a:endParaRPr lang="en-US" sz="130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Preparación de datos</a:t>
            </a:r>
            <a:endParaRPr lang="en-US" sz="2700" dirty="0"/>
          </a:p>
        </p:txBody>
      </p:sp>
      <p:sp>
        <p:nvSpPr>
          <p:cNvPr id="3" name="Text 1"/>
          <p:cNvSpPr txBox="1"/>
          <p:nvPr/>
        </p:nvSpPr>
        <p:spPr>
          <a:xfrm>
            <a:off x="548640" y="1033272"/>
            <a:ext cx="11091672" cy="384048"/>
          </a:xfrm>
          <a:prstGeom prst="rect">
            <a:avLst/>
          </a:prstGeom>
          <a:noFill/>
          <a:ln/>
        </p:spPr>
        <p:txBody>
          <a:bodyPr wrap="square" rtlCol="0" anchor="ctr"/>
          <a:lstStyle/>
          <a:p>
            <a:pPr algn="ctr" indent="0" marL="0">
              <a:buNone/>
            </a:pPr>
            <a:r>
              <a:rPr lang="en-US" sz="1700" b="1" dirty="0">
                <a:solidFill>
                  <a:srgbClr val="7A1518"/>
                </a:solidFill>
                <a:latin typeface="Cambria" pitchFamily="34" charset="0"/>
                <a:ea typeface="Cambria" pitchFamily="34" charset="-122"/>
                <a:cs typeface="Cambria" pitchFamily="34" charset="-120"/>
              </a:rPr>
              <a:t>Del dataset crudo al formato YOLO: cada exclusión tiene un motivo</a:t>
            </a:r>
            <a:endParaRPr lang="en-US" sz="1700" dirty="0"/>
          </a:p>
        </p:txBody>
      </p:sp>
      <p:sp>
        <p:nvSpPr>
          <p:cNvPr id="5" name="Shape 2"/>
          <p:cNvSpPr/>
          <p:nvPr/>
        </p:nvSpPr>
        <p:spPr>
          <a:xfrm>
            <a:off x="548640" y="1645920"/>
            <a:ext cx="2514600" cy="2103120"/>
          </a:xfrm>
          <a:prstGeom prst="roundRect">
            <a:avLst>
              <a:gd name="adj" fmla="val 3478"/>
            </a:avLst>
          </a:prstGeom>
          <a:solidFill>
            <a:srgbClr val="F3F4F6"/>
          </a:solidFill>
          <a:ln w="9525">
            <a:solidFill>
              <a:srgbClr val="D9D9D9"/>
            </a:solidFill>
            <a:prstDash val="solid"/>
          </a:ln>
        </p:spPr>
      </p:sp>
      <p:sp>
        <p:nvSpPr>
          <p:cNvPr id="6" name="Text 3"/>
          <p:cNvSpPr txBox="1"/>
          <p:nvPr/>
        </p:nvSpPr>
        <p:spPr>
          <a:xfrm>
            <a:off x="731520" y="1755648"/>
            <a:ext cx="731520" cy="411480"/>
          </a:xfrm>
          <a:prstGeom prst="rect">
            <a:avLst/>
          </a:prstGeom>
          <a:noFill/>
          <a:ln/>
        </p:spPr>
        <p:txBody>
          <a:bodyPr wrap="square" lIns="0" tIns="0" rIns="0" bIns="0" rtlCol="0" anchor="ctr"/>
          <a:lstStyle/>
          <a:p>
            <a:pPr indent="0" marL="0">
              <a:buNone/>
            </a:pPr>
            <a:r>
              <a:rPr lang="en-US" sz="2200" b="1" dirty="0">
                <a:solidFill>
                  <a:srgbClr val="222222"/>
                </a:solidFill>
              </a:rPr>
              <a:t>01</a:t>
            </a:r>
            <a:endParaRPr lang="en-US" sz="2200" dirty="0"/>
          </a:p>
        </p:txBody>
      </p:sp>
      <p:sp>
        <p:nvSpPr>
          <p:cNvPr id="7" name="Text 4"/>
          <p:cNvSpPr txBox="1"/>
          <p:nvPr/>
        </p:nvSpPr>
        <p:spPr>
          <a:xfrm>
            <a:off x="731520" y="2212848"/>
            <a:ext cx="2194560" cy="365760"/>
          </a:xfrm>
          <a:prstGeom prst="rect">
            <a:avLst/>
          </a:prstGeom>
          <a:noFill/>
          <a:ln/>
        </p:spPr>
        <p:txBody>
          <a:bodyPr wrap="square" lIns="0" tIns="0" rIns="0" bIns="0" rtlCol="0" anchor="ctr"/>
          <a:lstStyle/>
          <a:p>
            <a:pPr indent="0" marL="0">
              <a:buNone/>
            </a:pPr>
            <a:r>
              <a:rPr lang="en-US" sz="1500" b="1" dirty="0">
                <a:solidFill>
                  <a:srgbClr val="7A1518"/>
                </a:solidFill>
              </a:rPr>
              <a:t>Descargar</a:t>
            </a:r>
            <a:endParaRPr lang="en-US" sz="1500" dirty="0"/>
          </a:p>
        </p:txBody>
      </p:sp>
      <p:sp>
        <p:nvSpPr>
          <p:cNvPr id="8" name="Text 5"/>
          <p:cNvSpPr txBox="1"/>
          <p:nvPr/>
        </p:nvSpPr>
        <p:spPr>
          <a:xfrm>
            <a:off x="731520" y="2606040"/>
            <a:ext cx="2194560" cy="1051560"/>
          </a:xfrm>
          <a:prstGeom prst="rect">
            <a:avLst/>
          </a:prstGeom>
          <a:noFill/>
          <a:ln/>
        </p:spPr>
        <p:txBody>
          <a:bodyPr wrap="square" lIns="0" tIns="0" rIns="0" bIns="0" rtlCol="0" anchor="t"/>
          <a:lstStyle/>
          <a:p>
            <a:pPr indent="0" marL="0">
              <a:buNone/>
            </a:pPr>
            <a:r>
              <a:rPr lang="en-US" sz="1200" dirty="0">
                <a:solidFill>
                  <a:srgbClr val="222222"/>
                </a:solidFill>
              </a:rPr>
              <a:t>6,5 GB de imágenes + anotaciones COCO Camera Traps (descarga reanudable).</a:t>
            </a:r>
            <a:endParaRPr lang="en-US" sz="1200" dirty="0"/>
          </a:p>
        </p:txBody>
      </p:sp>
      <p:sp>
        <p:nvSpPr>
          <p:cNvPr id="9" name="Shape 6"/>
          <p:cNvSpPr/>
          <p:nvPr/>
        </p:nvSpPr>
        <p:spPr>
          <a:xfrm>
            <a:off x="3081528" y="2560320"/>
            <a:ext cx="274320" cy="274320"/>
          </a:xfrm>
          <a:prstGeom prst="rightArrow">
            <a:avLst/>
          </a:prstGeom>
          <a:solidFill>
            <a:srgbClr val="7A1518"/>
          </a:solidFill>
          <a:ln w="12700">
            <a:solidFill>
              <a:srgbClr val="7A1518"/>
            </a:solidFill>
            <a:prstDash val="solid"/>
          </a:ln>
        </p:spPr>
      </p:sp>
      <p:sp>
        <p:nvSpPr>
          <p:cNvPr id="10" name="Shape 7"/>
          <p:cNvSpPr/>
          <p:nvPr/>
        </p:nvSpPr>
        <p:spPr>
          <a:xfrm>
            <a:off x="3383280" y="1645920"/>
            <a:ext cx="2514600" cy="2103120"/>
          </a:xfrm>
          <a:prstGeom prst="roundRect">
            <a:avLst>
              <a:gd name="adj" fmla="val 3478"/>
            </a:avLst>
          </a:prstGeom>
          <a:solidFill>
            <a:srgbClr val="F3F4F6"/>
          </a:solidFill>
          <a:ln w="9525">
            <a:solidFill>
              <a:srgbClr val="D9D9D9"/>
            </a:solidFill>
            <a:prstDash val="solid"/>
          </a:ln>
        </p:spPr>
      </p:sp>
      <p:sp>
        <p:nvSpPr>
          <p:cNvPr id="11" name="Text 8"/>
          <p:cNvSpPr txBox="1"/>
          <p:nvPr/>
        </p:nvSpPr>
        <p:spPr>
          <a:xfrm>
            <a:off x="3566160" y="1755648"/>
            <a:ext cx="731520" cy="411480"/>
          </a:xfrm>
          <a:prstGeom prst="rect">
            <a:avLst/>
          </a:prstGeom>
          <a:noFill/>
          <a:ln/>
        </p:spPr>
        <p:txBody>
          <a:bodyPr wrap="square" lIns="0" tIns="0" rIns="0" bIns="0" rtlCol="0" anchor="ctr"/>
          <a:lstStyle/>
          <a:p>
            <a:pPr indent="0" marL="0">
              <a:buNone/>
            </a:pPr>
            <a:r>
              <a:rPr lang="en-US" sz="2200" b="1" dirty="0">
                <a:solidFill>
                  <a:srgbClr val="222222"/>
                </a:solidFill>
              </a:rPr>
              <a:t>02</a:t>
            </a:r>
            <a:endParaRPr lang="en-US" sz="2200" dirty="0"/>
          </a:p>
        </p:txBody>
      </p:sp>
      <p:sp>
        <p:nvSpPr>
          <p:cNvPr id="12" name="Text 9"/>
          <p:cNvSpPr txBox="1"/>
          <p:nvPr/>
        </p:nvSpPr>
        <p:spPr>
          <a:xfrm>
            <a:off x="3566160" y="2212848"/>
            <a:ext cx="2194560" cy="365760"/>
          </a:xfrm>
          <a:prstGeom prst="rect">
            <a:avLst/>
          </a:prstGeom>
          <a:noFill/>
          <a:ln/>
        </p:spPr>
        <p:txBody>
          <a:bodyPr wrap="square" lIns="0" tIns="0" rIns="0" bIns="0" rtlCol="0" anchor="ctr"/>
          <a:lstStyle/>
          <a:p>
            <a:pPr indent="0" marL="0">
              <a:buNone/>
            </a:pPr>
            <a:r>
              <a:rPr lang="en-US" sz="1500" b="1" dirty="0">
                <a:solidFill>
                  <a:srgbClr val="7A1518"/>
                </a:solidFill>
              </a:rPr>
              <a:t>Excluir sin caja</a:t>
            </a:r>
            <a:endParaRPr lang="en-US" sz="1500" dirty="0"/>
          </a:p>
        </p:txBody>
      </p:sp>
      <p:sp>
        <p:nvSpPr>
          <p:cNvPr id="13" name="Text 10"/>
          <p:cNvSpPr txBox="1"/>
          <p:nvPr/>
        </p:nvSpPr>
        <p:spPr>
          <a:xfrm>
            <a:off x="3566160" y="2606040"/>
            <a:ext cx="2194560" cy="1051560"/>
          </a:xfrm>
          <a:prstGeom prst="rect">
            <a:avLst/>
          </a:prstGeom>
          <a:noFill/>
          <a:ln/>
        </p:spPr>
        <p:txBody>
          <a:bodyPr wrap="square" lIns="0" tIns="0" rIns="0" bIns="0" rtlCol="0" anchor="t"/>
          <a:lstStyle/>
          <a:p>
            <a:pPr indent="0" marL="0">
              <a:buNone/>
            </a:pPr>
            <a:r>
              <a:rPr lang="en-US" sz="1200" dirty="0">
                <a:solidFill>
                  <a:srgbClr val="222222"/>
                </a:solidFill>
              </a:rPr>
              <a:t>1 454 fotos de train con especie pero sin caja: no son positivo ni fondo.</a:t>
            </a:r>
            <a:endParaRPr lang="en-US" sz="1200" dirty="0"/>
          </a:p>
        </p:txBody>
      </p:sp>
      <p:sp>
        <p:nvSpPr>
          <p:cNvPr id="14" name="Shape 11"/>
          <p:cNvSpPr/>
          <p:nvPr/>
        </p:nvSpPr>
        <p:spPr>
          <a:xfrm>
            <a:off x="5916168" y="2560320"/>
            <a:ext cx="274320" cy="274320"/>
          </a:xfrm>
          <a:prstGeom prst="rightArrow">
            <a:avLst/>
          </a:prstGeom>
          <a:solidFill>
            <a:srgbClr val="7A1518"/>
          </a:solidFill>
          <a:ln w="12700">
            <a:solidFill>
              <a:srgbClr val="7A1518"/>
            </a:solidFill>
            <a:prstDash val="solid"/>
          </a:ln>
        </p:spPr>
      </p:sp>
      <p:sp>
        <p:nvSpPr>
          <p:cNvPr id="15" name="Shape 12"/>
          <p:cNvSpPr/>
          <p:nvPr/>
        </p:nvSpPr>
        <p:spPr>
          <a:xfrm>
            <a:off x="6217920" y="1645920"/>
            <a:ext cx="2514600" cy="2103120"/>
          </a:xfrm>
          <a:prstGeom prst="roundRect">
            <a:avLst>
              <a:gd name="adj" fmla="val 3478"/>
            </a:avLst>
          </a:prstGeom>
          <a:solidFill>
            <a:srgbClr val="F3F4F6"/>
          </a:solidFill>
          <a:ln w="9525">
            <a:solidFill>
              <a:srgbClr val="D9D9D9"/>
            </a:solidFill>
            <a:prstDash val="solid"/>
          </a:ln>
        </p:spPr>
      </p:sp>
      <p:sp>
        <p:nvSpPr>
          <p:cNvPr id="16" name="Text 13"/>
          <p:cNvSpPr txBox="1"/>
          <p:nvPr/>
        </p:nvSpPr>
        <p:spPr>
          <a:xfrm>
            <a:off x="6400800" y="1755648"/>
            <a:ext cx="731520" cy="411480"/>
          </a:xfrm>
          <a:prstGeom prst="rect">
            <a:avLst/>
          </a:prstGeom>
          <a:noFill/>
          <a:ln/>
        </p:spPr>
        <p:txBody>
          <a:bodyPr wrap="square" lIns="0" tIns="0" rIns="0" bIns="0" rtlCol="0" anchor="ctr"/>
          <a:lstStyle/>
          <a:p>
            <a:pPr indent="0" marL="0">
              <a:buNone/>
            </a:pPr>
            <a:r>
              <a:rPr lang="en-US" sz="2200" b="1" dirty="0">
                <a:solidFill>
                  <a:srgbClr val="222222"/>
                </a:solidFill>
              </a:rPr>
              <a:t>03</a:t>
            </a:r>
            <a:endParaRPr lang="en-US" sz="2200" dirty="0"/>
          </a:p>
        </p:txBody>
      </p:sp>
      <p:sp>
        <p:nvSpPr>
          <p:cNvPr id="17" name="Text 14"/>
          <p:cNvSpPr txBox="1"/>
          <p:nvPr/>
        </p:nvSpPr>
        <p:spPr>
          <a:xfrm>
            <a:off x="6400800" y="2212848"/>
            <a:ext cx="2194560" cy="365760"/>
          </a:xfrm>
          <a:prstGeom prst="rect">
            <a:avLst/>
          </a:prstGeom>
          <a:noFill/>
          <a:ln/>
        </p:spPr>
        <p:txBody>
          <a:bodyPr wrap="square" lIns="0" tIns="0" rIns="0" bIns="0" rtlCol="0" anchor="ctr"/>
          <a:lstStyle/>
          <a:p>
            <a:pPr indent="0" marL="0">
              <a:buNone/>
            </a:pPr>
            <a:r>
              <a:rPr lang="en-US" sz="1500" b="1" dirty="0">
                <a:solidFill>
                  <a:srgbClr val="7A1518"/>
                </a:solidFill>
              </a:rPr>
              <a:t>Excluir car</a:t>
            </a:r>
            <a:endParaRPr lang="en-US" sz="1500" dirty="0"/>
          </a:p>
        </p:txBody>
      </p:sp>
      <p:sp>
        <p:nvSpPr>
          <p:cNvPr id="18" name="Text 15"/>
          <p:cNvSpPr txBox="1"/>
          <p:nvPr/>
        </p:nvSpPr>
        <p:spPr>
          <a:xfrm>
            <a:off x="6400800" y="2606040"/>
            <a:ext cx="2194560" cy="1051560"/>
          </a:xfrm>
          <a:prstGeom prst="rect">
            <a:avLst/>
          </a:prstGeom>
          <a:noFill/>
          <a:ln/>
        </p:spPr>
        <p:txBody>
          <a:bodyPr wrap="square" lIns="0" tIns="0" rIns="0" bIns="0" rtlCol="0" anchor="t"/>
          <a:lstStyle/>
          <a:p>
            <a:pPr indent="0" marL="0">
              <a:buNone/>
            </a:pPr>
            <a:r>
              <a:rPr lang="en-US" sz="1200" dirty="0">
                <a:solidFill>
                  <a:srgbClr val="222222"/>
                </a:solidFill>
              </a:rPr>
              <a:t>No es fauna; se quitan la clase y sus imágenes.</a:t>
            </a:r>
            <a:endParaRPr lang="en-US" sz="1200" dirty="0"/>
          </a:p>
        </p:txBody>
      </p:sp>
      <p:sp>
        <p:nvSpPr>
          <p:cNvPr id="19" name="Shape 16"/>
          <p:cNvSpPr/>
          <p:nvPr/>
        </p:nvSpPr>
        <p:spPr>
          <a:xfrm>
            <a:off x="8750808" y="2560320"/>
            <a:ext cx="274320" cy="274320"/>
          </a:xfrm>
          <a:prstGeom prst="rightArrow">
            <a:avLst/>
          </a:prstGeom>
          <a:solidFill>
            <a:srgbClr val="7A1518"/>
          </a:solidFill>
          <a:ln w="12700">
            <a:solidFill>
              <a:srgbClr val="7A1518"/>
            </a:solidFill>
            <a:prstDash val="solid"/>
          </a:ln>
        </p:spPr>
      </p:sp>
      <p:sp>
        <p:nvSpPr>
          <p:cNvPr id="20" name="Shape 17"/>
          <p:cNvSpPr/>
          <p:nvPr/>
        </p:nvSpPr>
        <p:spPr>
          <a:xfrm>
            <a:off x="9052560" y="1645920"/>
            <a:ext cx="2514600" cy="2103120"/>
          </a:xfrm>
          <a:prstGeom prst="roundRect">
            <a:avLst>
              <a:gd name="adj" fmla="val 3478"/>
            </a:avLst>
          </a:prstGeom>
          <a:solidFill>
            <a:srgbClr val="F3F4F6"/>
          </a:solidFill>
          <a:ln w="9525">
            <a:solidFill>
              <a:srgbClr val="D9D9D9"/>
            </a:solidFill>
            <a:prstDash val="solid"/>
          </a:ln>
        </p:spPr>
      </p:sp>
      <p:sp>
        <p:nvSpPr>
          <p:cNvPr id="21" name="Text 18"/>
          <p:cNvSpPr txBox="1"/>
          <p:nvPr/>
        </p:nvSpPr>
        <p:spPr>
          <a:xfrm>
            <a:off x="9235440" y="1755648"/>
            <a:ext cx="731520" cy="411480"/>
          </a:xfrm>
          <a:prstGeom prst="rect">
            <a:avLst/>
          </a:prstGeom>
          <a:noFill/>
          <a:ln/>
        </p:spPr>
        <p:txBody>
          <a:bodyPr wrap="square" lIns="0" tIns="0" rIns="0" bIns="0" rtlCol="0" anchor="ctr"/>
          <a:lstStyle/>
          <a:p>
            <a:pPr indent="0" marL="0">
              <a:buNone/>
            </a:pPr>
            <a:r>
              <a:rPr lang="en-US" sz="2200" b="1" dirty="0">
                <a:solidFill>
                  <a:srgbClr val="222222"/>
                </a:solidFill>
              </a:rPr>
              <a:t>04</a:t>
            </a:r>
            <a:endParaRPr lang="en-US" sz="2200" dirty="0"/>
          </a:p>
        </p:txBody>
      </p:sp>
      <p:sp>
        <p:nvSpPr>
          <p:cNvPr id="22" name="Text 19"/>
          <p:cNvSpPr txBox="1"/>
          <p:nvPr/>
        </p:nvSpPr>
        <p:spPr>
          <a:xfrm>
            <a:off x="9235440" y="2212848"/>
            <a:ext cx="2194560" cy="365760"/>
          </a:xfrm>
          <a:prstGeom prst="rect">
            <a:avLst/>
          </a:prstGeom>
          <a:noFill/>
          <a:ln/>
        </p:spPr>
        <p:txBody>
          <a:bodyPr wrap="square" lIns="0" tIns="0" rIns="0" bIns="0" rtlCol="0" anchor="ctr"/>
          <a:lstStyle/>
          <a:p>
            <a:pPr indent="0" marL="0">
              <a:buNone/>
            </a:pPr>
            <a:r>
              <a:rPr lang="en-US" sz="1500" b="1" dirty="0">
                <a:solidFill>
                  <a:srgbClr val="7A1518"/>
                </a:solidFill>
              </a:rPr>
              <a:t>Convertir a YOLO</a:t>
            </a:r>
            <a:endParaRPr lang="en-US" sz="1500" dirty="0"/>
          </a:p>
        </p:txBody>
      </p:sp>
      <p:sp>
        <p:nvSpPr>
          <p:cNvPr id="23" name="Text 20"/>
          <p:cNvSpPr txBox="1"/>
          <p:nvPr/>
        </p:nvSpPr>
        <p:spPr>
          <a:xfrm>
            <a:off x="9235440" y="2606040"/>
            <a:ext cx="2194560" cy="1051560"/>
          </a:xfrm>
          <a:prstGeom prst="rect">
            <a:avLst/>
          </a:prstGeom>
          <a:noFill/>
          <a:ln/>
        </p:spPr>
        <p:txBody>
          <a:bodyPr wrap="square" lIns="0" tIns="0" rIns="0" bIns="0" rtlCol="0" anchor="t"/>
          <a:lstStyle/>
          <a:p>
            <a:pPr indent="0" marL="0">
              <a:buNone/>
            </a:pPr>
            <a:r>
              <a:rPr lang="en-US" sz="1200" dirty="0">
                <a:solidFill>
                  <a:srgbClr val="222222"/>
                </a:solidFill>
              </a:rPr>
              <a:t>Cajas recortadas al borde y normalizadas; un .txt por imagen.</a:t>
            </a:r>
            <a:endParaRPr lang="en-US" sz="1200" dirty="0"/>
          </a:p>
        </p:txBody>
      </p:sp>
      <p:sp>
        <p:nvSpPr>
          <p:cNvPr id="24" name="Shape 21"/>
          <p:cNvSpPr/>
          <p:nvPr/>
        </p:nvSpPr>
        <p:spPr>
          <a:xfrm>
            <a:off x="548640" y="3977640"/>
            <a:ext cx="5394960" cy="2148840"/>
          </a:xfrm>
          <a:prstGeom prst="roundRect">
            <a:avLst>
              <a:gd name="adj" fmla="val 3404"/>
            </a:avLst>
          </a:prstGeom>
          <a:solidFill>
            <a:srgbClr val="F3F4F6"/>
          </a:solidFill>
          <a:ln w="9525">
            <a:solidFill>
              <a:srgbClr val="D9D9D9"/>
            </a:solidFill>
            <a:prstDash val="solid"/>
          </a:ln>
        </p:spPr>
      </p:sp>
      <p:sp>
        <p:nvSpPr>
          <p:cNvPr id="25" name="Text 22"/>
          <p:cNvSpPr txBox="1"/>
          <p:nvPr/>
        </p:nvSpPr>
        <p:spPr>
          <a:xfrm>
            <a:off x="731520" y="4087368"/>
            <a:ext cx="5029200" cy="1929384"/>
          </a:xfrm>
          <a:prstGeom prst="rect">
            <a:avLst/>
          </a:prstGeom>
          <a:noFill/>
          <a:ln/>
        </p:spPr>
        <p:txBody>
          <a:bodyPr wrap="square" lIns="0" tIns="0" rIns="0" bIns="0" rtlCol="0" anchor="t"/>
          <a:lstStyle/>
          <a:p>
            <a:pPr indent="0" marL="0">
              <a:spcAft>
                <a:spcPts val="400"/>
              </a:spcAft>
              <a:buNone/>
            </a:pPr>
            <a:r>
              <a:rPr lang="en-US" sz="1500" b="1" dirty="0">
                <a:solidFill>
                  <a:srgbClr val="7A1518"/>
                </a:solidFill>
              </a:rPr>
              <a:t>05 · Vacías como fondo</a:t>
            </a:r>
            <a:endParaRPr lang="en-US" sz="1500" dirty="0"/>
          </a:p>
          <a:p>
            <a:pPr indent="0" marL="0">
              <a:spcAft>
                <a:spcPts val="400"/>
              </a:spcAft>
              <a:buNone/>
            </a:pPr>
            <a:r>
              <a:rPr lang="en-US" sz="1400" dirty="0">
                <a:solidFill>
                  <a:srgbClr val="222222"/>
                </a:solidFill>
              </a:rPr>
              <a:t>Descargamos 3 000 fotos vacías de 106 ubicaciones de Caltech que no son de CCT-20, repartidas por ubicación. En YOLO, una imagen con su .txt vacío es un ejemplo negativo. Usamos 2 286 (20 % de las imágenes con animal). Al venir de otras ubicaciones, no filtran información de validación ni de test.</a:t>
            </a:r>
            <a:endParaRPr lang="en-US" sz="1500" dirty="0"/>
          </a:p>
        </p:txBody>
      </p:sp>
      <p:sp>
        <p:nvSpPr>
          <p:cNvPr id="26" name="Shape 23"/>
          <p:cNvSpPr/>
          <p:nvPr/>
        </p:nvSpPr>
        <p:spPr>
          <a:xfrm>
            <a:off x="6217920" y="3977640"/>
            <a:ext cx="5422392" cy="2148840"/>
          </a:xfrm>
          <a:prstGeom prst="roundRect">
            <a:avLst>
              <a:gd name="adj" fmla="val 3404"/>
            </a:avLst>
          </a:prstGeom>
          <a:solidFill>
            <a:srgbClr val="E2EFDA"/>
          </a:solidFill>
          <a:ln w="9525">
            <a:solidFill>
              <a:srgbClr val="8FBF7F"/>
            </a:solidFill>
            <a:prstDash val="solid"/>
          </a:ln>
        </p:spPr>
      </p:sp>
      <p:sp>
        <p:nvSpPr>
          <p:cNvPr id="27" name="Text 24"/>
          <p:cNvSpPr txBox="1"/>
          <p:nvPr/>
        </p:nvSpPr>
        <p:spPr>
          <a:xfrm>
            <a:off x="6400800" y="4069080"/>
            <a:ext cx="5029200" cy="365760"/>
          </a:xfrm>
          <a:prstGeom prst="rect">
            <a:avLst/>
          </a:prstGeom>
          <a:noFill/>
          <a:ln/>
        </p:spPr>
        <p:txBody>
          <a:bodyPr wrap="square" lIns="0" tIns="0" rIns="0" bIns="0" rtlCol="0" anchor="ctr"/>
          <a:lstStyle/>
          <a:p>
            <a:pPr indent="0" marL="0">
              <a:buNone/>
            </a:pPr>
            <a:r>
              <a:rPr lang="en-US" sz="1500" b="1" dirty="0">
                <a:solidFill>
                  <a:srgbClr val="2E7D32"/>
                </a:solidFill>
              </a:rPr>
              <a:t>Conjunto final (14 especies)</a:t>
            </a:r>
            <a:endParaRPr lang="en-US" sz="1500" dirty="0"/>
          </a:p>
        </p:txBody>
      </p:sp>
      <p:sp>
        <p:nvSpPr>
          <p:cNvPr id="28" name="Text 25"/>
          <p:cNvSpPr txBox="1"/>
          <p:nvPr/>
        </p:nvSpPr>
        <p:spPr>
          <a:xfrm>
            <a:off x="6400800" y="4526280"/>
            <a:ext cx="2560320" cy="640080"/>
          </a:xfrm>
          <a:prstGeom prst="rect">
            <a:avLst/>
          </a:prstGeom>
          <a:noFill/>
          <a:ln/>
        </p:spPr>
        <p:txBody>
          <a:bodyPr wrap="square" lIns="0" tIns="0" rIns="0" bIns="0" rtlCol="0" anchor="ctr"/>
          <a:lstStyle/>
          <a:p>
            <a:pPr indent="0" marL="0">
              <a:buNone/>
            </a:pPr>
            <a:r>
              <a:rPr lang="en-US" sz="2000" b="1" dirty="0">
                <a:solidFill>
                  <a:srgbClr val="222222"/>
                </a:solidFill>
              </a:rPr>
              <a:t>13 717  </a:t>
            </a:r>
            <a:pPr indent="0" marL="0">
              <a:buNone/>
            </a:pPr>
            <a:r>
              <a:rPr lang="en-US" sz="1100" dirty="0">
                <a:solidFill>
                  <a:srgbClr val="5A5A5A"/>
                </a:solidFill>
              </a:rPr>
              <a:t>train (11 431 + 2 286 vacías)</a:t>
            </a:r>
            <a:endParaRPr lang="en-US" sz="2000" dirty="0"/>
          </a:p>
        </p:txBody>
      </p:sp>
      <p:sp>
        <p:nvSpPr>
          <p:cNvPr id="29" name="Text 26"/>
          <p:cNvSpPr txBox="1"/>
          <p:nvPr/>
        </p:nvSpPr>
        <p:spPr>
          <a:xfrm>
            <a:off x="9006840" y="4526280"/>
            <a:ext cx="2560320" cy="640080"/>
          </a:xfrm>
          <a:prstGeom prst="rect">
            <a:avLst/>
          </a:prstGeom>
          <a:noFill/>
          <a:ln/>
        </p:spPr>
        <p:txBody>
          <a:bodyPr wrap="square" lIns="0" tIns="0" rIns="0" bIns="0" rtlCol="0" anchor="ctr"/>
          <a:lstStyle/>
          <a:p>
            <a:pPr indent="0" marL="0">
              <a:buNone/>
            </a:pPr>
            <a:r>
              <a:rPr lang="en-US" sz="2000" b="1" dirty="0">
                <a:solidFill>
                  <a:srgbClr val="222222"/>
                </a:solidFill>
              </a:rPr>
              <a:t>4 213  </a:t>
            </a:r>
            <a:pPr indent="0" marL="0">
              <a:buNone/>
            </a:pPr>
            <a:r>
              <a:rPr lang="en-US" sz="1100" dirty="0">
                <a:solidFill>
                  <a:srgbClr val="5A5A5A"/>
                </a:solidFill>
              </a:rPr>
              <a:t>validación cis + trans</a:t>
            </a:r>
            <a:endParaRPr lang="en-US" sz="2000" dirty="0"/>
          </a:p>
        </p:txBody>
      </p:sp>
      <p:sp>
        <p:nvSpPr>
          <p:cNvPr id="30" name="Text 27"/>
          <p:cNvSpPr txBox="1"/>
          <p:nvPr/>
        </p:nvSpPr>
        <p:spPr>
          <a:xfrm>
            <a:off x="6400800" y="5303520"/>
            <a:ext cx="2560320" cy="640080"/>
          </a:xfrm>
          <a:prstGeom prst="rect">
            <a:avLst/>
          </a:prstGeom>
          <a:noFill/>
          <a:ln/>
        </p:spPr>
        <p:txBody>
          <a:bodyPr wrap="square" lIns="0" tIns="0" rIns="0" bIns="0" rtlCol="0" anchor="ctr"/>
          <a:lstStyle/>
          <a:p>
            <a:pPr indent="0" marL="0">
              <a:buNone/>
            </a:pPr>
            <a:r>
              <a:rPr lang="en-US" sz="2000" b="1" dirty="0">
                <a:solidFill>
                  <a:srgbClr val="222222"/>
                </a:solidFill>
              </a:rPr>
              <a:t>13 085  </a:t>
            </a:r>
            <a:pPr indent="0" marL="0">
              <a:buNone/>
            </a:pPr>
            <a:r>
              <a:rPr lang="en-US" sz="1100" dirty="0">
                <a:solidFill>
                  <a:srgbClr val="5A5A5A"/>
                </a:solidFill>
              </a:rPr>
              <a:t>cis_test</a:t>
            </a:r>
            <a:endParaRPr lang="en-US" sz="2000" dirty="0"/>
          </a:p>
        </p:txBody>
      </p:sp>
      <p:sp>
        <p:nvSpPr>
          <p:cNvPr id="31" name="Text 28"/>
          <p:cNvSpPr txBox="1"/>
          <p:nvPr/>
        </p:nvSpPr>
        <p:spPr>
          <a:xfrm>
            <a:off x="9006840" y="5303520"/>
            <a:ext cx="2560320" cy="640080"/>
          </a:xfrm>
          <a:prstGeom prst="rect">
            <a:avLst/>
          </a:prstGeom>
          <a:noFill/>
          <a:ln/>
        </p:spPr>
        <p:txBody>
          <a:bodyPr wrap="square" lIns="0" tIns="0" rIns="0" bIns="0" rtlCol="0" anchor="ctr"/>
          <a:lstStyle/>
          <a:p>
            <a:pPr indent="0" marL="0">
              <a:buNone/>
            </a:pPr>
            <a:r>
              <a:rPr lang="en-US" sz="2000" b="1" dirty="0">
                <a:solidFill>
                  <a:srgbClr val="222222"/>
                </a:solidFill>
              </a:rPr>
              <a:t>18 698  </a:t>
            </a:r>
            <a:pPr indent="0" marL="0">
              <a:buNone/>
            </a:pPr>
            <a:r>
              <a:rPr lang="en-US" sz="1100" dirty="0">
                <a:solidFill>
                  <a:srgbClr val="5A5A5A"/>
                </a:solidFill>
              </a:rPr>
              <a:t>trans_test</a:t>
            </a:r>
            <a:endParaRPr lang="en-US" sz="200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Entrenamiento</a:t>
            </a:r>
            <a:endParaRPr lang="en-US" sz="2700" dirty="0"/>
          </a:p>
        </p:txBody>
      </p:sp>
      <p:sp>
        <p:nvSpPr>
          <p:cNvPr id="3" name="Text 1"/>
          <p:cNvSpPr txBox="1"/>
          <p:nvPr/>
        </p:nvSpPr>
        <p:spPr>
          <a:xfrm>
            <a:off x="548640" y="1033272"/>
            <a:ext cx="11091672" cy="384048"/>
          </a:xfrm>
          <a:prstGeom prst="rect">
            <a:avLst/>
          </a:prstGeom>
          <a:noFill/>
          <a:ln/>
        </p:spPr>
        <p:txBody>
          <a:bodyPr wrap="square" rtlCol="0" anchor="ctr"/>
          <a:lstStyle/>
          <a:p>
            <a:pPr algn="ctr" indent="0" marL="0">
              <a:buNone/>
            </a:pPr>
            <a:r>
              <a:rPr lang="en-US" sz="1700" b="1" dirty="0">
                <a:solidFill>
                  <a:srgbClr val="7A1518"/>
                </a:solidFill>
                <a:latin typeface="Cambria" pitchFamily="34" charset="0"/>
                <a:ea typeface="Cambria" pitchFamily="34" charset="-122"/>
                <a:cs typeface="Cambria" pitchFamily="34" charset="-120"/>
              </a:rPr>
              <a:t>YOLOv8 desde pesos COCO: cada hiperparámetro responde a una característica de los datos</a:t>
            </a:r>
            <a:endParaRPr lang="en-US" sz="17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766560" cy="914400"/>
        </p:xfrm>
        <a:graphic>
          <a:graphicData uri="http://schemas.openxmlformats.org/drawingml/2006/table">
            <a:tbl>
              <a:tblPr/>
              <a:tblGrid>
                <a:gridCol w="1554480"/>
                <a:gridCol w="1737360"/>
                <a:gridCol w="347472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Decisión</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7A151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Valor</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7A151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Por qué</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7A1518"/>
                    </a:solidFill>
                  </a:tcPr>
                </a:tc>
              </a:tr>
              <a:tr h="438912">
                <a:tc>
                  <a:txBody>
                    <a:bodyPr/>
                    <a:lstStyle/>
                    <a:p>
                      <a:pPr indent="0" marL="0">
                        <a:buNone/>
                      </a:pPr>
                      <a:r>
                        <a:rPr lang="en-US" sz="1200" b="1" dirty="0">
                          <a:solidFill>
                            <a:srgbClr val="7A1518"/>
                          </a:solidFill>
                          <a:latin typeface="Calibri" pitchFamily="34" charset="0"/>
                          <a:ea typeface="Calibri" pitchFamily="34" charset="-122"/>
                          <a:cs typeface="Calibri" pitchFamily="34" charset="-120"/>
                        </a:rPr>
                        <a:t>Resolución</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640 px</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Tamaño nativo de los pesos COCO; cabe en una T4 con lote 16–32</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7A1518"/>
                          </a:solidFill>
                          <a:latin typeface="Calibri" pitchFamily="34" charset="0"/>
                          <a:ea typeface="Calibri" pitchFamily="34" charset="-122"/>
                          <a:cs typeface="Calibri" pitchFamily="34" charset="-120"/>
                        </a:rPr>
                        <a:t>Volteo vertical</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4F6"/>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flipud = 0</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4F6"/>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Los animales nunca aparecen de cabeza</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4F6"/>
                    </a:solidFill>
                  </a:tcPr>
                </a:tc>
              </a:tr>
              <a:tr h="438912">
                <a:tc>
                  <a:txBody>
                    <a:bodyPr/>
                    <a:lstStyle/>
                    <a:p>
                      <a:pPr indent="0" marL="0">
                        <a:buNone/>
                      </a:pPr>
                      <a:r>
                        <a:rPr lang="en-US" sz="1200" b="1" dirty="0">
                          <a:solidFill>
                            <a:srgbClr val="7A1518"/>
                          </a:solidFill>
                          <a:latin typeface="Calibri" pitchFamily="34" charset="0"/>
                          <a:ea typeface="Calibri" pitchFamily="34" charset="-122"/>
                          <a:cs typeface="Calibri" pitchFamily="34" charset="-120"/>
                        </a:rPr>
                        <a:t>Saturación</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hsv_s = 0,4</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Más de la mitad de las fotos son infrarrojas (gris)</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7A1518"/>
                          </a:solidFill>
                          <a:latin typeface="Calibri" pitchFamily="34" charset="0"/>
                          <a:ea typeface="Calibri" pitchFamily="34" charset="-122"/>
                          <a:cs typeface="Calibri" pitchFamily="34" charset="-120"/>
                        </a:rPr>
                        <a:t>Mosaico</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4F6"/>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cerrado en las 5 últimas</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4F6"/>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Que el modelo termine viendo escenas completas</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4F6"/>
                    </a:solidFill>
                  </a:tcPr>
                </a:tc>
              </a:tr>
              <a:tr h="438912">
                <a:tc>
                  <a:txBody>
                    <a:bodyPr/>
                    <a:lstStyle/>
                    <a:p>
                      <a:pPr indent="0" marL="0">
                        <a:buNone/>
                      </a:pPr>
                      <a:r>
                        <a:rPr lang="en-US" sz="1200" b="1" dirty="0">
                          <a:solidFill>
                            <a:srgbClr val="7A1518"/>
                          </a:solidFill>
                          <a:latin typeface="Calibri" pitchFamily="34" charset="0"/>
                          <a:ea typeface="Calibri" pitchFamily="34" charset="-122"/>
                          <a:cs typeface="Calibri" pitchFamily="34" charset="-120"/>
                        </a:rPr>
                        <a:t>Parada temprana</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patience = 10</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Corta si el mAP de validación deja de subir</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7A1518"/>
                          </a:solidFill>
                          <a:latin typeface="Calibri" pitchFamily="34" charset="0"/>
                          <a:ea typeface="Calibri" pitchFamily="34" charset="-122"/>
                          <a:cs typeface="Calibri" pitchFamily="34" charset="-120"/>
                        </a:rPr>
                        <a:t>Semilla</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4F6"/>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42</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4F6"/>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Reproducibilidad</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4F6"/>
                    </a:solidFill>
                  </a:tcPr>
                </a:tc>
              </a:tr>
            </a:tbl>
          </a:graphicData>
        </a:graphic>
      </p:graphicFrame>
      <p:sp>
        <p:nvSpPr>
          <p:cNvPr id="6" name="Shape 2"/>
          <p:cNvSpPr/>
          <p:nvPr/>
        </p:nvSpPr>
        <p:spPr>
          <a:xfrm>
            <a:off x="7589520" y="1645920"/>
            <a:ext cx="4050792" cy="2514600"/>
          </a:xfrm>
          <a:prstGeom prst="roundRect">
            <a:avLst>
              <a:gd name="adj" fmla="val 2909"/>
            </a:avLst>
          </a:prstGeom>
          <a:solidFill>
            <a:srgbClr val="262A33"/>
          </a:solidFill>
          <a:ln w="9525">
            <a:solidFill>
              <a:srgbClr val="262A33"/>
            </a:solidFill>
            <a:prstDash val="solid"/>
          </a:ln>
        </p:spPr>
      </p:sp>
      <p:sp>
        <p:nvSpPr>
          <p:cNvPr id="7" name="Text 3"/>
          <p:cNvSpPr txBox="1"/>
          <p:nvPr/>
        </p:nvSpPr>
        <p:spPr>
          <a:xfrm>
            <a:off x="7772400" y="1719072"/>
            <a:ext cx="3685032" cy="274320"/>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train · run_all.py</a:t>
            </a:r>
            <a:endParaRPr lang="en-US" sz="1000" dirty="0"/>
          </a:p>
        </p:txBody>
      </p:sp>
      <p:sp>
        <p:nvSpPr>
          <p:cNvPr id="8" name="Text 4"/>
          <p:cNvSpPr txBox="1"/>
          <p:nvPr/>
        </p:nvSpPr>
        <p:spPr>
          <a:xfrm>
            <a:off x="7772400" y="2029968"/>
            <a:ext cx="3685032" cy="2011680"/>
          </a:xfrm>
          <a:prstGeom prst="rect">
            <a:avLst/>
          </a:prstGeom>
          <a:noFill/>
          <a:ln/>
        </p:spPr>
        <p:txBody>
          <a:bodyPr wrap="square" lIns="0" tIns="0" rIns="0" bIns="0" rtlCol="0" anchor="t"/>
          <a:lstStyle/>
          <a:p>
            <a:pPr indent="0" marL="0">
              <a:buNone/>
            </a:pPr>
            <a:r>
              <a:rPr lang="en-US" sz="1100" dirty="0">
                <a:solidFill>
                  <a:srgbClr val="E6E6E6"/>
                </a:solidFill>
                <a:latin typeface="Consolas" pitchFamily="34" charset="0"/>
                <a:ea typeface="Consolas" pitchFamily="34" charset="-122"/>
                <a:cs typeface="Consolas" pitchFamily="34" charset="-120"/>
              </a:rPr>
              <a:t>COMUN = dict(</a:t>
            </a:r>
            <a:endParaRPr lang="en-US" sz="1100" dirty="0"/>
          </a:p>
          <a:p>
            <a:pPr indent="0" marL="0">
              <a:buNone/>
            </a:pPr>
            <a:r>
              <a:rPr lang="en-US" sz="1100" dirty="0">
                <a:solidFill>
                  <a:srgbClr val="E6E6E6"/>
                </a:solidFill>
                <a:latin typeface="Consolas" pitchFamily="34" charset="0"/>
                <a:ea typeface="Consolas" pitchFamily="34" charset="-122"/>
                <a:cs typeface="Consolas" pitchFamily="34" charset="-120"/>
              </a:rPr>
              <a:t>  imgsz=640, epochs=30, batch=32,</a:t>
            </a:r>
            <a:endParaRPr lang="en-US" sz="1100" dirty="0"/>
          </a:p>
          <a:p>
            <a:pPr indent="0" marL="0">
              <a:buNone/>
            </a:pPr>
            <a:r>
              <a:rPr lang="en-US" sz="1100" dirty="0">
                <a:solidFill>
                  <a:srgbClr val="E6E6E6"/>
                </a:solidFill>
                <a:latin typeface="Consolas" pitchFamily="34" charset="0"/>
                <a:ea typeface="Consolas" pitchFamily="34" charset="-122"/>
                <a:cs typeface="Consolas" pitchFamily="34" charset="-120"/>
              </a:rPr>
              <a:t>  seed=42, patience=10,</a:t>
            </a:r>
            <a:endParaRPr lang="en-US" sz="1100" dirty="0"/>
          </a:p>
          <a:p>
            <a:pPr indent="0" marL="0">
              <a:buNone/>
            </a:pPr>
            <a:r>
              <a:rPr lang="en-US" sz="1100" dirty="0">
                <a:solidFill>
                  <a:srgbClr val="E6E6E6"/>
                </a:solidFill>
                <a:latin typeface="Consolas" pitchFamily="34" charset="0"/>
                <a:ea typeface="Consolas" pitchFamily="34" charset="-122"/>
                <a:cs typeface="Consolas" pitchFamily="34" charset="-120"/>
              </a:rPr>
              <a:t>  fliplr=0.5, flipud=0.0,</a:t>
            </a:r>
            <a:endParaRPr lang="en-US" sz="1100" dirty="0"/>
          </a:p>
          <a:p>
            <a:pPr indent="0" marL="0">
              <a:buNone/>
            </a:pPr>
            <a:r>
              <a:rPr lang="en-US" sz="1100" dirty="0">
                <a:solidFill>
                  <a:srgbClr val="E6E6E6"/>
                </a:solidFill>
                <a:latin typeface="Consolas" pitchFamily="34" charset="0"/>
                <a:ea typeface="Consolas" pitchFamily="34" charset="-122"/>
                <a:cs typeface="Consolas" pitchFamily="34" charset="-120"/>
              </a:rPr>
              <a:t>  hsv_s=0.4, close_mosaic=5)</a:t>
            </a:r>
            <a:endParaRPr lang="en-US" sz="1100" dirty="0"/>
          </a:p>
          <a:p>
            <a:pPr indent="0" marL="0">
              <a:buNone/>
            </a:pPr>
            <a:endParaRPr lang="en-US" sz="1100" dirty="0"/>
          </a:p>
          <a:p>
            <a:pPr indent="0" marL="0">
              <a:buNone/>
            </a:pPr>
            <a:r>
              <a:rPr lang="en-US" sz="1100" dirty="0">
                <a:solidFill>
                  <a:srgbClr val="E6E6E6"/>
                </a:solidFill>
                <a:latin typeface="Consolas" pitchFamily="34" charset="0"/>
                <a:ea typeface="Consolas" pitchFamily="34" charset="-122"/>
                <a:cs typeface="Consolas" pitchFamily="34" charset="-120"/>
              </a:rPr>
              <a:t>YOLO("yolov8s.pt").train(</a:t>
            </a:r>
            <a:endParaRPr lang="en-US" sz="1100" dirty="0"/>
          </a:p>
          <a:p>
            <a:pPr indent="0" marL="0">
              <a:buNone/>
            </a:pPr>
            <a:r>
              <a:rPr lang="en-US" sz="1100" dirty="0">
                <a:solidFill>
                  <a:srgbClr val="E6E6E6"/>
                </a:solidFill>
                <a:latin typeface="Consolas" pitchFamily="34" charset="0"/>
                <a:ea typeface="Consolas" pitchFamily="34" charset="-122"/>
                <a:cs typeface="Consolas" pitchFamily="34" charset="-120"/>
              </a:rPr>
              <a:t>  data="cct.yaml", epochs=50, **COMUN)</a:t>
            </a:r>
            <a:endParaRPr lang="en-US" sz="1100" dirty="0"/>
          </a:p>
        </p:txBody>
      </p:sp>
      <p:sp>
        <p:nvSpPr>
          <p:cNvPr id="9" name="Shape 5"/>
          <p:cNvSpPr/>
          <p:nvPr/>
        </p:nvSpPr>
        <p:spPr>
          <a:xfrm>
            <a:off x="7589520" y="4343400"/>
            <a:ext cx="4050792" cy="1783080"/>
          </a:xfrm>
          <a:prstGeom prst="roundRect">
            <a:avLst>
              <a:gd name="adj" fmla="val 4103"/>
            </a:avLst>
          </a:prstGeom>
          <a:solidFill>
            <a:srgbClr val="E3EAF4"/>
          </a:solidFill>
          <a:ln w="9525">
            <a:solidFill>
              <a:srgbClr val="B4C6E7"/>
            </a:solidFill>
            <a:prstDash val="solid"/>
          </a:ln>
        </p:spPr>
      </p:sp>
      <p:sp>
        <p:nvSpPr>
          <p:cNvPr id="10" name="Text 6"/>
          <p:cNvSpPr txBox="1"/>
          <p:nvPr/>
        </p:nvSpPr>
        <p:spPr>
          <a:xfrm>
            <a:off x="7772400" y="4453128"/>
            <a:ext cx="3685032" cy="1563624"/>
          </a:xfrm>
          <a:prstGeom prst="rect">
            <a:avLst/>
          </a:prstGeom>
          <a:noFill/>
          <a:ln/>
        </p:spPr>
        <p:txBody>
          <a:bodyPr wrap="square" lIns="0" tIns="0" rIns="0" bIns="0" rtlCol="0" anchor="t"/>
          <a:lstStyle/>
          <a:p>
            <a:pPr indent="0" marL="0">
              <a:spcAft>
                <a:spcPts val="400"/>
              </a:spcAft>
              <a:buNone/>
            </a:pPr>
            <a:r>
              <a:rPr lang="en-US" sz="1300" b="1" dirty="0">
                <a:solidFill>
                  <a:srgbClr val="1F3B66"/>
                </a:solidFill>
              </a:rPr>
              <a:t>Tres experimentos</a:t>
            </a:r>
            <a:endParaRPr lang="en-US" sz="1300" dirty="0"/>
          </a:p>
          <a:p>
            <a:pPr indent="0" marL="0">
              <a:spcAft>
                <a:spcPts val="400"/>
              </a:spcAft>
              <a:buNone/>
            </a:pPr>
            <a:r>
              <a:rPr lang="en-US" sz="1200" dirty="0">
                <a:solidFill>
                  <a:srgbClr val="222222"/>
                </a:solidFill>
              </a:rPr>
              <a:t>E1 y E2: YOLOv8n, 30 épocas, solo cambian las vacías.</a:t>
            </a:r>
            <a:endParaRPr lang="en-US" sz="1300" dirty="0"/>
          </a:p>
          <a:p>
            <a:pPr indent="0" marL="0">
              <a:spcAft>
                <a:spcPts val="400"/>
              </a:spcAft>
              <a:buNone/>
            </a:pPr>
            <a:r>
              <a:rPr lang="en-US" sz="1200" dirty="0">
                <a:solidFill>
                  <a:srgbClr val="222222"/>
                </a:solidFill>
              </a:rPr>
              <a:t>E3: YOLOv8s, 50 épocas, modelo final. Se detuvo en la época 44 (mejor: 34).</a:t>
            </a:r>
            <a:endParaRPr lang="en-US" sz="130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Efecto de las imágenes vacías</a:t>
            </a:r>
            <a:endParaRPr lang="en-US" sz="2700" dirty="0"/>
          </a:p>
        </p:txBody>
      </p:sp>
      <p:sp>
        <p:nvSpPr>
          <p:cNvPr id="3" name="Text 1"/>
          <p:cNvSpPr txBox="1"/>
          <p:nvPr/>
        </p:nvSpPr>
        <p:spPr>
          <a:xfrm>
            <a:off x="548640" y="1033272"/>
            <a:ext cx="11091672" cy="384048"/>
          </a:xfrm>
          <a:prstGeom prst="rect">
            <a:avLst/>
          </a:prstGeom>
          <a:noFill/>
          <a:ln/>
        </p:spPr>
        <p:txBody>
          <a:bodyPr wrap="square" rtlCol="0" anchor="ctr"/>
          <a:lstStyle/>
          <a:p>
            <a:pPr algn="ctr" indent="0" marL="0">
              <a:buNone/>
            </a:pPr>
            <a:r>
              <a:rPr lang="en-US" sz="1700" b="1" dirty="0">
                <a:solidFill>
                  <a:srgbClr val="7A1518"/>
                </a:solidFill>
                <a:latin typeface="Cambria" pitchFamily="34" charset="0"/>
                <a:ea typeface="Cambria" pitchFamily="34" charset="-122"/>
                <a:cs typeface="Cambria" pitchFamily="34" charset="-120"/>
              </a:rPr>
              <a:t>E1 · Agregar vacías reduce a la mitad los falsos disparos y además sube el mAP</a:t>
            </a:r>
            <a:endParaRPr lang="en-US" sz="1700" dirty="0"/>
          </a:p>
        </p:txBody>
      </p:sp>
      <p:graphicFrame>
        <p:nvGraphicFramePr>
          <p:cNvPr id="5" name="Chart 0" descr=""/>
          <p:cNvGraphicFramePr/>
          <p:nvPr/>
        </p:nvGraphicFramePr>
        <p:xfrm>
          <a:off x="548640" y="1554480"/>
          <a:ext cx="548640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309360" y="1554480"/>
          <a:ext cx="5303520" cy="365760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48640" y="5349240"/>
            <a:ext cx="11091672" cy="822960"/>
          </a:xfrm>
          <a:prstGeom prst="roundRect">
            <a:avLst>
              <a:gd name="adj" fmla="val 8889"/>
            </a:avLst>
          </a:prstGeom>
          <a:solidFill>
            <a:srgbClr val="E2EFDA"/>
          </a:solidFill>
          <a:ln w="9525">
            <a:solidFill>
              <a:srgbClr val="8FBF7F"/>
            </a:solidFill>
            <a:prstDash val="solid"/>
          </a:ln>
        </p:spPr>
      </p:sp>
      <p:sp>
        <p:nvSpPr>
          <p:cNvPr id="8" name="Text 3"/>
          <p:cNvSpPr txBox="1"/>
          <p:nvPr/>
        </p:nvSpPr>
        <p:spPr>
          <a:xfrm>
            <a:off x="731520" y="5458968"/>
            <a:ext cx="10725912" cy="603504"/>
          </a:xfrm>
          <a:prstGeom prst="rect">
            <a:avLst/>
          </a:prstGeom>
          <a:noFill/>
          <a:ln/>
        </p:spPr>
        <p:txBody>
          <a:bodyPr wrap="square" lIns="0" tIns="0" rIns="0" bIns="0" rtlCol="0" anchor="t"/>
          <a:lstStyle/>
          <a:p>
            <a:pPr indent="0" marL="0">
              <a:spcAft>
                <a:spcPts val="400"/>
              </a:spcAft>
              <a:buNone/>
            </a:pPr>
            <a:r>
              <a:rPr lang="en-US" sz="1300" b="1" dirty="0">
                <a:solidFill>
                  <a:srgbClr val="2E7D32"/>
                </a:solidFill>
              </a:rPr>
              <a:t>Métrica propia · falsos disparos</a:t>
            </a:r>
            <a:endParaRPr lang="en-US" sz="1300" dirty="0"/>
          </a:p>
          <a:p>
            <a:pPr indent="0" marL="0">
              <a:spcAft>
                <a:spcPts val="400"/>
              </a:spcAft>
              <a:buNone/>
            </a:pPr>
            <a:r>
              <a:rPr lang="en-US" sz="1200" dirty="0">
                <a:solidFill>
                  <a:srgbClr val="222222"/>
                </a:solidFill>
              </a:rPr>
              <a:t>Porcentaje de imágenes vacías con al menos una detección de confianza ≥ 0,5: es lo que decide cuántas fotos vacías llegarían al revisor humano.</a:t>
            </a:r>
            <a:endParaRPr lang="en-US" sz="130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Resultados: cis frente a trans</a:t>
            </a:r>
            <a:endParaRPr lang="en-US" sz="2700" dirty="0"/>
          </a:p>
        </p:txBody>
      </p:sp>
      <p:sp>
        <p:nvSpPr>
          <p:cNvPr id="3" name="Text 1"/>
          <p:cNvSpPr txBox="1"/>
          <p:nvPr/>
        </p:nvSpPr>
        <p:spPr>
          <a:xfrm>
            <a:off x="548640" y="1033272"/>
            <a:ext cx="11091672" cy="384048"/>
          </a:xfrm>
          <a:prstGeom prst="rect">
            <a:avLst/>
          </a:prstGeom>
          <a:noFill/>
          <a:ln/>
        </p:spPr>
        <p:txBody>
          <a:bodyPr wrap="square" rtlCol="0" anchor="ctr"/>
          <a:lstStyle/>
          <a:p>
            <a:pPr algn="ctr" indent="0" marL="0">
              <a:buNone/>
            </a:pPr>
            <a:r>
              <a:rPr lang="en-US" sz="1700" b="1" dirty="0">
                <a:solidFill>
                  <a:srgbClr val="7A1518"/>
                </a:solidFill>
                <a:latin typeface="Cambria" pitchFamily="34" charset="0"/>
                <a:ea typeface="Cambria" pitchFamily="34" charset="-122"/>
                <a:cs typeface="Cambria" pitchFamily="34" charset="-120"/>
              </a:rPr>
              <a:t>E2 · En cámaras nuevas el mAP@0.5 cae 26 puntos: se pierde recall, no precisión</a:t>
            </a:r>
            <a:endParaRPr lang="en-US" sz="1700" dirty="0"/>
          </a:p>
        </p:txBody>
      </p:sp>
      <p:sp>
        <p:nvSpPr>
          <p:cNvPr id="5" name="Shape 2"/>
          <p:cNvSpPr/>
          <p:nvPr/>
        </p:nvSpPr>
        <p:spPr>
          <a:xfrm>
            <a:off x="548640" y="1645920"/>
            <a:ext cx="5394960" cy="3017520"/>
          </a:xfrm>
          <a:prstGeom prst="roundRect">
            <a:avLst>
              <a:gd name="adj" fmla="val 2424"/>
            </a:avLst>
          </a:prstGeom>
          <a:solidFill>
            <a:srgbClr val="E2EFDA"/>
          </a:solidFill>
          <a:ln w="9525">
            <a:solidFill>
              <a:srgbClr val="8FBF7F"/>
            </a:solidFill>
            <a:prstDash val="solid"/>
          </a:ln>
        </p:spPr>
      </p:sp>
      <p:sp>
        <p:nvSpPr>
          <p:cNvPr id="6" name="Text 3"/>
          <p:cNvSpPr txBox="1"/>
          <p:nvPr/>
        </p:nvSpPr>
        <p:spPr>
          <a:xfrm>
            <a:off x="731520" y="1737360"/>
            <a:ext cx="5029200" cy="365760"/>
          </a:xfrm>
          <a:prstGeom prst="rect">
            <a:avLst/>
          </a:prstGeom>
          <a:noFill/>
          <a:ln/>
        </p:spPr>
        <p:txBody>
          <a:bodyPr wrap="square" lIns="0" tIns="0" rIns="0" bIns="0" rtlCol="0" anchor="ctr"/>
          <a:lstStyle/>
          <a:p>
            <a:pPr indent="0" marL="0">
              <a:buNone/>
            </a:pPr>
            <a:r>
              <a:rPr lang="en-US" sz="1600" b="1" dirty="0">
                <a:solidFill>
                  <a:srgbClr val="2E7D32"/>
                </a:solidFill>
                <a:latin typeface="Consolas" pitchFamily="34" charset="0"/>
                <a:ea typeface="Consolas" pitchFamily="34" charset="-122"/>
                <a:cs typeface="Consolas" pitchFamily="34" charset="-120"/>
              </a:rPr>
              <a:t>cis_test · 13 085 imágenes</a:t>
            </a:r>
            <a:endParaRPr lang="en-US" sz="1600" dirty="0"/>
          </a:p>
        </p:txBody>
      </p:sp>
      <p:sp>
        <p:nvSpPr>
          <p:cNvPr id="7" name="Text 4"/>
          <p:cNvSpPr txBox="1"/>
          <p:nvPr/>
        </p:nvSpPr>
        <p:spPr>
          <a:xfrm>
            <a:off x="731520" y="2194560"/>
            <a:ext cx="2468880" cy="914400"/>
          </a:xfrm>
          <a:prstGeom prst="rect">
            <a:avLst/>
          </a:prstGeom>
          <a:noFill/>
          <a:ln/>
        </p:spPr>
        <p:txBody>
          <a:bodyPr wrap="square" lIns="0" tIns="0" rIns="0" bIns="0" rtlCol="0" anchor="ctr"/>
          <a:lstStyle/>
          <a:p>
            <a:pPr algn="ctr" indent="0" marL="0">
              <a:buNone/>
            </a:pPr>
            <a:r>
              <a:rPr lang="en-US" sz="4400" b="1" dirty="0">
                <a:solidFill>
                  <a:srgbClr val="2E7D32"/>
                </a:solidFill>
              </a:rPr>
              <a:t>0,721</a:t>
            </a:r>
            <a:endParaRPr lang="en-US" sz="4400" dirty="0"/>
          </a:p>
        </p:txBody>
      </p:sp>
      <p:sp>
        <p:nvSpPr>
          <p:cNvPr id="8" name="Text 5"/>
          <p:cNvSpPr txBox="1"/>
          <p:nvPr/>
        </p:nvSpPr>
        <p:spPr>
          <a:xfrm>
            <a:off x="731520" y="3063240"/>
            <a:ext cx="2468880" cy="320040"/>
          </a:xfrm>
          <a:prstGeom prst="rect">
            <a:avLst/>
          </a:prstGeom>
          <a:noFill/>
          <a:ln/>
        </p:spPr>
        <p:txBody>
          <a:bodyPr wrap="square" lIns="0" tIns="0" rIns="0" bIns="0" rtlCol="0" anchor="ctr"/>
          <a:lstStyle/>
          <a:p>
            <a:pPr algn="ctr" indent="0" marL="0">
              <a:buNone/>
            </a:pPr>
            <a:r>
              <a:rPr lang="en-US" sz="1200" dirty="0">
                <a:solidFill>
                  <a:srgbClr val="5A5A5A"/>
                </a:solidFill>
              </a:rPr>
              <a:t>mAP@0.5</a:t>
            </a:r>
            <a:endParaRPr lang="en-US" sz="1200" dirty="0"/>
          </a:p>
        </p:txBody>
      </p:sp>
      <p:sp>
        <p:nvSpPr>
          <p:cNvPr id="9" name="Text 6"/>
          <p:cNvSpPr txBox="1"/>
          <p:nvPr/>
        </p:nvSpPr>
        <p:spPr>
          <a:xfrm>
            <a:off x="3337560" y="2194560"/>
            <a:ext cx="2468880" cy="914400"/>
          </a:xfrm>
          <a:prstGeom prst="rect">
            <a:avLst/>
          </a:prstGeom>
          <a:noFill/>
          <a:ln/>
        </p:spPr>
        <p:txBody>
          <a:bodyPr wrap="square" lIns="0" tIns="0" rIns="0" bIns="0" rtlCol="0" anchor="ctr"/>
          <a:lstStyle/>
          <a:p>
            <a:pPr algn="ctr" indent="0" marL="0">
              <a:buNone/>
            </a:pPr>
            <a:r>
              <a:rPr lang="en-US" sz="4400" b="1" dirty="0">
                <a:solidFill>
                  <a:srgbClr val="2E7D32"/>
                </a:solidFill>
              </a:rPr>
              <a:t>0,463</a:t>
            </a:r>
            <a:endParaRPr lang="en-US" sz="4400" dirty="0"/>
          </a:p>
        </p:txBody>
      </p:sp>
      <p:sp>
        <p:nvSpPr>
          <p:cNvPr id="10" name="Text 7"/>
          <p:cNvSpPr txBox="1"/>
          <p:nvPr/>
        </p:nvSpPr>
        <p:spPr>
          <a:xfrm>
            <a:off x="3337560" y="3063240"/>
            <a:ext cx="2468880" cy="320040"/>
          </a:xfrm>
          <a:prstGeom prst="rect">
            <a:avLst/>
          </a:prstGeom>
          <a:noFill/>
          <a:ln/>
        </p:spPr>
        <p:txBody>
          <a:bodyPr wrap="square" lIns="0" tIns="0" rIns="0" bIns="0" rtlCol="0" anchor="ctr"/>
          <a:lstStyle/>
          <a:p>
            <a:pPr algn="ctr" indent="0" marL="0">
              <a:buNone/>
            </a:pPr>
            <a:r>
              <a:rPr lang="en-US" sz="1200" dirty="0">
                <a:solidFill>
                  <a:srgbClr val="5A5A5A"/>
                </a:solidFill>
              </a:rPr>
              <a:t>mAP@0.5:0.95</a:t>
            </a:r>
            <a:endParaRPr lang="en-US" sz="1200" dirty="0"/>
          </a:p>
        </p:txBody>
      </p:sp>
      <p:sp>
        <p:nvSpPr>
          <p:cNvPr id="11" name="Text 8"/>
          <p:cNvSpPr txBox="1"/>
          <p:nvPr/>
        </p:nvSpPr>
        <p:spPr>
          <a:xfrm>
            <a:off x="731520" y="3749040"/>
            <a:ext cx="5029200" cy="640080"/>
          </a:xfrm>
          <a:prstGeom prst="rect">
            <a:avLst/>
          </a:prstGeom>
          <a:noFill/>
          <a:ln/>
        </p:spPr>
        <p:txBody>
          <a:bodyPr wrap="square" lIns="0" tIns="0" rIns="0" bIns="0" rtlCol="0" anchor="ctr"/>
          <a:lstStyle/>
          <a:p>
            <a:pPr algn="ctr" indent="0" marL="0">
              <a:buNone/>
            </a:pPr>
            <a:r>
              <a:rPr lang="en-US" sz="1300" dirty="0">
                <a:solidFill>
                  <a:srgbClr val="222222"/>
                </a:solidFill>
              </a:rPr>
              <a:t>Precisión 0,87  ·  Recall 0,66  ·  Falsos disparos 3,6 %</a:t>
            </a:r>
            <a:endParaRPr lang="en-US" sz="1300" dirty="0"/>
          </a:p>
        </p:txBody>
      </p:sp>
      <p:sp>
        <p:nvSpPr>
          <p:cNvPr id="12" name="Shape 9"/>
          <p:cNvSpPr/>
          <p:nvPr/>
        </p:nvSpPr>
        <p:spPr>
          <a:xfrm>
            <a:off x="6245352" y="1645920"/>
            <a:ext cx="5394960" cy="3017520"/>
          </a:xfrm>
          <a:prstGeom prst="roundRect">
            <a:avLst>
              <a:gd name="adj" fmla="val 2424"/>
            </a:avLst>
          </a:prstGeom>
          <a:solidFill>
            <a:srgbClr val="F6E4E4"/>
          </a:solidFill>
          <a:ln w="9525">
            <a:solidFill>
              <a:srgbClr val="F2B8B8"/>
            </a:solidFill>
            <a:prstDash val="solid"/>
          </a:ln>
        </p:spPr>
      </p:sp>
      <p:sp>
        <p:nvSpPr>
          <p:cNvPr id="13" name="Text 10"/>
          <p:cNvSpPr txBox="1"/>
          <p:nvPr/>
        </p:nvSpPr>
        <p:spPr>
          <a:xfrm>
            <a:off x="6428232" y="1737360"/>
            <a:ext cx="5029200" cy="365760"/>
          </a:xfrm>
          <a:prstGeom prst="rect">
            <a:avLst/>
          </a:prstGeom>
          <a:noFill/>
          <a:ln/>
        </p:spPr>
        <p:txBody>
          <a:bodyPr wrap="square" lIns="0" tIns="0" rIns="0" bIns="0" rtlCol="0" anchor="ctr"/>
          <a:lstStyle/>
          <a:p>
            <a:pPr indent="0" marL="0">
              <a:buNone/>
            </a:pPr>
            <a:r>
              <a:rPr lang="en-US" sz="1600" b="1" dirty="0">
                <a:solidFill>
                  <a:srgbClr val="7A1518"/>
                </a:solidFill>
                <a:latin typeface="Consolas" pitchFamily="34" charset="0"/>
                <a:ea typeface="Consolas" pitchFamily="34" charset="-122"/>
                <a:cs typeface="Consolas" pitchFamily="34" charset="-120"/>
              </a:rPr>
              <a:t>trans_test · 18 698 imágenes</a:t>
            </a:r>
            <a:endParaRPr lang="en-US" sz="1600" dirty="0"/>
          </a:p>
        </p:txBody>
      </p:sp>
      <p:sp>
        <p:nvSpPr>
          <p:cNvPr id="14" name="Text 11"/>
          <p:cNvSpPr txBox="1"/>
          <p:nvPr/>
        </p:nvSpPr>
        <p:spPr>
          <a:xfrm>
            <a:off x="6428232" y="2194560"/>
            <a:ext cx="2468880" cy="914400"/>
          </a:xfrm>
          <a:prstGeom prst="rect">
            <a:avLst/>
          </a:prstGeom>
          <a:noFill/>
          <a:ln/>
        </p:spPr>
        <p:txBody>
          <a:bodyPr wrap="square" lIns="0" tIns="0" rIns="0" bIns="0" rtlCol="0" anchor="ctr"/>
          <a:lstStyle/>
          <a:p>
            <a:pPr algn="ctr" indent="0" marL="0">
              <a:buNone/>
            </a:pPr>
            <a:r>
              <a:rPr lang="en-US" sz="4400" b="1" dirty="0">
                <a:solidFill>
                  <a:srgbClr val="7A1518"/>
                </a:solidFill>
              </a:rPr>
              <a:t>0,459</a:t>
            </a:r>
            <a:endParaRPr lang="en-US" sz="4400" dirty="0"/>
          </a:p>
        </p:txBody>
      </p:sp>
      <p:sp>
        <p:nvSpPr>
          <p:cNvPr id="15" name="Text 12"/>
          <p:cNvSpPr txBox="1"/>
          <p:nvPr/>
        </p:nvSpPr>
        <p:spPr>
          <a:xfrm>
            <a:off x="6428232" y="3063240"/>
            <a:ext cx="2468880" cy="320040"/>
          </a:xfrm>
          <a:prstGeom prst="rect">
            <a:avLst/>
          </a:prstGeom>
          <a:noFill/>
          <a:ln/>
        </p:spPr>
        <p:txBody>
          <a:bodyPr wrap="square" lIns="0" tIns="0" rIns="0" bIns="0" rtlCol="0" anchor="ctr"/>
          <a:lstStyle/>
          <a:p>
            <a:pPr algn="ctr" indent="0" marL="0">
              <a:buNone/>
            </a:pPr>
            <a:r>
              <a:rPr lang="en-US" sz="1200" dirty="0">
                <a:solidFill>
                  <a:srgbClr val="5A5A5A"/>
                </a:solidFill>
              </a:rPr>
              <a:t>mAP@0.5</a:t>
            </a:r>
            <a:endParaRPr lang="en-US" sz="1200" dirty="0"/>
          </a:p>
        </p:txBody>
      </p:sp>
      <p:sp>
        <p:nvSpPr>
          <p:cNvPr id="16" name="Text 13"/>
          <p:cNvSpPr txBox="1"/>
          <p:nvPr/>
        </p:nvSpPr>
        <p:spPr>
          <a:xfrm>
            <a:off x="9034272" y="2194560"/>
            <a:ext cx="2468880" cy="914400"/>
          </a:xfrm>
          <a:prstGeom prst="rect">
            <a:avLst/>
          </a:prstGeom>
          <a:noFill/>
          <a:ln/>
        </p:spPr>
        <p:txBody>
          <a:bodyPr wrap="square" lIns="0" tIns="0" rIns="0" bIns="0" rtlCol="0" anchor="ctr"/>
          <a:lstStyle/>
          <a:p>
            <a:pPr algn="ctr" indent="0" marL="0">
              <a:buNone/>
            </a:pPr>
            <a:r>
              <a:rPr lang="en-US" sz="4400" b="1" dirty="0">
                <a:solidFill>
                  <a:srgbClr val="7A1518"/>
                </a:solidFill>
              </a:rPr>
              <a:t>0,286</a:t>
            </a:r>
            <a:endParaRPr lang="en-US" sz="4400" dirty="0"/>
          </a:p>
        </p:txBody>
      </p:sp>
      <p:sp>
        <p:nvSpPr>
          <p:cNvPr id="17" name="Text 14"/>
          <p:cNvSpPr txBox="1"/>
          <p:nvPr/>
        </p:nvSpPr>
        <p:spPr>
          <a:xfrm>
            <a:off x="9034272" y="3063240"/>
            <a:ext cx="2468880" cy="320040"/>
          </a:xfrm>
          <a:prstGeom prst="rect">
            <a:avLst/>
          </a:prstGeom>
          <a:noFill/>
          <a:ln/>
        </p:spPr>
        <p:txBody>
          <a:bodyPr wrap="square" lIns="0" tIns="0" rIns="0" bIns="0" rtlCol="0" anchor="ctr"/>
          <a:lstStyle/>
          <a:p>
            <a:pPr algn="ctr" indent="0" marL="0">
              <a:buNone/>
            </a:pPr>
            <a:r>
              <a:rPr lang="en-US" sz="1200" dirty="0">
                <a:solidFill>
                  <a:srgbClr val="5A5A5A"/>
                </a:solidFill>
              </a:rPr>
              <a:t>mAP@0.5:0.95</a:t>
            </a:r>
            <a:endParaRPr lang="en-US" sz="1200" dirty="0"/>
          </a:p>
        </p:txBody>
      </p:sp>
      <p:sp>
        <p:nvSpPr>
          <p:cNvPr id="18" name="Text 15"/>
          <p:cNvSpPr txBox="1"/>
          <p:nvPr/>
        </p:nvSpPr>
        <p:spPr>
          <a:xfrm>
            <a:off x="6428232" y="3749040"/>
            <a:ext cx="5029200" cy="640080"/>
          </a:xfrm>
          <a:prstGeom prst="rect">
            <a:avLst/>
          </a:prstGeom>
          <a:noFill/>
          <a:ln/>
        </p:spPr>
        <p:txBody>
          <a:bodyPr wrap="square" lIns="0" tIns="0" rIns="0" bIns="0" rtlCol="0" anchor="ctr"/>
          <a:lstStyle/>
          <a:p>
            <a:pPr algn="ctr" indent="0" marL="0">
              <a:buNone/>
            </a:pPr>
            <a:r>
              <a:rPr lang="en-US" sz="1300" dirty="0">
                <a:solidFill>
                  <a:srgbClr val="222222"/>
                </a:solidFill>
              </a:rPr>
              <a:t>Precisión 0,67  ·  Recall 0,42  ·  Falsos disparos 4,3 %</a:t>
            </a:r>
            <a:endParaRPr lang="en-US" sz="1300" dirty="0"/>
          </a:p>
        </p:txBody>
      </p:sp>
      <p:sp>
        <p:nvSpPr>
          <p:cNvPr id="19" name="Shape 16"/>
          <p:cNvSpPr/>
          <p:nvPr/>
        </p:nvSpPr>
        <p:spPr>
          <a:xfrm>
            <a:off x="548640" y="4846320"/>
            <a:ext cx="2651760" cy="1325880"/>
          </a:xfrm>
          <a:prstGeom prst="roundRect">
            <a:avLst>
              <a:gd name="adj" fmla="val 5517"/>
            </a:avLst>
          </a:prstGeom>
          <a:solidFill>
            <a:srgbClr val="F3F4F6"/>
          </a:solidFill>
          <a:ln w="9525">
            <a:solidFill>
              <a:srgbClr val="D9D9D9"/>
            </a:solidFill>
            <a:prstDash val="solid"/>
          </a:ln>
        </p:spPr>
      </p:sp>
      <p:sp>
        <p:nvSpPr>
          <p:cNvPr id="20" name="Text 17"/>
          <p:cNvSpPr txBox="1"/>
          <p:nvPr/>
        </p:nvSpPr>
        <p:spPr>
          <a:xfrm>
            <a:off x="548640" y="4956048"/>
            <a:ext cx="2651760" cy="689458"/>
          </a:xfrm>
          <a:prstGeom prst="rect">
            <a:avLst/>
          </a:prstGeom>
          <a:noFill/>
          <a:ln/>
        </p:spPr>
        <p:txBody>
          <a:bodyPr wrap="square" lIns="0" tIns="0" rIns="0" bIns="0" rtlCol="0" anchor="ctr"/>
          <a:lstStyle/>
          <a:p>
            <a:pPr algn="ctr" indent="0" marL="0">
              <a:buNone/>
            </a:pPr>
            <a:r>
              <a:rPr lang="en-US" sz="3200" b="1" dirty="0">
                <a:solidFill>
                  <a:srgbClr val="7A1518"/>
                </a:solidFill>
              </a:rPr>
              <a:t>−26</a:t>
            </a:r>
            <a:endParaRPr lang="en-US" sz="3200" dirty="0"/>
          </a:p>
        </p:txBody>
      </p:sp>
      <p:sp>
        <p:nvSpPr>
          <p:cNvPr id="21" name="Text 18"/>
          <p:cNvSpPr txBox="1"/>
          <p:nvPr/>
        </p:nvSpPr>
        <p:spPr>
          <a:xfrm>
            <a:off x="685800" y="5641848"/>
            <a:ext cx="2377440" cy="477317"/>
          </a:xfrm>
          <a:prstGeom prst="rect">
            <a:avLst/>
          </a:prstGeom>
          <a:noFill/>
          <a:ln/>
        </p:spPr>
        <p:txBody>
          <a:bodyPr wrap="square" lIns="0" tIns="0" rIns="0" bIns="0" rtlCol="0" anchor="t"/>
          <a:lstStyle/>
          <a:p>
            <a:pPr algn="ctr" indent="0" marL="0">
              <a:buNone/>
            </a:pPr>
            <a:r>
              <a:rPr lang="en-US" sz="1150" dirty="0">
                <a:solidFill>
                  <a:srgbClr val="5A5A5A"/>
                </a:solidFill>
              </a:rPr>
              <a:t>puntos de mAP@0.5 al cambiar de cámara</a:t>
            </a:r>
            <a:endParaRPr lang="en-US" sz="1150" dirty="0"/>
          </a:p>
        </p:txBody>
      </p:sp>
      <p:sp>
        <p:nvSpPr>
          <p:cNvPr id="22" name="Shape 19"/>
          <p:cNvSpPr/>
          <p:nvPr/>
        </p:nvSpPr>
        <p:spPr>
          <a:xfrm>
            <a:off x="3383280" y="4846320"/>
            <a:ext cx="2651760" cy="1325880"/>
          </a:xfrm>
          <a:prstGeom prst="roundRect">
            <a:avLst>
              <a:gd name="adj" fmla="val 5517"/>
            </a:avLst>
          </a:prstGeom>
          <a:solidFill>
            <a:srgbClr val="F3F4F6"/>
          </a:solidFill>
          <a:ln w="9525">
            <a:solidFill>
              <a:srgbClr val="D9D9D9"/>
            </a:solidFill>
            <a:prstDash val="solid"/>
          </a:ln>
        </p:spPr>
      </p:sp>
      <p:sp>
        <p:nvSpPr>
          <p:cNvPr id="23" name="Text 20"/>
          <p:cNvSpPr txBox="1"/>
          <p:nvPr/>
        </p:nvSpPr>
        <p:spPr>
          <a:xfrm>
            <a:off x="3383280" y="4956048"/>
            <a:ext cx="2651760" cy="689458"/>
          </a:xfrm>
          <a:prstGeom prst="rect">
            <a:avLst/>
          </a:prstGeom>
          <a:noFill/>
          <a:ln/>
        </p:spPr>
        <p:txBody>
          <a:bodyPr wrap="square" lIns="0" tIns="0" rIns="0" bIns="0" rtlCol="0" anchor="ctr"/>
          <a:lstStyle/>
          <a:p>
            <a:pPr algn="ctr" indent="0" marL="0">
              <a:buNone/>
            </a:pPr>
            <a:r>
              <a:rPr lang="en-US" sz="3200" b="1" dirty="0">
                <a:solidFill>
                  <a:srgbClr val="7A1518"/>
                </a:solidFill>
              </a:rPr>
              <a:t>−24</a:t>
            </a:r>
            <a:endParaRPr lang="en-US" sz="3200" dirty="0"/>
          </a:p>
        </p:txBody>
      </p:sp>
      <p:sp>
        <p:nvSpPr>
          <p:cNvPr id="24" name="Text 21"/>
          <p:cNvSpPr txBox="1"/>
          <p:nvPr/>
        </p:nvSpPr>
        <p:spPr>
          <a:xfrm>
            <a:off x="3520440" y="5641848"/>
            <a:ext cx="2377440" cy="477317"/>
          </a:xfrm>
          <a:prstGeom prst="rect">
            <a:avLst/>
          </a:prstGeom>
          <a:noFill/>
          <a:ln/>
        </p:spPr>
        <p:txBody>
          <a:bodyPr wrap="square" lIns="0" tIns="0" rIns="0" bIns="0" rtlCol="0" anchor="t"/>
          <a:lstStyle/>
          <a:p>
            <a:pPr algn="ctr" indent="0" marL="0">
              <a:buNone/>
            </a:pPr>
            <a:r>
              <a:rPr lang="en-US" sz="1150" dirty="0">
                <a:solidFill>
                  <a:srgbClr val="5A5A5A"/>
                </a:solidFill>
              </a:rPr>
              <a:t>puntos de recall: animales que no ve</a:t>
            </a:r>
            <a:endParaRPr lang="en-US" sz="1150" dirty="0"/>
          </a:p>
        </p:txBody>
      </p:sp>
      <p:sp>
        <p:nvSpPr>
          <p:cNvPr id="25" name="Shape 22"/>
          <p:cNvSpPr/>
          <p:nvPr/>
        </p:nvSpPr>
        <p:spPr>
          <a:xfrm>
            <a:off x="6245352" y="4846320"/>
            <a:ext cx="5394960" cy="1325880"/>
          </a:xfrm>
          <a:prstGeom prst="roundRect">
            <a:avLst>
              <a:gd name="adj" fmla="val 5517"/>
            </a:avLst>
          </a:prstGeom>
          <a:solidFill>
            <a:srgbClr val="E3EAF4"/>
          </a:solidFill>
          <a:ln w="9525">
            <a:solidFill>
              <a:srgbClr val="B4C6E7"/>
            </a:solidFill>
            <a:prstDash val="solid"/>
          </a:ln>
        </p:spPr>
      </p:sp>
      <p:sp>
        <p:nvSpPr>
          <p:cNvPr id="26" name="Text 23"/>
          <p:cNvSpPr txBox="1"/>
          <p:nvPr/>
        </p:nvSpPr>
        <p:spPr>
          <a:xfrm>
            <a:off x="6428232" y="4956048"/>
            <a:ext cx="5029200" cy="1106424"/>
          </a:xfrm>
          <a:prstGeom prst="rect">
            <a:avLst/>
          </a:prstGeom>
          <a:noFill/>
          <a:ln/>
        </p:spPr>
        <p:txBody>
          <a:bodyPr wrap="square" lIns="0" tIns="0" rIns="0" bIns="0" rtlCol="0" anchor="t"/>
          <a:lstStyle/>
          <a:p>
            <a:pPr indent="0" marL="0">
              <a:spcAft>
                <a:spcPts val="400"/>
              </a:spcAft>
              <a:buNone/>
            </a:pPr>
            <a:r>
              <a:rPr lang="en-US" sz="1300" b="1" dirty="0">
                <a:solidFill>
                  <a:srgbClr val="1F3B66"/>
                </a:solidFill>
              </a:rPr>
              <a:t>Umbral elegido en validación</a:t>
            </a:r>
            <a:endParaRPr lang="en-US" sz="1300" dirty="0"/>
          </a:p>
          <a:p>
            <a:pPr indent="0" marL="0">
              <a:spcAft>
                <a:spcPts val="400"/>
              </a:spcAft>
              <a:buNone/>
            </a:pPr>
            <a:r>
              <a:rPr lang="en-US" sz="1200" dirty="0">
                <a:solidFill>
                  <a:srgbClr val="222222"/>
                </a:solidFill>
              </a:rPr>
              <a:t>F1 máximo 0,73 en conf = 0,45; la curva es plana entre 0,4 y 0,6, por eso se usó 0,5. Nunca se ajustó en test.</a:t>
            </a:r>
            <a:endParaRPr lang="en-US" sz="130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Resultados por especie</a:t>
            </a:r>
            <a:endParaRPr lang="en-US" sz="2700" dirty="0"/>
          </a:p>
        </p:txBody>
      </p:sp>
      <p:sp>
        <p:nvSpPr>
          <p:cNvPr id="3" name="Text 1"/>
          <p:cNvSpPr txBox="1"/>
          <p:nvPr/>
        </p:nvSpPr>
        <p:spPr>
          <a:xfrm>
            <a:off x="548640" y="1033272"/>
            <a:ext cx="11091672" cy="384048"/>
          </a:xfrm>
          <a:prstGeom prst="rect">
            <a:avLst/>
          </a:prstGeom>
          <a:noFill/>
          <a:ln/>
        </p:spPr>
        <p:txBody>
          <a:bodyPr wrap="square" rtlCol="0" anchor="ctr"/>
          <a:lstStyle/>
          <a:p>
            <a:pPr algn="ctr" indent="0" marL="0">
              <a:buNone/>
            </a:pPr>
            <a:r>
              <a:rPr lang="en-US" sz="1700" b="1" dirty="0">
                <a:solidFill>
                  <a:srgbClr val="7A1518"/>
                </a:solidFill>
                <a:latin typeface="Cambria" pitchFamily="34" charset="0"/>
                <a:ea typeface="Cambria" pitchFamily="34" charset="-122"/>
                <a:cs typeface="Cambria" pitchFamily="34" charset="-120"/>
              </a:rPr>
              <a:t>E2 · Gato, ave, roedor y ardilla se desploman en cámaras nuevas</a:t>
            </a:r>
            <a:endParaRPr lang="en-US" sz="1700" dirty="0"/>
          </a:p>
        </p:txBody>
      </p:sp>
      <p:graphicFrame>
        <p:nvGraphicFramePr>
          <p:cNvPr id="5" name="Chart 0" descr=""/>
          <p:cNvGraphicFramePr/>
          <p:nvPr/>
        </p:nvGraphicFramePr>
        <p:xfrm>
          <a:off x="548640" y="1508760"/>
          <a:ext cx="7498080" cy="47091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8321040" y="1645920"/>
            <a:ext cx="3319272" cy="1417320"/>
          </a:xfrm>
          <a:prstGeom prst="roundRect">
            <a:avLst>
              <a:gd name="adj" fmla="val 5161"/>
            </a:avLst>
          </a:prstGeom>
          <a:solidFill>
            <a:srgbClr val="E2EFDA"/>
          </a:solidFill>
          <a:ln w="9525">
            <a:solidFill>
              <a:srgbClr val="8FBF7F"/>
            </a:solidFill>
            <a:prstDash val="solid"/>
          </a:ln>
        </p:spPr>
      </p:sp>
      <p:sp>
        <p:nvSpPr>
          <p:cNvPr id="7" name="Text 3"/>
          <p:cNvSpPr txBox="1"/>
          <p:nvPr/>
        </p:nvSpPr>
        <p:spPr>
          <a:xfrm>
            <a:off x="8503920" y="1755648"/>
            <a:ext cx="2953512" cy="1197864"/>
          </a:xfrm>
          <a:prstGeom prst="rect">
            <a:avLst/>
          </a:prstGeom>
          <a:noFill/>
          <a:ln/>
        </p:spPr>
        <p:txBody>
          <a:bodyPr wrap="square" lIns="0" tIns="0" rIns="0" bIns="0" rtlCol="0" anchor="t"/>
          <a:lstStyle/>
          <a:p>
            <a:pPr indent="0" marL="0">
              <a:spcAft>
                <a:spcPts val="400"/>
              </a:spcAft>
              <a:buNone/>
            </a:pPr>
            <a:r>
              <a:rPr lang="en-US" sz="1300" b="1" dirty="0">
                <a:solidFill>
                  <a:srgbClr val="2E7D32"/>
                </a:solidFill>
              </a:rPr>
              <a:t>Se mantienen</a:t>
            </a:r>
            <a:endParaRPr lang="en-US" sz="1300" dirty="0"/>
          </a:p>
          <a:p>
            <a:pPr indent="0" marL="0">
              <a:spcAft>
                <a:spcPts val="400"/>
              </a:spcAft>
              <a:buNone/>
            </a:pPr>
            <a:r>
              <a:rPr lang="en-US" sz="1200" dirty="0">
                <a:solidFill>
                  <a:srgbClr val="222222"/>
                </a:solidFill>
              </a:rPr>
              <a:t>Zarigüeya 0,95 → 0,89</a:t>
            </a:r>
            <a:endParaRPr lang="en-US" sz="1300" dirty="0"/>
          </a:p>
          <a:p>
            <a:pPr indent="0" marL="0">
              <a:spcAft>
                <a:spcPts val="400"/>
              </a:spcAft>
              <a:buNone/>
            </a:pPr>
            <a:r>
              <a:rPr lang="en-US" sz="1200" dirty="0">
                <a:solidFill>
                  <a:srgbClr val="222222"/>
                </a:solidFill>
              </a:rPr>
              <a:t>Zorrillo 0,95 → 0,82</a:t>
            </a:r>
            <a:endParaRPr lang="en-US" sz="1300" dirty="0"/>
          </a:p>
          <a:p>
            <a:pPr indent="0" marL="0">
              <a:spcAft>
                <a:spcPts val="400"/>
              </a:spcAft>
              <a:buNone/>
            </a:pPr>
            <a:r>
              <a:rPr lang="en-US" sz="1200" dirty="0">
                <a:solidFill>
                  <a:srgbClr val="222222"/>
                </a:solidFill>
              </a:rPr>
              <a:t>Perro 0,77 → 0,71</a:t>
            </a:r>
            <a:endParaRPr lang="en-US" sz="1300" dirty="0"/>
          </a:p>
        </p:txBody>
      </p:sp>
      <p:sp>
        <p:nvSpPr>
          <p:cNvPr id="8" name="Shape 4"/>
          <p:cNvSpPr/>
          <p:nvPr/>
        </p:nvSpPr>
        <p:spPr>
          <a:xfrm>
            <a:off x="8321040" y="3200400"/>
            <a:ext cx="3319272" cy="1600200"/>
          </a:xfrm>
          <a:prstGeom prst="roundRect">
            <a:avLst>
              <a:gd name="adj" fmla="val 4571"/>
            </a:avLst>
          </a:prstGeom>
          <a:solidFill>
            <a:srgbClr val="F6E4E4"/>
          </a:solidFill>
          <a:ln w="9525">
            <a:solidFill>
              <a:srgbClr val="F2B8B8"/>
            </a:solidFill>
            <a:prstDash val="solid"/>
          </a:ln>
        </p:spPr>
      </p:sp>
      <p:sp>
        <p:nvSpPr>
          <p:cNvPr id="9" name="Text 5"/>
          <p:cNvSpPr txBox="1"/>
          <p:nvPr/>
        </p:nvSpPr>
        <p:spPr>
          <a:xfrm>
            <a:off x="8503920" y="3310128"/>
            <a:ext cx="2953512" cy="1380744"/>
          </a:xfrm>
          <a:prstGeom prst="rect">
            <a:avLst/>
          </a:prstGeom>
          <a:noFill/>
          <a:ln/>
        </p:spPr>
        <p:txBody>
          <a:bodyPr wrap="square" lIns="0" tIns="0" rIns="0" bIns="0" rtlCol="0" anchor="t"/>
          <a:lstStyle/>
          <a:p>
            <a:pPr indent="0" marL="0">
              <a:spcAft>
                <a:spcPts val="400"/>
              </a:spcAft>
              <a:buNone/>
            </a:pPr>
            <a:r>
              <a:rPr lang="en-US" sz="1300" b="1" dirty="0">
                <a:solidFill>
                  <a:srgbClr val="7A1518"/>
                </a:solidFill>
              </a:rPr>
              <a:t>Se desploman</a:t>
            </a:r>
            <a:endParaRPr lang="en-US" sz="1300" dirty="0"/>
          </a:p>
          <a:p>
            <a:pPr indent="0" marL="0">
              <a:spcAft>
                <a:spcPts val="400"/>
              </a:spcAft>
              <a:buNone/>
            </a:pPr>
            <a:r>
              <a:rPr lang="en-US" sz="1200" dirty="0">
                <a:solidFill>
                  <a:srgbClr val="222222"/>
                </a:solidFill>
              </a:rPr>
              <a:t>Gato 0,93 → 0,29</a:t>
            </a:r>
            <a:endParaRPr lang="en-US" sz="1300" dirty="0"/>
          </a:p>
          <a:p>
            <a:pPr indent="0" marL="0">
              <a:spcAft>
                <a:spcPts val="400"/>
              </a:spcAft>
              <a:buNone/>
            </a:pPr>
            <a:r>
              <a:rPr lang="en-US" sz="1200" dirty="0">
                <a:solidFill>
                  <a:srgbClr val="222222"/>
                </a:solidFill>
              </a:rPr>
              <a:t>Roedor 0,81 → 0,00</a:t>
            </a:r>
            <a:endParaRPr lang="en-US" sz="1300" dirty="0"/>
          </a:p>
          <a:p>
            <a:pPr indent="0" marL="0">
              <a:spcAft>
                <a:spcPts val="400"/>
              </a:spcAft>
              <a:buNone/>
            </a:pPr>
            <a:r>
              <a:rPr lang="en-US" sz="1200" dirty="0">
                <a:solidFill>
                  <a:srgbClr val="222222"/>
                </a:solidFill>
              </a:rPr>
              <a:t>Ave 0,62 → 0,09</a:t>
            </a:r>
            <a:endParaRPr lang="en-US" sz="1300" dirty="0"/>
          </a:p>
          <a:p>
            <a:pPr indent="0" marL="0">
              <a:spcAft>
                <a:spcPts val="400"/>
              </a:spcAft>
              <a:buNone/>
            </a:pPr>
            <a:r>
              <a:rPr lang="en-US" sz="1200" dirty="0">
                <a:solidFill>
                  <a:srgbClr val="222222"/>
                </a:solidFill>
              </a:rPr>
              <a:t>Ardilla 0,72 → 0,30</a:t>
            </a:r>
            <a:endParaRPr lang="en-US" sz="1300" dirty="0"/>
          </a:p>
        </p:txBody>
      </p:sp>
      <p:sp>
        <p:nvSpPr>
          <p:cNvPr id="10" name="Shape 6"/>
          <p:cNvSpPr/>
          <p:nvPr/>
        </p:nvSpPr>
        <p:spPr>
          <a:xfrm>
            <a:off x="8321040" y="4937760"/>
            <a:ext cx="3319272" cy="1234440"/>
          </a:xfrm>
          <a:prstGeom prst="roundRect">
            <a:avLst>
              <a:gd name="adj" fmla="val 5926"/>
            </a:avLst>
          </a:prstGeom>
          <a:solidFill>
            <a:srgbClr val="FFF1D6"/>
          </a:solidFill>
          <a:ln w="9525">
            <a:solidFill>
              <a:srgbClr val="E5B567"/>
            </a:solidFill>
            <a:prstDash val="solid"/>
          </a:ln>
        </p:spPr>
      </p:sp>
      <p:sp>
        <p:nvSpPr>
          <p:cNvPr id="11" name="Text 7"/>
          <p:cNvSpPr txBox="1"/>
          <p:nvPr/>
        </p:nvSpPr>
        <p:spPr>
          <a:xfrm>
            <a:off x="8503920" y="5047488"/>
            <a:ext cx="2953512" cy="1014984"/>
          </a:xfrm>
          <a:prstGeom prst="rect">
            <a:avLst/>
          </a:prstGeom>
          <a:noFill/>
          <a:ln/>
        </p:spPr>
        <p:txBody>
          <a:bodyPr wrap="square" lIns="0" tIns="0" rIns="0" bIns="0" rtlCol="0" anchor="t"/>
          <a:lstStyle/>
          <a:p>
            <a:pPr indent="0" marL="0">
              <a:spcAft>
                <a:spcPts val="400"/>
              </a:spcAft>
              <a:buNone/>
            </a:pPr>
            <a:r>
              <a:rPr lang="en-US" sz="1200" b="1" dirty="0">
                <a:solidFill>
                  <a:srgbClr val="B26A00"/>
                </a:solidFill>
              </a:rPr>
              <a:t>Ojo con las raras</a:t>
            </a:r>
            <a:endParaRPr lang="en-US" sz="1200" dirty="0"/>
          </a:p>
          <a:p>
            <a:pPr indent="0" marL="0">
              <a:spcAft>
                <a:spcPts val="400"/>
              </a:spcAft>
              <a:buNone/>
            </a:pPr>
            <a:r>
              <a:rPr lang="en-US" sz="1100" dirty="0">
                <a:solidFill>
                  <a:srgbClr val="222222"/>
                </a:solidFill>
              </a:rPr>
              <a:t>Zorro y tejón: 2 y 4 instancias en cis_test. *Ciervo no aparece en trans.</a:t>
            </a:r>
            <a:endParaRPr lang="en-US" sz="120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Efecto del desbalance</a:t>
            </a:r>
            <a:endParaRPr lang="en-US" sz="2700" dirty="0"/>
          </a:p>
        </p:txBody>
      </p:sp>
      <p:sp>
        <p:nvSpPr>
          <p:cNvPr id="3" name="Text 1"/>
          <p:cNvSpPr txBox="1"/>
          <p:nvPr/>
        </p:nvSpPr>
        <p:spPr>
          <a:xfrm>
            <a:off x="548640" y="1033272"/>
            <a:ext cx="11091672" cy="384048"/>
          </a:xfrm>
          <a:prstGeom prst="rect">
            <a:avLst/>
          </a:prstGeom>
          <a:noFill/>
          <a:ln/>
        </p:spPr>
        <p:txBody>
          <a:bodyPr wrap="square" rtlCol="0" anchor="ctr"/>
          <a:lstStyle/>
          <a:p>
            <a:pPr algn="ctr" indent="0" marL="0">
              <a:buNone/>
            </a:pPr>
            <a:r>
              <a:rPr lang="en-US" sz="1700" b="1" dirty="0">
                <a:solidFill>
                  <a:srgbClr val="7A1518"/>
                </a:solidFill>
                <a:latin typeface="Cambria" pitchFamily="34" charset="0"/>
                <a:ea typeface="Cambria" pitchFamily="34" charset="-122"/>
                <a:cs typeface="Cambria" pitchFamily="34" charset="-120"/>
              </a:rPr>
              <a:t>E2 · Más cajas ayuda en cámaras conocidas; en cámaras nuevas importa menos</a:t>
            </a:r>
            <a:endParaRPr lang="en-US" sz="1700" dirty="0"/>
          </a:p>
        </p:txBody>
      </p:sp>
      <p:pic>
        <p:nvPicPr>
          <p:cNvPr id="5" name="Image 0" descr="C:\Users\derla\AppData\Local\Temp\claude\C--Users-derla-Documents-maestria-RNC\a18331b0-62b1-40c0-8bf2-8626c603f7b5\scratchpad\ppt\img\ap_vs_cajas_train.png">    </p:cNvPr>
          <p:cNvPicPr>
            <a:picLocks noChangeAspect="1"/>
          </p:cNvPicPr>
          <p:nvPr/>
        </p:nvPicPr>
        <p:blipFill>
          <a:blip r:embed="rId1"/>
          <a:stretch>
            <a:fillRect/>
          </a:stretch>
        </p:blipFill>
        <p:spPr>
          <a:xfrm>
            <a:off x="548640" y="1554480"/>
            <a:ext cx="6949440" cy="4471416"/>
          </a:xfrm>
          <a:prstGeom prst="rect">
            <a:avLst/>
          </a:prstGeom>
        </p:spPr>
      </p:pic>
      <p:sp>
        <p:nvSpPr>
          <p:cNvPr id="6" name="Shape 2"/>
          <p:cNvSpPr/>
          <p:nvPr/>
        </p:nvSpPr>
        <p:spPr>
          <a:xfrm>
            <a:off x="7772400" y="1645920"/>
            <a:ext cx="1828800" cy="1371600"/>
          </a:xfrm>
          <a:prstGeom prst="roundRect">
            <a:avLst>
              <a:gd name="adj" fmla="val 5333"/>
            </a:avLst>
          </a:prstGeom>
          <a:solidFill>
            <a:srgbClr val="F3F4F6"/>
          </a:solidFill>
          <a:ln w="9525">
            <a:solidFill>
              <a:srgbClr val="D9D9D9"/>
            </a:solidFill>
            <a:prstDash val="solid"/>
          </a:ln>
        </p:spPr>
      </p:sp>
      <p:sp>
        <p:nvSpPr>
          <p:cNvPr id="7" name="Text 3"/>
          <p:cNvSpPr txBox="1"/>
          <p:nvPr/>
        </p:nvSpPr>
        <p:spPr>
          <a:xfrm>
            <a:off x="7772400" y="1755648"/>
            <a:ext cx="1828800" cy="713232"/>
          </a:xfrm>
          <a:prstGeom prst="rect">
            <a:avLst/>
          </a:prstGeom>
          <a:noFill/>
          <a:ln/>
        </p:spPr>
        <p:txBody>
          <a:bodyPr wrap="square" lIns="0" tIns="0" rIns="0" bIns="0" rtlCol="0" anchor="ctr"/>
          <a:lstStyle/>
          <a:p>
            <a:pPr algn="ctr" indent="0" marL="0">
              <a:buNone/>
            </a:pPr>
            <a:r>
              <a:rPr lang="en-US" sz="3200" b="1" dirty="0">
                <a:solidFill>
                  <a:srgbClr val="2E7D32"/>
                </a:solidFill>
              </a:rPr>
              <a:t>0,68</a:t>
            </a:r>
            <a:endParaRPr lang="en-US" sz="3200" dirty="0"/>
          </a:p>
        </p:txBody>
      </p:sp>
      <p:sp>
        <p:nvSpPr>
          <p:cNvPr id="8" name="Text 4"/>
          <p:cNvSpPr txBox="1"/>
          <p:nvPr/>
        </p:nvSpPr>
        <p:spPr>
          <a:xfrm>
            <a:off x="7909560" y="2468880"/>
            <a:ext cx="1554480" cy="493776"/>
          </a:xfrm>
          <a:prstGeom prst="rect">
            <a:avLst/>
          </a:prstGeom>
          <a:noFill/>
          <a:ln/>
        </p:spPr>
        <p:txBody>
          <a:bodyPr wrap="square" lIns="0" tIns="0" rIns="0" bIns="0" rtlCol="0" anchor="t"/>
          <a:lstStyle/>
          <a:p>
            <a:pPr algn="ctr" indent="0" marL="0">
              <a:buNone/>
            </a:pPr>
            <a:r>
              <a:rPr lang="en-US" sz="1150" dirty="0">
                <a:solidFill>
                  <a:srgbClr val="5A5A5A"/>
                </a:solidFill>
              </a:rPr>
              <a:t>ρ Spearman cis (p = 0,008)</a:t>
            </a:r>
            <a:endParaRPr lang="en-US" sz="1150" dirty="0"/>
          </a:p>
        </p:txBody>
      </p:sp>
      <p:sp>
        <p:nvSpPr>
          <p:cNvPr id="9" name="Shape 5"/>
          <p:cNvSpPr/>
          <p:nvPr/>
        </p:nvSpPr>
        <p:spPr>
          <a:xfrm>
            <a:off x="9811512" y="1645920"/>
            <a:ext cx="1828800" cy="1371600"/>
          </a:xfrm>
          <a:prstGeom prst="roundRect">
            <a:avLst>
              <a:gd name="adj" fmla="val 5333"/>
            </a:avLst>
          </a:prstGeom>
          <a:solidFill>
            <a:srgbClr val="F3F4F6"/>
          </a:solidFill>
          <a:ln w="9525">
            <a:solidFill>
              <a:srgbClr val="D9D9D9"/>
            </a:solidFill>
            <a:prstDash val="solid"/>
          </a:ln>
        </p:spPr>
      </p:sp>
      <p:sp>
        <p:nvSpPr>
          <p:cNvPr id="10" name="Text 6"/>
          <p:cNvSpPr txBox="1"/>
          <p:nvPr/>
        </p:nvSpPr>
        <p:spPr>
          <a:xfrm>
            <a:off x="9811512" y="1755648"/>
            <a:ext cx="1828800" cy="713232"/>
          </a:xfrm>
          <a:prstGeom prst="rect">
            <a:avLst/>
          </a:prstGeom>
          <a:noFill/>
          <a:ln/>
        </p:spPr>
        <p:txBody>
          <a:bodyPr wrap="square" lIns="0" tIns="0" rIns="0" bIns="0" rtlCol="0" anchor="ctr"/>
          <a:lstStyle/>
          <a:p>
            <a:pPr algn="ctr" indent="0" marL="0">
              <a:buNone/>
            </a:pPr>
            <a:r>
              <a:rPr lang="en-US" sz="3200" b="1" dirty="0">
                <a:solidFill>
                  <a:srgbClr val="7A1518"/>
                </a:solidFill>
              </a:rPr>
              <a:t>0,49</a:t>
            </a:r>
            <a:endParaRPr lang="en-US" sz="3200" dirty="0"/>
          </a:p>
        </p:txBody>
      </p:sp>
      <p:sp>
        <p:nvSpPr>
          <p:cNvPr id="11" name="Text 7"/>
          <p:cNvSpPr txBox="1"/>
          <p:nvPr/>
        </p:nvSpPr>
        <p:spPr>
          <a:xfrm>
            <a:off x="9948672" y="2468880"/>
            <a:ext cx="1554480" cy="493776"/>
          </a:xfrm>
          <a:prstGeom prst="rect">
            <a:avLst/>
          </a:prstGeom>
          <a:noFill/>
          <a:ln/>
        </p:spPr>
        <p:txBody>
          <a:bodyPr wrap="square" lIns="0" tIns="0" rIns="0" bIns="0" rtlCol="0" anchor="t"/>
          <a:lstStyle/>
          <a:p>
            <a:pPr algn="ctr" indent="0" marL="0">
              <a:buNone/>
            </a:pPr>
            <a:r>
              <a:rPr lang="en-US" sz="1150" dirty="0">
                <a:solidFill>
                  <a:srgbClr val="5A5A5A"/>
                </a:solidFill>
              </a:rPr>
              <a:t>ρ Spearman trans (p = 0,09)</a:t>
            </a:r>
            <a:endParaRPr lang="en-US" sz="1150" dirty="0"/>
          </a:p>
        </p:txBody>
      </p:sp>
      <p:sp>
        <p:nvSpPr>
          <p:cNvPr id="12" name="Shape 8"/>
          <p:cNvSpPr/>
          <p:nvPr/>
        </p:nvSpPr>
        <p:spPr>
          <a:xfrm>
            <a:off x="7772400" y="3200400"/>
            <a:ext cx="3867912" cy="1371600"/>
          </a:xfrm>
          <a:prstGeom prst="roundRect">
            <a:avLst>
              <a:gd name="adj" fmla="val 5333"/>
            </a:avLst>
          </a:prstGeom>
          <a:solidFill>
            <a:srgbClr val="F3F4F6"/>
          </a:solidFill>
          <a:ln w="9525">
            <a:solidFill>
              <a:srgbClr val="D9D9D9"/>
            </a:solidFill>
            <a:prstDash val="solid"/>
          </a:ln>
        </p:spPr>
      </p:sp>
      <p:sp>
        <p:nvSpPr>
          <p:cNvPr id="13" name="Text 9"/>
          <p:cNvSpPr txBox="1"/>
          <p:nvPr/>
        </p:nvSpPr>
        <p:spPr>
          <a:xfrm>
            <a:off x="7955280" y="3310128"/>
            <a:ext cx="3502152" cy="1152144"/>
          </a:xfrm>
          <a:prstGeom prst="rect">
            <a:avLst/>
          </a:prstGeom>
          <a:noFill/>
          <a:ln/>
        </p:spPr>
        <p:txBody>
          <a:bodyPr wrap="square" lIns="0" tIns="0" rIns="0" bIns="0" rtlCol="0" anchor="t"/>
          <a:lstStyle/>
          <a:p>
            <a:pPr indent="0" marL="0">
              <a:spcAft>
                <a:spcPts val="400"/>
              </a:spcAft>
              <a:buNone/>
            </a:pPr>
            <a:r>
              <a:rPr lang="en-US" sz="1300" b="1" dirty="0">
                <a:solidFill>
                  <a:srgbClr val="7A1518"/>
                </a:solidFill>
              </a:rPr>
              <a:t>El desbalance explica los extremos</a:t>
            </a:r>
            <a:endParaRPr lang="en-US" sz="1300" dirty="0"/>
          </a:p>
          <a:p>
            <a:pPr indent="0" marL="0">
              <a:spcAft>
                <a:spcPts val="400"/>
              </a:spcAft>
              <a:buNone/>
            </a:pPr>
            <a:r>
              <a:rPr lang="en-US" sz="1200" dirty="0">
                <a:solidFill>
                  <a:srgbClr val="222222"/>
                </a:solidFill>
              </a:rPr>
              <a:t>Zorro (5 cajas) y tejón (9) no pasan de 0,22 de AP@0.5.</a:t>
            </a:r>
            <a:endParaRPr lang="en-US" sz="1300" dirty="0"/>
          </a:p>
        </p:txBody>
      </p:sp>
      <p:sp>
        <p:nvSpPr>
          <p:cNvPr id="14" name="Shape 10"/>
          <p:cNvSpPr/>
          <p:nvPr/>
        </p:nvSpPr>
        <p:spPr>
          <a:xfrm>
            <a:off x="7772400" y="4709160"/>
            <a:ext cx="3867912" cy="1417320"/>
          </a:xfrm>
          <a:prstGeom prst="roundRect">
            <a:avLst>
              <a:gd name="adj" fmla="val 5161"/>
            </a:avLst>
          </a:prstGeom>
          <a:solidFill>
            <a:srgbClr val="FFF1D6"/>
          </a:solidFill>
          <a:ln w="9525">
            <a:solidFill>
              <a:srgbClr val="E5B567"/>
            </a:solidFill>
            <a:prstDash val="solid"/>
          </a:ln>
        </p:spPr>
      </p:sp>
      <p:sp>
        <p:nvSpPr>
          <p:cNvPr id="15" name="Text 11"/>
          <p:cNvSpPr txBox="1"/>
          <p:nvPr/>
        </p:nvSpPr>
        <p:spPr>
          <a:xfrm>
            <a:off x="7955280" y="4818888"/>
            <a:ext cx="3502152" cy="1197864"/>
          </a:xfrm>
          <a:prstGeom prst="rect">
            <a:avLst/>
          </a:prstGeom>
          <a:noFill/>
          <a:ln/>
        </p:spPr>
        <p:txBody>
          <a:bodyPr wrap="square" lIns="0" tIns="0" rIns="0" bIns="0" rtlCol="0" anchor="t"/>
          <a:lstStyle/>
          <a:p>
            <a:pPr indent="0" marL="0">
              <a:spcAft>
                <a:spcPts val="400"/>
              </a:spcAft>
              <a:buNone/>
            </a:pPr>
            <a:r>
              <a:rPr lang="en-US" sz="1300" b="1" dirty="0">
                <a:solidFill>
                  <a:srgbClr val="B26A00"/>
                </a:solidFill>
              </a:rPr>
              <a:t>Pero no las peores caídas</a:t>
            </a:r>
            <a:endParaRPr lang="en-US" sz="1300" dirty="0"/>
          </a:p>
          <a:p>
            <a:pPr indent="0" marL="0">
              <a:spcAft>
                <a:spcPts val="400"/>
              </a:spcAft>
              <a:buNone/>
            </a:pPr>
            <a:r>
              <a:rPr lang="en-US" sz="1200" dirty="0">
                <a:solidFill>
                  <a:srgbClr val="222222"/>
                </a:solidFill>
              </a:rPr>
              <a:t>Gato (1 170 cajas) cae 64 puntos; zorrillo (214) conserva 0,82. Importa la variedad de escenas, no solo la cantidad.</a:t>
            </a:r>
            <a:endParaRPr lang="en-US" sz="130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¿Aprendió el fondo?</a:t>
            </a:r>
            <a:endParaRPr lang="en-US" sz="2700" dirty="0"/>
          </a:p>
        </p:txBody>
      </p:sp>
      <p:sp>
        <p:nvSpPr>
          <p:cNvPr id="3" name="Text 1"/>
          <p:cNvSpPr txBox="1"/>
          <p:nvPr/>
        </p:nvSpPr>
        <p:spPr>
          <a:xfrm>
            <a:off x="548640" y="1033272"/>
            <a:ext cx="11091672" cy="384048"/>
          </a:xfrm>
          <a:prstGeom prst="rect">
            <a:avLst/>
          </a:prstGeom>
          <a:noFill/>
          <a:ln/>
        </p:spPr>
        <p:txBody>
          <a:bodyPr wrap="square" rtlCol="0" anchor="ctr"/>
          <a:lstStyle/>
          <a:p>
            <a:pPr algn="ctr" indent="0" marL="0">
              <a:buNone/>
            </a:pPr>
            <a:r>
              <a:rPr lang="en-US" sz="1700" b="1" dirty="0">
                <a:solidFill>
                  <a:srgbClr val="7A1518"/>
                </a:solidFill>
                <a:latin typeface="Cambria" pitchFamily="34" charset="0"/>
                <a:ea typeface="Cambria" pitchFamily="34" charset="-122"/>
                <a:cs typeface="Cambria" pitchFamily="34" charset="-120"/>
              </a:rPr>
              <a:t>E3 · Las especies que más caen son las que se vieron en pocas cámaras</a:t>
            </a:r>
            <a:endParaRPr lang="en-US" sz="1700" dirty="0"/>
          </a:p>
        </p:txBody>
      </p:sp>
      <p:graphicFrame>
        <p:nvGraphicFramePr>
          <p:cNvPr id="5" name="Chart 0" descr=""/>
          <p:cNvGraphicFramePr/>
          <p:nvPr/>
        </p:nvGraphicFramePr>
        <p:xfrm>
          <a:off x="548640" y="1508760"/>
          <a:ext cx="7498080" cy="47091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8321040" y="1645920"/>
            <a:ext cx="3319272" cy="1737360"/>
          </a:xfrm>
          <a:prstGeom prst="roundRect">
            <a:avLst>
              <a:gd name="adj" fmla="val 4211"/>
            </a:avLst>
          </a:prstGeom>
          <a:solidFill>
            <a:srgbClr val="F6E4E4"/>
          </a:solidFill>
          <a:ln w="9525">
            <a:solidFill>
              <a:srgbClr val="F2B8B8"/>
            </a:solidFill>
            <a:prstDash val="solid"/>
          </a:ln>
        </p:spPr>
      </p:sp>
      <p:sp>
        <p:nvSpPr>
          <p:cNvPr id="7" name="Text 3"/>
          <p:cNvSpPr txBox="1"/>
          <p:nvPr/>
        </p:nvSpPr>
        <p:spPr>
          <a:xfrm>
            <a:off x="8503920" y="1755648"/>
            <a:ext cx="2953512" cy="1517904"/>
          </a:xfrm>
          <a:prstGeom prst="rect">
            <a:avLst/>
          </a:prstGeom>
          <a:noFill/>
          <a:ln/>
        </p:spPr>
        <p:txBody>
          <a:bodyPr wrap="square" lIns="0" tIns="0" rIns="0" bIns="0" rtlCol="0" anchor="t"/>
          <a:lstStyle/>
          <a:p>
            <a:pPr indent="0" marL="0">
              <a:spcAft>
                <a:spcPts val="400"/>
              </a:spcAft>
              <a:buNone/>
            </a:pPr>
            <a:r>
              <a:rPr lang="en-US" sz="1300" b="1" dirty="0">
                <a:solidFill>
                  <a:srgbClr val="7A1518"/>
                </a:solidFill>
              </a:rPr>
              <a:t>Coincide en el extremo</a:t>
            </a:r>
            <a:endParaRPr lang="en-US" sz="1300" dirty="0"/>
          </a:p>
          <a:p>
            <a:pPr indent="0" marL="0">
              <a:spcAft>
                <a:spcPts val="400"/>
              </a:spcAft>
              <a:buNone/>
            </a:pPr>
            <a:r>
              <a:rPr lang="en-US" sz="1200" dirty="0">
                <a:solidFill>
                  <a:srgbClr val="222222"/>
                </a:solidFill>
              </a:rPr>
              <a:t>Roedor, gato y ave: 81–90 % de sus cajas en 2 de 10 cámaras, y son las tres mayores caídas.</a:t>
            </a:r>
            <a:endParaRPr lang="en-US" sz="1300" dirty="0"/>
          </a:p>
        </p:txBody>
      </p:sp>
      <p:sp>
        <p:nvSpPr>
          <p:cNvPr id="8" name="Shape 4"/>
          <p:cNvSpPr/>
          <p:nvPr/>
        </p:nvSpPr>
        <p:spPr>
          <a:xfrm>
            <a:off x="8321040" y="3520440"/>
            <a:ext cx="3319272" cy="1280160"/>
          </a:xfrm>
          <a:prstGeom prst="roundRect">
            <a:avLst>
              <a:gd name="adj" fmla="val 5714"/>
            </a:avLst>
          </a:prstGeom>
          <a:solidFill>
            <a:srgbClr val="FFF1D6"/>
          </a:solidFill>
          <a:ln w="9525">
            <a:solidFill>
              <a:srgbClr val="E5B567"/>
            </a:solidFill>
            <a:prstDash val="solid"/>
          </a:ln>
        </p:spPr>
      </p:sp>
      <p:sp>
        <p:nvSpPr>
          <p:cNvPr id="9" name="Text 5"/>
          <p:cNvSpPr txBox="1"/>
          <p:nvPr/>
        </p:nvSpPr>
        <p:spPr>
          <a:xfrm>
            <a:off x="8503920" y="3630168"/>
            <a:ext cx="2953512" cy="1060704"/>
          </a:xfrm>
          <a:prstGeom prst="rect">
            <a:avLst/>
          </a:prstGeom>
          <a:noFill/>
          <a:ln/>
        </p:spPr>
        <p:txBody>
          <a:bodyPr wrap="square" lIns="0" tIns="0" rIns="0" bIns="0" rtlCol="0" anchor="t"/>
          <a:lstStyle/>
          <a:p>
            <a:pPr indent="0" marL="0">
              <a:spcAft>
                <a:spcPts val="400"/>
              </a:spcAft>
              <a:buNone/>
            </a:pPr>
            <a:r>
              <a:rPr lang="en-US" sz="1300" b="1" dirty="0">
                <a:solidFill>
                  <a:srgbClr val="B26A00"/>
                </a:solidFill>
              </a:rPr>
              <a:t>Pero no en general</a:t>
            </a:r>
            <a:endParaRPr lang="en-US" sz="1300" dirty="0"/>
          </a:p>
          <a:p>
            <a:pPr indent="0" marL="0">
              <a:spcAft>
                <a:spcPts val="400"/>
              </a:spcAft>
              <a:buNone/>
            </a:pPr>
            <a:r>
              <a:rPr lang="en-US" sz="1200" dirty="0">
                <a:solidFill>
                  <a:srgbClr val="222222"/>
                </a:solidFill>
              </a:rPr>
              <a:t>ρ = 0,33 (p = 0,32) con 11 especies. Ardilla está repartida y cae 43 puntos.</a:t>
            </a:r>
            <a:endParaRPr lang="en-US" sz="1300" dirty="0"/>
          </a:p>
        </p:txBody>
      </p:sp>
      <p:sp>
        <p:nvSpPr>
          <p:cNvPr id="10" name="Shape 6"/>
          <p:cNvSpPr/>
          <p:nvPr/>
        </p:nvSpPr>
        <p:spPr>
          <a:xfrm>
            <a:off x="8321040" y="4937760"/>
            <a:ext cx="3319272" cy="1234440"/>
          </a:xfrm>
          <a:prstGeom prst="roundRect">
            <a:avLst>
              <a:gd name="adj" fmla="val 5926"/>
            </a:avLst>
          </a:prstGeom>
          <a:solidFill>
            <a:srgbClr val="E3EAF4"/>
          </a:solidFill>
          <a:ln w="9525">
            <a:solidFill>
              <a:srgbClr val="B4C6E7"/>
            </a:solidFill>
            <a:prstDash val="solid"/>
          </a:ln>
        </p:spPr>
      </p:sp>
      <p:sp>
        <p:nvSpPr>
          <p:cNvPr id="11" name="Text 7"/>
          <p:cNvSpPr txBox="1"/>
          <p:nvPr/>
        </p:nvSpPr>
        <p:spPr>
          <a:xfrm>
            <a:off x="8503920" y="5047488"/>
            <a:ext cx="2953512" cy="1014984"/>
          </a:xfrm>
          <a:prstGeom prst="rect">
            <a:avLst/>
          </a:prstGeom>
          <a:noFill/>
          <a:ln/>
        </p:spPr>
        <p:txBody>
          <a:bodyPr wrap="square" lIns="0" tIns="0" rIns="0" bIns="0" rtlCol="0" anchor="t"/>
          <a:lstStyle/>
          <a:p>
            <a:pPr indent="0" marL="0">
              <a:spcAft>
                <a:spcPts val="400"/>
              </a:spcAft>
              <a:buNone/>
            </a:pPr>
            <a:r>
              <a:rPr lang="en-US" sz="1300" b="1" dirty="0">
                <a:solidFill>
                  <a:srgbClr val="1F3B66"/>
                </a:solidFill>
              </a:rPr>
              <a:t>Siguiente paso</a:t>
            </a:r>
            <a:endParaRPr lang="en-US" sz="1300" dirty="0"/>
          </a:p>
          <a:p>
            <a:pPr indent="0" marL="0">
              <a:spcAft>
                <a:spcPts val="400"/>
              </a:spcAft>
              <a:buNone/>
            </a:pPr>
            <a:r>
              <a:rPr lang="en-US" sz="1200" dirty="0">
                <a:solidFill>
                  <a:srgbClr val="222222"/>
                </a:solidFill>
              </a:rPr>
              <a:t>Probar directamente si el modelo usa el fondo: borrado y EigenCAM.</a:t>
            </a:r>
            <a:endParaRPr lang="en-US" sz="130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Prueba de borrado</a:t>
            </a:r>
            <a:endParaRPr lang="en-US" sz="2700" dirty="0"/>
          </a:p>
        </p:txBody>
      </p:sp>
      <p:sp>
        <p:nvSpPr>
          <p:cNvPr id="3" name="Text 1"/>
          <p:cNvSpPr txBox="1"/>
          <p:nvPr/>
        </p:nvSpPr>
        <p:spPr>
          <a:xfrm>
            <a:off x="548640" y="1033272"/>
            <a:ext cx="11091672" cy="384048"/>
          </a:xfrm>
          <a:prstGeom prst="rect">
            <a:avLst/>
          </a:prstGeom>
          <a:noFill/>
          <a:ln/>
        </p:spPr>
        <p:txBody>
          <a:bodyPr wrap="square" rtlCol="0" anchor="ctr"/>
          <a:lstStyle/>
          <a:p>
            <a:pPr algn="ctr" indent="0" marL="0">
              <a:buNone/>
            </a:pPr>
            <a:r>
              <a:rPr lang="en-US" sz="1700" b="1" dirty="0">
                <a:solidFill>
                  <a:srgbClr val="7A1518"/>
                </a:solidFill>
                <a:latin typeface="Cambria" pitchFamily="34" charset="0"/>
                <a:ea typeface="Cambria" pitchFamily="34" charset="-122"/>
                <a:cs typeface="Cambria" pitchFamily="34" charset="-120"/>
              </a:rPr>
              <a:t>E3 · Al tapar al animal, el modelo no vuelve a predecir la especie: no usa el fondo como atajo</a:t>
            </a:r>
            <a:endParaRPr lang="en-US" sz="1700" dirty="0"/>
          </a:p>
        </p:txBody>
      </p:sp>
      <p:sp>
        <p:nvSpPr>
          <p:cNvPr id="5" name="Shape 2"/>
          <p:cNvSpPr/>
          <p:nvPr/>
        </p:nvSpPr>
        <p:spPr>
          <a:xfrm>
            <a:off x="548640" y="1645920"/>
            <a:ext cx="2514600" cy="914400"/>
          </a:xfrm>
          <a:prstGeom prst="roundRect">
            <a:avLst>
              <a:gd name="adj" fmla="val 8000"/>
            </a:avLst>
          </a:prstGeom>
          <a:solidFill>
            <a:srgbClr val="F3F4F6"/>
          </a:solidFill>
          <a:ln w="9525">
            <a:solidFill>
              <a:srgbClr val="D9D9D9"/>
            </a:solidFill>
            <a:prstDash val="solid"/>
          </a:ln>
        </p:spPr>
      </p:sp>
      <p:sp>
        <p:nvSpPr>
          <p:cNvPr id="6" name="Text 3"/>
          <p:cNvSpPr txBox="1"/>
          <p:nvPr/>
        </p:nvSpPr>
        <p:spPr>
          <a:xfrm>
            <a:off x="548640" y="1645920"/>
            <a:ext cx="2514600" cy="914400"/>
          </a:xfrm>
          <a:prstGeom prst="rect">
            <a:avLst/>
          </a:prstGeom>
          <a:noFill/>
          <a:ln/>
        </p:spPr>
        <p:txBody>
          <a:bodyPr wrap="square" lIns="0" tIns="0" rIns="0" bIns="0" rtlCol="0" anchor="ctr"/>
          <a:lstStyle/>
          <a:p>
            <a:pPr algn="ctr" indent="0" marL="0">
              <a:buNone/>
            </a:pPr>
            <a:r>
              <a:rPr lang="en-US" sz="1400" b="1" dirty="0">
                <a:solidFill>
                  <a:srgbClr val="7A1518"/>
                </a:solidFill>
              </a:rPr>
              <a:t>Imagen con un animal</a:t>
            </a:r>
            <a:endParaRPr lang="en-US" sz="1400" dirty="0"/>
          </a:p>
          <a:p>
            <a:pPr algn="ctr" indent="0" marL="0">
              <a:buNone/>
            </a:pPr>
            <a:r>
              <a:rPr lang="en-US" sz="1100" dirty="0">
                <a:solidFill>
                  <a:srgbClr val="5A5A5A"/>
                </a:solidFill>
              </a:rPr>
              <a:t>300 por split</a:t>
            </a:r>
            <a:endParaRPr lang="en-US" sz="1400" dirty="0"/>
          </a:p>
        </p:txBody>
      </p:sp>
      <p:sp>
        <p:nvSpPr>
          <p:cNvPr id="7" name="Shape 4"/>
          <p:cNvSpPr/>
          <p:nvPr/>
        </p:nvSpPr>
        <p:spPr>
          <a:xfrm>
            <a:off x="3081528" y="1965960"/>
            <a:ext cx="274320" cy="274320"/>
          </a:xfrm>
          <a:prstGeom prst="rightArrow">
            <a:avLst/>
          </a:prstGeom>
          <a:solidFill>
            <a:srgbClr val="7A1518"/>
          </a:solidFill>
          <a:ln w="12700">
            <a:solidFill>
              <a:srgbClr val="7A1518"/>
            </a:solidFill>
            <a:prstDash val="solid"/>
          </a:ln>
        </p:spPr>
      </p:sp>
      <p:sp>
        <p:nvSpPr>
          <p:cNvPr id="8" name="Shape 5"/>
          <p:cNvSpPr/>
          <p:nvPr/>
        </p:nvSpPr>
        <p:spPr>
          <a:xfrm>
            <a:off x="3383280" y="1645920"/>
            <a:ext cx="2514600" cy="914400"/>
          </a:xfrm>
          <a:prstGeom prst="roundRect">
            <a:avLst>
              <a:gd name="adj" fmla="val 8000"/>
            </a:avLst>
          </a:prstGeom>
          <a:solidFill>
            <a:srgbClr val="F3F4F6"/>
          </a:solidFill>
          <a:ln w="9525">
            <a:solidFill>
              <a:srgbClr val="D9D9D9"/>
            </a:solidFill>
            <a:prstDash val="solid"/>
          </a:ln>
        </p:spPr>
      </p:sp>
      <p:sp>
        <p:nvSpPr>
          <p:cNvPr id="9" name="Text 6"/>
          <p:cNvSpPr txBox="1"/>
          <p:nvPr/>
        </p:nvSpPr>
        <p:spPr>
          <a:xfrm>
            <a:off x="3383280" y="1645920"/>
            <a:ext cx="2514600" cy="914400"/>
          </a:xfrm>
          <a:prstGeom prst="rect">
            <a:avLst/>
          </a:prstGeom>
          <a:noFill/>
          <a:ln/>
        </p:spPr>
        <p:txBody>
          <a:bodyPr wrap="square" lIns="0" tIns="0" rIns="0" bIns="0" rtlCol="0" anchor="ctr"/>
          <a:lstStyle/>
          <a:p>
            <a:pPr algn="ctr" indent="0" marL="0">
              <a:buNone/>
            </a:pPr>
            <a:r>
              <a:rPr lang="en-US" sz="1400" b="1" dirty="0">
                <a:solidFill>
                  <a:srgbClr val="7A1518"/>
                </a:solidFill>
              </a:rPr>
              <a:t>Tapar la caja</a:t>
            </a:r>
            <a:endParaRPr lang="en-US" sz="1400" dirty="0"/>
          </a:p>
          <a:p>
            <a:pPr algn="ctr" indent="0" marL="0">
              <a:buNone/>
            </a:pPr>
            <a:r>
              <a:rPr lang="en-US" sz="1100" dirty="0">
                <a:solidFill>
                  <a:srgbClr val="5A5A5A"/>
                </a:solidFill>
              </a:rPr>
              <a:t>+15 % de margen, color medio</a:t>
            </a:r>
            <a:endParaRPr lang="en-US" sz="1400" dirty="0"/>
          </a:p>
        </p:txBody>
      </p:sp>
      <p:sp>
        <p:nvSpPr>
          <p:cNvPr id="10" name="Shape 7"/>
          <p:cNvSpPr/>
          <p:nvPr/>
        </p:nvSpPr>
        <p:spPr>
          <a:xfrm>
            <a:off x="5916168" y="1965960"/>
            <a:ext cx="274320" cy="274320"/>
          </a:xfrm>
          <a:prstGeom prst="rightArrow">
            <a:avLst/>
          </a:prstGeom>
          <a:solidFill>
            <a:srgbClr val="7A1518"/>
          </a:solidFill>
          <a:ln w="12700">
            <a:solidFill>
              <a:srgbClr val="7A1518"/>
            </a:solidFill>
            <a:prstDash val="solid"/>
          </a:ln>
        </p:spPr>
      </p:sp>
      <p:sp>
        <p:nvSpPr>
          <p:cNvPr id="11" name="Shape 8"/>
          <p:cNvSpPr/>
          <p:nvPr/>
        </p:nvSpPr>
        <p:spPr>
          <a:xfrm>
            <a:off x="6217920" y="1645920"/>
            <a:ext cx="2514600" cy="914400"/>
          </a:xfrm>
          <a:prstGeom prst="roundRect">
            <a:avLst>
              <a:gd name="adj" fmla="val 8000"/>
            </a:avLst>
          </a:prstGeom>
          <a:solidFill>
            <a:srgbClr val="F3F4F6"/>
          </a:solidFill>
          <a:ln w="9525">
            <a:solidFill>
              <a:srgbClr val="D9D9D9"/>
            </a:solidFill>
            <a:prstDash val="solid"/>
          </a:ln>
        </p:spPr>
      </p:sp>
      <p:sp>
        <p:nvSpPr>
          <p:cNvPr id="12" name="Text 9"/>
          <p:cNvSpPr txBox="1"/>
          <p:nvPr/>
        </p:nvSpPr>
        <p:spPr>
          <a:xfrm>
            <a:off x="6217920" y="1645920"/>
            <a:ext cx="2514600" cy="914400"/>
          </a:xfrm>
          <a:prstGeom prst="rect">
            <a:avLst/>
          </a:prstGeom>
          <a:noFill/>
          <a:ln/>
        </p:spPr>
        <p:txBody>
          <a:bodyPr wrap="square" lIns="0" tIns="0" rIns="0" bIns="0" rtlCol="0" anchor="ctr"/>
          <a:lstStyle/>
          <a:p>
            <a:pPr algn="ctr" indent="0" marL="0">
              <a:buNone/>
            </a:pPr>
            <a:r>
              <a:rPr lang="en-US" sz="1400" b="1" dirty="0">
                <a:solidFill>
                  <a:srgbClr val="7A1518"/>
                </a:solidFill>
              </a:rPr>
              <a:t>Volver a detectar</a:t>
            </a:r>
            <a:endParaRPr lang="en-US" sz="1400" dirty="0"/>
          </a:p>
          <a:p>
            <a:pPr algn="ctr" indent="0" marL="0">
              <a:buNone/>
            </a:pPr>
            <a:r>
              <a:rPr lang="en-US" sz="1100" dirty="0">
                <a:solidFill>
                  <a:srgbClr val="5A5A5A"/>
                </a:solidFill>
              </a:rPr>
              <a:t>conf ≥ 0,5</a:t>
            </a:r>
            <a:endParaRPr lang="en-US" sz="1400" dirty="0"/>
          </a:p>
        </p:txBody>
      </p:sp>
      <p:sp>
        <p:nvSpPr>
          <p:cNvPr id="13" name="Shape 10"/>
          <p:cNvSpPr/>
          <p:nvPr/>
        </p:nvSpPr>
        <p:spPr>
          <a:xfrm>
            <a:off x="8750808" y="1965960"/>
            <a:ext cx="274320" cy="274320"/>
          </a:xfrm>
          <a:prstGeom prst="rightArrow">
            <a:avLst/>
          </a:prstGeom>
          <a:solidFill>
            <a:srgbClr val="7A1518"/>
          </a:solidFill>
          <a:ln w="12700">
            <a:solidFill>
              <a:srgbClr val="7A1518"/>
            </a:solidFill>
            <a:prstDash val="solid"/>
          </a:ln>
        </p:spPr>
      </p:sp>
      <p:sp>
        <p:nvSpPr>
          <p:cNvPr id="14" name="Shape 11"/>
          <p:cNvSpPr/>
          <p:nvPr/>
        </p:nvSpPr>
        <p:spPr>
          <a:xfrm>
            <a:off x="9052560" y="1645920"/>
            <a:ext cx="2514600" cy="914400"/>
          </a:xfrm>
          <a:prstGeom prst="roundRect">
            <a:avLst>
              <a:gd name="adj" fmla="val 8000"/>
            </a:avLst>
          </a:prstGeom>
          <a:solidFill>
            <a:srgbClr val="FFF1D6"/>
          </a:solidFill>
          <a:ln w="9525">
            <a:solidFill>
              <a:srgbClr val="E5B567"/>
            </a:solidFill>
            <a:prstDash val="solid"/>
          </a:ln>
        </p:spPr>
      </p:sp>
      <p:sp>
        <p:nvSpPr>
          <p:cNvPr id="15" name="Text 12"/>
          <p:cNvSpPr txBox="1"/>
          <p:nvPr/>
        </p:nvSpPr>
        <p:spPr>
          <a:xfrm>
            <a:off x="9052560" y="1645920"/>
            <a:ext cx="2514600" cy="914400"/>
          </a:xfrm>
          <a:prstGeom prst="rect">
            <a:avLst/>
          </a:prstGeom>
          <a:noFill/>
          <a:ln/>
        </p:spPr>
        <p:txBody>
          <a:bodyPr wrap="square" lIns="0" tIns="0" rIns="0" bIns="0" rtlCol="0" anchor="ctr"/>
          <a:lstStyle/>
          <a:p>
            <a:pPr algn="ctr" indent="0" marL="0">
              <a:buNone/>
            </a:pPr>
            <a:r>
              <a:rPr lang="en-US" sz="1400" b="1" dirty="0">
                <a:solidFill>
                  <a:srgbClr val="7A1518"/>
                </a:solidFill>
              </a:rPr>
              <a:t>¿Misma especie?</a:t>
            </a:r>
            <a:endParaRPr lang="en-US" sz="1400" dirty="0"/>
          </a:p>
          <a:p>
            <a:pPr algn="ctr" indent="0" marL="0">
              <a:buNone/>
            </a:pPr>
            <a:r>
              <a:rPr lang="en-US" sz="1100" dirty="0">
                <a:solidFill>
                  <a:srgbClr val="5A5A5A"/>
                </a:solidFill>
              </a:rPr>
              <a:t>en la zona o fuera</a:t>
            </a:r>
            <a:endParaRPr lang="en-US" sz="1400" dirty="0"/>
          </a:p>
        </p:txBody>
      </p:sp>
      <p:pic>
        <p:nvPicPr>
          <p:cNvPr id="16" name="Image 0" descr="C:\Users\derla\AppData\Local\Temp\claude\C--Users-derla-Documents-maestria-RNC\a18331b0-62b1-40c0-8bf2-8626c603f7b5\scratchpad\ppt\img\borrado_ejemplos.png">    </p:cNvPr>
          <p:cNvPicPr>
            <a:picLocks noChangeAspect="1"/>
          </p:cNvPicPr>
          <p:nvPr/>
        </p:nvPicPr>
        <p:blipFill>
          <a:blip r:embed="rId1"/>
          <a:stretch>
            <a:fillRect/>
          </a:stretch>
        </p:blipFill>
        <p:spPr>
          <a:xfrm>
            <a:off x="548640" y="2834640"/>
            <a:ext cx="7223760" cy="1728216"/>
          </a:xfrm>
          <a:prstGeom prst="rect">
            <a:avLst/>
          </a:prstGeom>
        </p:spPr>
      </p:pic>
      <p:sp>
        <p:nvSpPr>
          <p:cNvPr id="17" name="Text 13"/>
          <p:cNvSpPr txBox="1"/>
          <p:nvPr/>
        </p:nvSpPr>
        <p:spPr>
          <a:xfrm>
            <a:off x="548640" y="4617720"/>
            <a:ext cx="7223760" cy="320040"/>
          </a:xfrm>
          <a:prstGeom prst="rect">
            <a:avLst/>
          </a:prstGeom>
          <a:noFill/>
          <a:ln/>
        </p:spPr>
        <p:txBody>
          <a:bodyPr wrap="square" lIns="0" tIns="0" rIns="0" bIns="0" rtlCol="0" anchor="ctr"/>
          <a:lstStyle/>
          <a:p>
            <a:pPr indent="0" marL="0">
              <a:buNone/>
            </a:pPr>
            <a:r>
              <a:rPr lang="en-US" sz="1100" i="1" dirty="0">
                <a:solidFill>
                  <a:srgbClr val="5A5A5A"/>
                </a:solidFill>
              </a:rPr>
              <a:t>Los únicos 3 casos de 600: la especie reaparece fuera de la zona tapada (punteado blanco).</a:t>
            </a:r>
            <a:endParaRPr lang="en-US" sz="1100" dirty="0"/>
          </a:p>
        </p:txBody>
      </p:sp>
      <p:sp>
        <p:nvSpPr>
          <p:cNvPr id="18" name="Shape 14"/>
          <p:cNvSpPr/>
          <p:nvPr/>
        </p:nvSpPr>
        <p:spPr>
          <a:xfrm>
            <a:off x="8046720" y="2834640"/>
            <a:ext cx="1691640" cy="1463040"/>
          </a:xfrm>
          <a:prstGeom prst="roundRect">
            <a:avLst>
              <a:gd name="adj" fmla="val 5000"/>
            </a:avLst>
          </a:prstGeom>
          <a:solidFill>
            <a:srgbClr val="F3F4F6"/>
          </a:solidFill>
          <a:ln w="9525">
            <a:solidFill>
              <a:srgbClr val="D9D9D9"/>
            </a:solidFill>
            <a:prstDash val="solid"/>
          </a:ln>
        </p:spPr>
      </p:sp>
      <p:sp>
        <p:nvSpPr>
          <p:cNvPr id="19" name="Text 15"/>
          <p:cNvSpPr txBox="1"/>
          <p:nvPr/>
        </p:nvSpPr>
        <p:spPr>
          <a:xfrm>
            <a:off x="8046720" y="2944368"/>
            <a:ext cx="1691640" cy="760781"/>
          </a:xfrm>
          <a:prstGeom prst="rect">
            <a:avLst/>
          </a:prstGeom>
          <a:noFill/>
          <a:ln/>
        </p:spPr>
        <p:txBody>
          <a:bodyPr wrap="square" lIns="0" tIns="0" rIns="0" bIns="0" rtlCol="0" anchor="ctr"/>
          <a:lstStyle/>
          <a:p>
            <a:pPr algn="ctr" indent="0" marL="0">
              <a:buNone/>
            </a:pPr>
            <a:r>
              <a:rPr lang="en-US" sz="2600" b="1" dirty="0">
                <a:solidFill>
                  <a:srgbClr val="2E7D32"/>
                </a:solidFill>
              </a:rPr>
              <a:t>0 / 600</a:t>
            </a:r>
            <a:endParaRPr lang="en-US" sz="2600" dirty="0"/>
          </a:p>
        </p:txBody>
      </p:sp>
      <p:sp>
        <p:nvSpPr>
          <p:cNvPr id="20" name="Text 16"/>
          <p:cNvSpPr txBox="1"/>
          <p:nvPr/>
        </p:nvSpPr>
        <p:spPr>
          <a:xfrm>
            <a:off x="8183880" y="3712464"/>
            <a:ext cx="1417320" cy="526694"/>
          </a:xfrm>
          <a:prstGeom prst="rect">
            <a:avLst/>
          </a:prstGeom>
          <a:noFill/>
          <a:ln/>
        </p:spPr>
        <p:txBody>
          <a:bodyPr wrap="square" lIns="0" tIns="0" rIns="0" bIns="0" rtlCol="0" anchor="t"/>
          <a:lstStyle/>
          <a:p>
            <a:pPr algn="ctr" indent="0" marL="0">
              <a:buNone/>
            </a:pPr>
            <a:r>
              <a:rPr lang="en-US" sz="1150" dirty="0">
                <a:solidFill>
                  <a:srgbClr val="5A5A5A"/>
                </a:solidFill>
              </a:rPr>
              <a:t>misma especie en la zona tapada</a:t>
            </a:r>
            <a:endParaRPr lang="en-US" sz="1150" dirty="0"/>
          </a:p>
        </p:txBody>
      </p:sp>
      <p:sp>
        <p:nvSpPr>
          <p:cNvPr id="21" name="Shape 17"/>
          <p:cNvSpPr/>
          <p:nvPr/>
        </p:nvSpPr>
        <p:spPr>
          <a:xfrm>
            <a:off x="9948672" y="2834640"/>
            <a:ext cx="1691640" cy="1463040"/>
          </a:xfrm>
          <a:prstGeom prst="roundRect">
            <a:avLst>
              <a:gd name="adj" fmla="val 5000"/>
            </a:avLst>
          </a:prstGeom>
          <a:solidFill>
            <a:srgbClr val="F3F4F6"/>
          </a:solidFill>
          <a:ln w="9525">
            <a:solidFill>
              <a:srgbClr val="D9D9D9"/>
            </a:solidFill>
            <a:prstDash val="solid"/>
          </a:ln>
        </p:spPr>
      </p:sp>
      <p:sp>
        <p:nvSpPr>
          <p:cNvPr id="22" name="Text 18"/>
          <p:cNvSpPr txBox="1"/>
          <p:nvPr/>
        </p:nvSpPr>
        <p:spPr>
          <a:xfrm>
            <a:off x="9948672" y="2944368"/>
            <a:ext cx="1691640" cy="760781"/>
          </a:xfrm>
          <a:prstGeom prst="rect">
            <a:avLst/>
          </a:prstGeom>
          <a:noFill/>
          <a:ln/>
        </p:spPr>
        <p:txBody>
          <a:bodyPr wrap="square" lIns="0" tIns="0" rIns="0" bIns="0" rtlCol="0" anchor="ctr"/>
          <a:lstStyle/>
          <a:p>
            <a:pPr algn="ctr" indent="0" marL="0">
              <a:buNone/>
            </a:pPr>
            <a:r>
              <a:rPr lang="en-US" sz="2600" b="1" dirty="0">
                <a:solidFill>
                  <a:srgbClr val="B26A00"/>
                </a:solidFill>
              </a:rPr>
              <a:t>3 / 600</a:t>
            </a:r>
            <a:endParaRPr lang="en-US" sz="2600" dirty="0"/>
          </a:p>
        </p:txBody>
      </p:sp>
      <p:sp>
        <p:nvSpPr>
          <p:cNvPr id="23" name="Text 19"/>
          <p:cNvSpPr txBox="1"/>
          <p:nvPr/>
        </p:nvSpPr>
        <p:spPr>
          <a:xfrm>
            <a:off x="10085832" y="3712464"/>
            <a:ext cx="1417320" cy="526694"/>
          </a:xfrm>
          <a:prstGeom prst="rect">
            <a:avLst/>
          </a:prstGeom>
          <a:noFill/>
          <a:ln/>
        </p:spPr>
        <p:txBody>
          <a:bodyPr wrap="square" lIns="0" tIns="0" rIns="0" bIns="0" rtlCol="0" anchor="t"/>
          <a:lstStyle/>
          <a:p>
            <a:pPr algn="ctr" indent="0" marL="0">
              <a:buNone/>
            </a:pPr>
            <a:r>
              <a:rPr lang="en-US" sz="1150" dirty="0">
                <a:solidFill>
                  <a:srgbClr val="5A5A5A"/>
                </a:solidFill>
              </a:rPr>
              <a:t>misma especie fuera de la zona</a:t>
            </a:r>
            <a:endParaRPr lang="en-US" sz="1150" dirty="0"/>
          </a:p>
        </p:txBody>
      </p:sp>
      <p:sp>
        <p:nvSpPr>
          <p:cNvPr id="24" name="Shape 20"/>
          <p:cNvSpPr/>
          <p:nvPr/>
        </p:nvSpPr>
        <p:spPr>
          <a:xfrm>
            <a:off x="548640" y="5074920"/>
            <a:ext cx="11091672" cy="1051560"/>
          </a:xfrm>
          <a:prstGeom prst="roundRect">
            <a:avLst>
              <a:gd name="adj" fmla="val 6957"/>
            </a:avLst>
          </a:prstGeom>
          <a:solidFill>
            <a:srgbClr val="E2EFDA"/>
          </a:solidFill>
          <a:ln w="9525">
            <a:solidFill>
              <a:srgbClr val="8FBF7F"/>
            </a:solidFill>
            <a:prstDash val="solid"/>
          </a:ln>
        </p:spPr>
      </p:sp>
      <p:sp>
        <p:nvSpPr>
          <p:cNvPr id="25" name="Text 21"/>
          <p:cNvSpPr txBox="1"/>
          <p:nvPr/>
        </p:nvSpPr>
        <p:spPr>
          <a:xfrm>
            <a:off x="731520" y="5184648"/>
            <a:ext cx="10725912" cy="832104"/>
          </a:xfrm>
          <a:prstGeom prst="rect">
            <a:avLst/>
          </a:prstGeom>
          <a:noFill/>
          <a:ln/>
        </p:spPr>
        <p:txBody>
          <a:bodyPr wrap="square" lIns="0" tIns="0" rIns="0" bIns="0" rtlCol="0" anchor="t"/>
          <a:lstStyle/>
          <a:p>
            <a:pPr indent="0" marL="0">
              <a:spcAft>
                <a:spcPts val="400"/>
              </a:spcAft>
              <a:buNone/>
            </a:pPr>
            <a:r>
              <a:rPr lang="en-US" sz="1400" b="1" dirty="0">
                <a:solidFill>
                  <a:srgbClr val="2E7D32"/>
                </a:solidFill>
              </a:rPr>
              <a:t>Conclusión</a:t>
            </a:r>
            <a:endParaRPr lang="en-US" sz="1400" dirty="0"/>
          </a:p>
          <a:p>
            <a:pPr indent="0" marL="0">
              <a:spcAft>
                <a:spcPts val="400"/>
              </a:spcAft>
              <a:buNone/>
            </a:pPr>
            <a:r>
              <a:rPr lang="en-US" sz="1300" dirty="0">
                <a:solidFill>
                  <a:srgbClr val="222222"/>
                </a:solidFill>
              </a:rPr>
              <a:t>El detector no inventa la especie a partir del escenario. Si cae en trans, es porque no reconoce al animal cuando cambian el fondo, el ángulo y la luz.</a:t>
            </a:r>
            <a:endParaRPr lang="en-US" sz="140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EigenCAM</a:t>
            </a:r>
            <a:endParaRPr lang="en-US" sz="2700" dirty="0"/>
          </a:p>
        </p:txBody>
      </p:sp>
      <p:sp>
        <p:nvSpPr>
          <p:cNvPr id="3" name="Text 1"/>
          <p:cNvSpPr txBox="1"/>
          <p:nvPr/>
        </p:nvSpPr>
        <p:spPr>
          <a:xfrm>
            <a:off x="548640" y="1033272"/>
            <a:ext cx="11091672" cy="384048"/>
          </a:xfrm>
          <a:prstGeom prst="rect">
            <a:avLst/>
          </a:prstGeom>
          <a:noFill/>
          <a:ln/>
        </p:spPr>
        <p:txBody>
          <a:bodyPr wrap="square" rtlCol="0" anchor="ctr"/>
          <a:lstStyle/>
          <a:p>
            <a:pPr algn="ctr" indent="0" marL="0">
              <a:buNone/>
            </a:pPr>
            <a:r>
              <a:rPr lang="en-US" sz="1700" b="1" dirty="0">
                <a:solidFill>
                  <a:srgbClr val="7A1518"/>
                </a:solidFill>
                <a:latin typeface="Cambria" pitchFamily="34" charset="0"/>
                <a:ea typeface="Cambria" pitchFamily="34" charset="-122"/>
                <a:cs typeface="Cambria" pitchFamily="34" charset="-120"/>
              </a:rPr>
              <a:t>E3 · El mapa del backbone se concentra en la escena, no en el animal</a:t>
            </a:r>
            <a:endParaRPr lang="en-US" sz="1700" dirty="0"/>
          </a:p>
        </p:txBody>
      </p:sp>
      <p:pic>
        <p:nvPicPr>
          <p:cNvPr id="5" name="Image 0" descr="C:\Users\derla\AppData\Local\Temp\claude\C--Users-derla-Documents-maestria-RNC\a18331b0-62b1-40c0-8bf2-8626c603f7b5\scratchpad\ppt\img\eigencam_ejemplos.png">    </p:cNvPr>
          <p:cNvPicPr>
            <a:picLocks noChangeAspect="1"/>
          </p:cNvPicPr>
          <p:nvPr/>
        </p:nvPicPr>
        <p:blipFill>
          <a:blip r:embed="rId1"/>
          <a:stretch>
            <a:fillRect/>
          </a:stretch>
        </p:blipFill>
        <p:spPr>
          <a:xfrm>
            <a:off x="548640" y="1508760"/>
            <a:ext cx="11091672" cy="3410712"/>
          </a:xfrm>
          <a:prstGeom prst="rect">
            <a:avLst/>
          </a:prstGeom>
        </p:spPr>
      </p:pic>
      <p:sp>
        <p:nvSpPr>
          <p:cNvPr id="6" name="Shape 2"/>
          <p:cNvSpPr/>
          <p:nvPr/>
        </p:nvSpPr>
        <p:spPr>
          <a:xfrm>
            <a:off x="548640" y="5029200"/>
            <a:ext cx="2194560" cy="1143000"/>
          </a:xfrm>
          <a:prstGeom prst="roundRect">
            <a:avLst>
              <a:gd name="adj" fmla="val 6400"/>
            </a:avLst>
          </a:prstGeom>
          <a:solidFill>
            <a:srgbClr val="F3F4F6"/>
          </a:solidFill>
          <a:ln w="9525">
            <a:solidFill>
              <a:srgbClr val="D9D9D9"/>
            </a:solidFill>
            <a:prstDash val="solid"/>
          </a:ln>
        </p:spPr>
      </p:sp>
      <p:sp>
        <p:nvSpPr>
          <p:cNvPr id="7" name="Text 3"/>
          <p:cNvSpPr txBox="1"/>
          <p:nvPr/>
        </p:nvSpPr>
        <p:spPr>
          <a:xfrm>
            <a:off x="548640" y="5138928"/>
            <a:ext cx="2194560" cy="594360"/>
          </a:xfrm>
          <a:prstGeom prst="rect">
            <a:avLst/>
          </a:prstGeom>
          <a:noFill/>
          <a:ln/>
        </p:spPr>
        <p:txBody>
          <a:bodyPr wrap="square" lIns="0" tIns="0" rIns="0" bIns="0" rtlCol="0" anchor="ctr"/>
          <a:lstStyle/>
          <a:p>
            <a:pPr algn="ctr" indent="0" marL="0">
              <a:buNone/>
            </a:pPr>
            <a:r>
              <a:rPr lang="en-US" sz="2400" b="1" dirty="0">
                <a:solidFill>
                  <a:srgbClr val="7A1518"/>
                </a:solidFill>
              </a:rPr>
              <a:t>0,05–0,08</a:t>
            </a:r>
            <a:endParaRPr lang="en-US" sz="2400" dirty="0"/>
          </a:p>
        </p:txBody>
      </p:sp>
      <p:sp>
        <p:nvSpPr>
          <p:cNvPr id="8" name="Text 4"/>
          <p:cNvSpPr txBox="1"/>
          <p:nvPr/>
        </p:nvSpPr>
        <p:spPr>
          <a:xfrm>
            <a:off x="685800" y="5715000"/>
            <a:ext cx="1920240" cy="411480"/>
          </a:xfrm>
          <a:prstGeom prst="rect">
            <a:avLst/>
          </a:prstGeom>
          <a:noFill/>
          <a:ln/>
        </p:spPr>
        <p:txBody>
          <a:bodyPr wrap="square" lIns="0" tIns="0" rIns="0" bIns="0" rtlCol="0" anchor="t"/>
          <a:lstStyle/>
          <a:p>
            <a:pPr algn="ctr" indent="0" marL="0">
              <a:buNone/>
            </a:pPr>
            <a:r>
              <a:rPr lang="en-US" sz="1150" dirty="0">
                <a:solidFill>
                  <a:srgbClr val="5A5A5A"/>
                </a:solidFill>
              </a:rPr>
              <a:t>lift mediano (1 = sin preferencia)</a:t>
            </a:r>
            <a:endParaRPr lang="en-US" sz="1150" dirty="0"/>
          </a:p>
        </p:txBody>
      </p:sp>
      <p:sp>
        <p:nvSpPr>
          <p:cNvPr id="9" name="Shape 5"/>
          <p:cNvSpPr/>
          <p:nvPr/>
        </p:nvSpPr>
        <p:spPr>
          <a:xfrm>
            <a:off x="2926080" y="5029200"/>
            <a:ext cx="4206240" cy="1143000"/>
          </a:xfrm>
          <a:prstGeom prst="roundRect">
            <a:avLst>
              <a:gd name="adj" fmla="val 6400"/>
            </a:avLst>
          </a:prstGeom>
          <a:solidFill>
            <a:srgbClr val="F3F4F6"/>
          </a:solidFill>
          <a:ln w="9525">
            <a:solidFill>
              <a:srgbClr val="D9D9D9"/>
            </a:solidFill>
            <a:prstDash val="solid"/>
          </a:ln>
        </p:spPr>
      </p:sp>
      <p:sp>
        <p:nvSpPr>
          <p:cNvPr id="10" name="Text 6"/>
          <p:cNvSpPr txBox="1"/>
          <p:nvPr/>
        </p:nvSpPr>
        <p:spPr>
          <a:xfrm>
            <a:off x="3108960" y="5138928"/>
            <a:ext cx="3840480" cy="923544"/>
          </a:xfrm>
          <a:prstGeom prst="rect">
            <a:avLst/>
          </a:prstGeom>
          <a:noFill/>
          <a:ln/>
        </p:spPr>
        <p:txBody>
          <a:bodyPr wrap="square" lIns="0" tIns="0" rIns="0" bIns="0" rtlCol="0" anchor="t"/>
          <a:lstStyle/>
          <a:p>
            <a:pPr indent="0" marL="0">
              <a:spcAft>
                <a:spcPts val="400"/>
              </a:spcAft>
              <a:buNone/>
            </a:pPr>
            <a:r>
              <a:rPr lang="en-US" sz="1200" b="1" dirty="0">
                <a:solidFill>
                  <a:srgbClr val="7A1518"/>
                </a:solidFill>
              </a:rPr>
              <a:t>Qué mide</a:t>
            </a:r>
            <a:endParaRPr lang="en-US" sz="1200" dirty="0"/>
          </a:p>
          <a:p>
            <a:pPr indent="0" marL="0">
              <a:spcAft>
                <a:spcPts val="400"/>
              </a:spcAft>
              <a:buNone/>
            </a:pPr>
            <a:r>
              <a:rPr lang="en-US" sz="1100" dirty="0">
                <a:solidFill>
                  <a:srgbClr val="222222"/>
                </a:solidFill>
              </a:rPr>
              <a:t>Fracción de la energía del mapa dentro de la caja real ÷ fracción de área que ocupa la caja. Capa 9 (SPPF).</a:t>
            </a:r>
            <a:endParaRPr lang="en-US" sz="1200" dirty="0"/>
          </a:p>
        </p:txBody>
      </p:sp>
      <p:sp>
        <p:nvSpPr>
          <p:cNvPr id="11" name="Shape 7"/>
          <p:cNvSpPr/>
          <p:nvPr/>
        </p:nvSpPr>
        <p:spPr>
          <a:xfrm>
            <a:off x="7315200" y="5029200"/>
            <a:ext cx="4325112" cy="1143000"/>
          </a:xfrm>
          <a:prstGeom prst="roundRect">
            <a:avLst>
              <a:gd name="adj" fmla="val 6400"/>
            </a:avLst>
          </a:prstGeom>
          <a:solidFill>
            <a:srgbClr val="FFF1D6"/>
          </a:solidFill>
          <a:ln w="9525">
            <a:solidFill>
              <a:srgbClr val="E5B567"/>
            </a:solidFill>
            <a:prstDash val="solid"/>
          </a:ln>
        </p:spPr>
      </p:sp>
      <p:sp>
        <p:nvSpPr>
          <p:cNvPr id="12" name="Text 8"/>
          <p:cNvSpPr txBox="1"/>
          <p:nvPr/>
        </p:nvSpPr>
        <p:spPr>
          <a:xfrm>
            <a:off x="7498080" y="5138928"/>
            <a:ext cx="3959352" cy="923544"/>
          </a:xfrm>
          <a:prstGeom prst="rect">
            <a:avLst/>
          </a:prstGeom>
          <a:noFill/>
          <a:ln/>
        </p:spPr>
        <p:txBody>
          <a:bodyPr wrap="square" lIns="0" tIns="0" rIns="0" bIns="0" rtlCol="0" anchor="t"/>
          <a:lstStyle/>
          <a:p>
            <a:pPr indent="0" marL="0">
              <a:spcAft>
                <a:spcPts val="400"/>
              </a:spcAft>
              <a:buNone/>
            </a:pPr>
            <a:r>
              <a:rPr lang="en-US" sz="1200" b="1" dirty="0">
                <a:solidFill>
                  <a:srgbClr val="B26A00"/>
                </a:solidFill>
              </a:rPr>
              <a:t>Cómo se lee con el borrado</a:t>
            </a:r>
            <a:endParaRPr lang="en-US" sz="1200" dirty="0"/>
          </a:p>
          <a:p>
            <a:pPr indent="0" marL="0">
              <a:spcAft>
                <a:spcPts val="400"/>
              </a:spcAft>
              <a:buNone/>
            </a:pPr>
            <a:r>
              <a:rPr lang="en-US" sz="1100" dirty="0">
                <a:solidFill>
                  <a:srgbClr val="222222"/>
                </a:solidFill>
              </a:rPr>
              <a:t>El backbone está dominado por la escena, pero la cabeza no decide por ella: el borrado lo descarta.</a:t>
            </a:r>
            <a:endParaRPr lang="en-US" sz="120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Robustez al tamaño</a:t>
            </a:r>
            <a:endParaRPr lang="en-US" sz="2700" dirty="0"/>
          </a:p>
        </p:txBody>
      </p:sp>
      <p:sp>
        <p:nvSpPr>
          <p:cNvPr id="3" name="Text 1"/>
          <p:cNvSpPr txBox="1"/>
          <p:nvPr/>
        </p:nvSpPr>
        <p:spPr>
          <a:xfrm>
            <a:off x="548640" y="1033272"/>
            <a:ext cx="11091672" cy="384048"/>
          </a:xfrm>
          <a:prstGeom prst="rect">
            <a:avLst/>
          </a:prstGeom>
          <a:noFill/>
          <a:ln/>
        </p:spPr>
        <p:txBody>
          <a:bodyPr wrap="square" rtlCol="0" anchor="ctr"/>
          <a:lstStyle/>
          <a:p>
            <a:pPr algn="ctr" indent="0" marL="0">
              <a:buNone/>
            </a:pPr>
            <a:r>
              <a:rPr lang="en-US" sz="1700" b="1" dirty="0">
                <a:solidFill>
                  <a:srgbClr val="7A1518"/>
                </a:solidFill>
                <a:latin typeface="Cambria" pitchFamily="34" charset="0"/>
                <a:ea typeface="Cambria" pitchFamily="34" charset="-122"/>
                <a:cs typeface="Cambria" pitchFamily="34" charset="-120"/>
              </a:rPr>
              <a:t>E4 · Los animales grandes de cámaras nuevas se localizan, pero se confunden de especie</a:t>
            </a:r>
            <a:endParaRPr lang="en-US" sz="1700" dirty="0"/>
          </a:p>
        </p:txBody>
      </p:sp>
      <p:graphicFrame>
        <p:nvGraphicFramePr>
          <p:cNvPr id="5" name="Chart 0" descr=""/>
          <p:cNvGraphicFramePr/>
          <p:nvPr/>
        </p:nvGraphicFramePr>
        <p:xfrm>
          <a:off x="548640" y="1508760"/>
          <a:ext cx="5852160" cy="46634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675120" y="1645920"/>
            <a:ext cx="1554480" cy="1325880"/>
          </a:xfrm>
          <a:prstGeom prst="roundRect">
            <a:avLst>
              <a:gd name="adj" fmla="val 5517"/>
            </a:avLst>
          </a:prstGeom>
          <a:solidFill>
            <a:srgbClr val="F3F4F6"/>
          </a:solidFill>
          <a:ln w="9525">
            <a:solidFill>
              <a:srgbClr val="D9D9D9"/>
            </a:solidFill>
            <a:prstDash val="solid"/>
          </a:ln>
        </p:spPr>
      </p:sp>
      <p:sp>
        <p:nvSpPr>
          <p:cNvPr id="7" name="Text 3"/>
          <p:cNvSpPr txBox="1"/>
          <p:nvPr/>
        </p:nvSpPr>
        <p:spPr>
          <a:xfrm>
            <a:off x="6675120" y="1755648"/>
            <a:ext cx="1554480" cy="689458"/>
          </a:xfrm>
          <a:prstGeom prst="rect">
            <a:avLst/>
          </a:prstGeom>
          <a:noFill/>
          <a:ln/>
        </p:spPr>
        <p:txBody>
          <a:bodyPr wrap="square" lIns="0" tIns="0" rIns="0" bIns="0" rtlCol="0" anchor="ctr"/>
          <a:lstStyle/>
          <a:p>
            <a:pPr algn="ctr" indent="0" marL="0">
              <a:buNone/>
            </a:pPr>
            <a:r>
              <a:rPr lang="en-US" sz="2600" b="1" dirty="0">
                <a:solidFill>
                  <a:srgbClr val="1F3B66"/>
                </a:solidFill>
              </a:rPr>
              <a:t>64 %</a:t>
            </a:r>
            <a:endParaRPr lang="en-US" sz="2600" dirty="0"/>
          </a:p>
        </p:txBody>
      </p:sp>
      <p:sp>
        <p:nvSpPr>
          <p:cNvPr id="8" name="Text 4"/>
          <p:cNvSpPr txBox="1"/>
          <p:nvPr/>
        </p:nvSpPr>
        <p:spPr>
          <a:xfrm>
            <a:off x="6812280" y="2441448"/>
            <a:ext cx="1280160" cy="477317"/>
          </a:xfrm>
          <a:prstGeom prst="rect">
            <a:avLst/>
          </a:prstGeom>
          <a:noFill/>
          <a:ln/>
        </p:spPr>
        <p:txBody>
          <a:bodyPr wrap="square" lIns="0" tIns="0" rIns="0" bIns="0" rtlCol="0" anchor="t"/>
          <a:lstStyle/>
          <a:p>
            <a:pPr algn="ctr" indent="0" marL="0">
              <a:buNone/>
            </a:pPr>
            <a:r>
              <a:rPr lang="en-US" sz="1150" dirty="0">
                <a:solidFill>
                  <a:srgbClr val="5A5A5A"/>
                </a:solidFill>
              </a:rPr>
              <a:t>grandes trans localizadas</a:t>
            </a:r>
            <a:endParaRPr lang="en-US" sz="1150" dirty="0"/>
          </a:p>
        </p:txBody>
      </p:sp>
      <p:sp>
        <p:nvSpPr>
          <p:cNvPr id="9" name="Shape 5"/>
          <p:cNvSpPr/>
          <p:nvPr/>
        </p:nvSpPr>
        <p:spPr>
          <a:xfrm>
            <a:off x="8385048" y="1645920"/>
            <a:ext cx="1554480" cy="1325880"/>
          </a:xfrm>
          <a:prstGeom prst="roundRect">
            <a:avLst>
              <a:gd name="adj" fmla="val 5517"/>
            </a:avLst>
          </a:prstGeom>
          <a:solidFill>
            <a:srgbClr val="F3F4F6"/>
          </a:solidFill>
          <a:ln w="9525">
            <a:solidFill>
              <a:srgbClr val="D9D9D9"/>
            </a:solidFill>
            <a:prstDash val="solid"/>
          </a:ln>
        </p:spPr>
      </p:sp>
      <p:sp>
        <p:nvSpPr>
          <p:cNvPr id="10" name="Text 6"/>
          <p:cNvSpPr txBox="1"/>
          <p:nvPr/>
        </p:nvSpPr>
        <p:spPr>
          <a:xfrm>
            <a:off x="8385048" y="1755648"/>
            <a:ext cx="1554480" cy="689458"/>
          </a:xfrm>
          <a:prstGeom prst="rect">
            <a:avLst/>
          </a:prstGeom>
          <a:noFill/>
          <a:ln/>
        </p:spPr>
        <p:txBody>
          <a:bodyPr wrap="square" lIns="0" tIns="0" rIns="0" bIns="0" rtlCol="0" anchor="ctr"/>
          <a:lstStyle/>
          <a:p>
            <a:pPr algn="ctr" indent="0" marL="0">
              <a:buNone/>
            </a:pPr>
            <a:r>
              <a:rPr lang="en-US" sz="2600" b="1" dirty="0">
                <a:solidFill>
                  <a:srgbClr val="7A1518"/>
                </a:solidFill>
              </a:rPr>
              <a:t>46 %</a:t>
            </a:r>
            <a:endParaRPr lang="en-US" sz="2600" dirty="0"/>
          </a:p>
        </p:txBody>
      </p:sp>
      <p:sp>
        <p:nvSpPr>
          <p:cNvPr id="11" name="Text 7"/>
          <p:cNvSpPr txBox="1"/>
          <p:nvPr/>
        </p:nvSpPr>
        <p:spPr>
          <a:xfrm>
            <a:off x="8522208" y="2441448"/>
            <a:ext cx="1280160" cy="477317"/>
          </a:xfrm>
          <a:prstGeom prst="rect">
            <a:avLst/>
          </a:prstGeom>
          <a:noFill/>
          <a:ln/>
        </p:spPr>
        <p:txBody>
          <a:bodyPr wrap="square" lIns="0" tIns="0" rIns="0" bIns="0" rtlCol="0" anchor="t"/>
          <a:lstStyle/>
          <a:p>
            <a:pPr algn="ctr" indent="0" marL="0">
              <a:buNone/>
            </a:pPr>
            <a:r>
              <a:rPr lang="en-US" sz="1150" dirty="0">
                <a:solidFill>
                  <a:srgbClr val="5A5A5A"/>
                </a:solidFill>
              </a:rPr>
              <a:t>con la especie correcta</a:t>
            </a:r>
            <a:endParaRPr lang="en-US" sz="1150" dirty="0"/>
          </a:p>
        </p:txBody>
      </p:sp>
      <p:sp>
        <p:nvSpPr>
          <p:cNvPr id="12" name="Shape 8"/>
          <p:cNvSpPr/>
          <p:nvPr/>
        </p:nvSpPr>
        <p:spPr>
          <a:xfrm>
            <a:off x="10085832" y="1645920"/>
            <a:ext cx="1554480" cy="1325880"/>
          </a:xfrm>
          <a:prstGeom prst="roundRect">
            <a:avLst>
              <a:gd name="adj" fmla="val 5517"/>
            </a:avLst>
          </a:prstGeom>
          <a:solidFill>
            <a:srgbClr val="F3F4F6"/>
          </a:solidFill>
          <a:ln w="9525">
            <a:solidFill>
              <a:srgbClr val="D9D9D9"/>
            </a:solidFill>
            <a:prstDash val="solid"/>
          </a:ln>
        </p:spPr>
      </p:sp>
      <p:sp>
        <p:nvSpPr>
          <p:cNvPr id="13" name="Text 9"/>
          <p:cNvSpPr txBox="1"/>
          <p:nvPr/>
        </p:nvSpPr>
        <p:spPr>
          <a:xfrm>
            <a:off x="10085832" y="1755648"/>
            <a:ext cx="1554480" cy="689458"/>
          </a:xfrm>
          <a:prstGeom prst="rect">
            <a:avLst/>
          </a:prstGeom>
          <a:noFill/>
          <a:ln/>
        </p:spPr>
        <p:txBody>
          <a:bodyPr wrap="square" lIns="0" tIns="0" rIns="0" bIns="0" rtlCol="0" anchor="ctr"/>
          <a:lstStyle/>
          <a:p>
            <a:pPr algn="ctr" indent="0" marL="0">
              <a:buNone/>
            </a:pPr>
            <a:r>
              <a:rPr lang="en-US" sz="2600" b="1" dirty="0">
                <a:solidFill>
                  <a:srgbClr val="B26A00"/>
                </a:solidFill>
              </a:rPr>
              <a:t>80 %</a:t>
            </a:r>
            <a:endParaRPr lang="en-US" sz="2600" dirty="0"/>
          </a:p>
        </p:txBody>
      </p:sp>
      <p:sp>
        <p:nvSpPr>
          <p:cNvPr id="14" name="Text 10"/>
          <p:cNvSpPr txBox="1"/>
          <p:nvPr/>
        </p:nvSpPr>
        <p:spPr>
          <a:xfrm>
            <a:off x="10222992" y="2441448"/>
            <a:ext cx="1280160" cy="477317"/>
          </a:xfrm>
          <a:prstGeom prst="rect">
            <a:avLst/>
          </a:prstGeom>
          <a:noFill/>
          <a:ln/>
        </p:spPr>
        <p:txBody>
          <a:bodyPr wrap="square" lIns="0" tIns="0" rIns="0" bIns="0" rtlCol="0" anchor="t"/>
          <a:lstStyle/>
          <a:p>
            <a:pPr algn="ctr" indent="0" marL="0">
              <a:buNone/>
            </a:pPr>
            <a:r>
              <a:rPr lang="en-US" sz="1150" dirty="0">
                <a:solidFill>
                  <a:srgbClr val="5A5A5A"/>
                </a:solidFill>
              </a:rPr>
              <a:t>de los errores tocan el borde</a:t>
            </a:r>
            <a:endParaRPr lang="en-US" sz="1150" dirty="0"/>
          </a:p>
        </p:txBody>
      </p:sp>
      <p:sp>
        <p:nvSpPr>
          <p:cNvPr id="15" name="Shape 11"/>
          <p:cNvSpPr/>
          <p:nvPr/>
        </p:nvSpPr>
        <p:spPr>
          <a:xfrm>
            <a:off x="6675120" y="3154680"/>
            <a:ext cx="4965192" cy="1463040"/>
          </a:xfrm>
          <a:prstGeom prst="roundRect">
            <a:avLst>
              <a:gd name="adj" fmla="val 5000"/>
            </a:avLst>
          </a:prstGeom>
          <a:solidFill>
            <a:srgbClr val="FFF1D6"/>
          </a:solidFill>
          <a:ln w="9525">
            <a:solidFill>
              <a:srgbClr val="E5B567"/>
            </a:solidFill>
            <a:prstDash val="solid"/>
          </a:ln>
        </p:spPr>
      </p:sp>
      <p:sp>
        <p:nvSpPr>
          <p:cNvPr id="16" name="Text 12"/>
          <p:cNvSpPr txBox="1"/>
          <p:nvPr/>
        </p:nvSpPr>
        <p:spPr>
          <a:xfrm>
            <a:off x="6858000" y="3264408"/>
            <a:ext cx="4599432" cy="1243584"/>
          </a:xfrm>
          <a:prstGeom prst="rect">
            <a:avLst/>
          </a:prstGeom>
          <a:noFill/>
          <a:ln/>
        </p:spPr>
        <p:txBody>
          <a:bodyPr wrap="square" lIns="0" tIns="0" rIns="0" bIns="0" rtlCol="0" anchor="t"/>
          <a:lstStyle/>
          <a:p>
            <a:pPr indent="0" marL="0">
              <a:spcAft>
                <a:spcPts val="400"/>
              </a:spcAft>
              <a:buNone/>
            </a:pPr>
            <a:r>
              <a:rPr lang="en-US" sz="1300" b="1" dirty="0">
                <a:solidFill>
                  <a:srgbClr val="B26A00"/>
                </a:solidFill>
              </a:rPr>
              <a:t>Animales cortados por el encuadre</a:t>
            </a:r>
            <a:endParaRPr lang="en-US" sz="1300" dirty="0"/>
          </a:p>
          <a:p>
            <a:pPr indent="0" marL="0">
              <a:spcAft>
                <a:spcPts val="400"/>
              </a:spcAft>
              <a:buNone/>
            </a:pPr>
            <a:r>
              <a:rPr lang="en-US" sz="1200" dirty="0">
                <a:solidFill>
                  <a:srgbClr val="222222"/>
                </a:solidFill>
              </a:rPr>
              <a:t>De las 625 cajas grandes con especie equivocada, el 80 % toca el borde (frente al 34 % de las acertadas) y el 71 % es nocturna.</a:t>
            </a:r>
            <a:endParaRPr lang="en-US" sz="1300" dirty="0"/>
          </a:p>
        </p:txBody>
      </p:sp>
      <p:sp>
        <p:nvSpPr>
          <p:cNvPr id="17" name="Shape 13"/>
          <p:cNvSpPr/>
          <p:nvPr/>
        </p:nvSpPr>
        <p:spPr>
          <a:xfrm>
            <a:off x="6675120" y="4754880"/>
            <a:ext cx="4965192" cy="1371600"/>
          </a:xfrm>
          <a:prstGeom prst="roundRect">
            <a:avLst>
              <a:gd name="adj" fmla="val 5333"/>
            </a:avLst>
          </a:prstGeom>
          <a:solidFill>
            <a:srgbClr val="F6E4E4"/>
          </a:solidFill>
          <a:ln w="9525">
            <a:solidFill>
              <a:srgbClr val="F2B8B8"/>
            </a:solidFill>
            <a:prstDash val="solid"/>
          </a:ln>
        </p:spPr>
      </p:sp>
      <p:sp>
        <p:nvSpPr>
          <p:cNvPr id="18" name="Text 14"/>
          <p:cNvSpPr txBox="1"/>
          <p:nvPr/>
        </p:nvSpPr>
        <p:spPr>
          <a:xfrm>
            <a:off x="6858000" y="4864608"/>
            <a:ext cx="4599432" cy="1152144"/>
          </a:xfrm>
          <a:prstGeom prst="rect">
            <a:avLst/>
          </a:prstGeom>
          <a:noFill/>
          <a:ln/>
        </p:spPr>
        <p:txBody>
          <a:bodyPr wrap="square" lIns="0" tIns="0" rIns="0" bIns="0" rtlCol="0" anchor="t"/>
          <a:lstStyle/>
          <a:p>
            <a:pPr indent="0" marL="0">
              <a:spcAft>
                <a:spcPts val="400"/>
              </a:spcAft>
              <a:buNone/>
            </a:pPr>
            <a:r>
              <a:rPr lang="en-US" sz="1300" b="1" dirty="0">
                <a:solidFill>
                  <a:srgbClr val="7A1518"/>
                </a:solidFill>
              </a:rPr>
              <a:t>Confusiones dominantes</a:t>
            </a:r>
            <a:endParaRPr lang="en-US" sz="1300" dirty="0"/>
          </a:p>
          <a:p>
            <a:pPr indent="0" marL="0">
              <a:spcAft>
                <a:spcPts val="400"/>
              </a:spcAft>
              <a:buNone/>
            </a:pPr>
            <a:r>
              <a:rPr lang="en-US" sz="1200" dirty="0">
                <a:solidFill>
                  <a:srgbClr val="222222"/>
                </a:solidFill>
              </a:rPr>
              <a:t>Mapache → coyote (251), gato → coyote (65), coyote → gato (56). Sin silueta completa, el modelo elige la especie parecida.</a:t>
            </a:r>
            <a:endParaRPr lang="en-US" sz="130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Robustez a la oclusión</a:t>
            </a:r>
            <a:endParaRPr lang="en-US" sz="2700" dirty="0"/>
          </a:p>
        </p:txBody>
      </p:sp>
      <p:sp>
        <p:nvSpPr>
          <p:cNvPr id="3" name="Text 1"/>
          <p:cNvSpPr txBox="1"/>
          <p:nvPr/>
        </p:nvSpPr>
        <p:spPr>
          <a:xfrm>
            <a:off x="548640" y="1033272"/>
            <a:ext cx="11091672" cy="384048"/>
          </a:xfrm>
          <a:prstGeom prst="rect">
            <a:avLst/>
          </a:prstGeom>
          <a:noFill/>
          <a:ln/>
        </p:spPr>
        <p:txBody>
          <a:bodyPr wrap="square" rtlCol="0" anchor="ctr"/>
          <a:lstStyle/>
          <a:p>
            <a:pPr algn="ctr" indent="0" marL="0">
              <a:buNone/>
            </a:pPr>
            <a:r>
              <a:rPr lang="en-US" sz="1700" b="1" dirty="0">
                <a:solidFill>
                  <a:srgbClr val="7A1518"/>
                </a:solidFill>
                <a:latin typeface="Cambria" pitchFamily="34" charset="0"/>
                <a:ea typeface="Cambria" pitchFamily="34" charset="-122"/>
                <a:cs typeface="Cambria" pitchFamily="34" charset="-120"/>
              </a:rPr>
              <a:t>E4 · Cuanto más oculto el animal, peor; y en cámaras nuevas cae más rápido</a:t>
            </a:r>
            <a:endParaRPr lang="en-US" sz="1700" dirty="0"/>
          </a:p>
        </p:txBody>
      </p:sp>
      <p:sp>
        <p:nvSpPr>
          <p:cNvPr id="5" name="Shape 2"/>
          <p:cNvSpPr/>
          <p:nvPr/>
        </p:nvSpPr>
        <p:spPr>
          <a:xfrm>
            <a:off x="548640" y="1691640"/>
            <a:ext cx="5120640" cy="822960"/>
          </a:xfrm>
          <a:prstGeom prst="roundRect">
            <a:avLst>
              <a:gd name="adj" fmla="val 8889"/>
            </a:avLst>
          </a:prstGeom>
          <a:solidFill>
            <a:srgbClr val="E2EFDA"/>
          </a:solidFill>
          <a:ln w="9525">
            <a:solidFill>
              <a:srgbClr val="8FBF7F"/>
            </a:solidFill>
            <a:prstDash val="solid"/>
          </a:ln>
        </p:spPr>
      </p:sp>
      <p:sp>
        <p:nvSpPr>
          <p:cNvPr id="6" name="Shape 3"/>
          <p:cNvSpPr/>
          <p:nvPr/>
        </p:nvSpPr>
        <p:spPr>
          <a:xfrm>
            <a:off x="777240" y="1911096"/>
            <a:ext cx="384048" cy="384048"/>
          </a:xfrm>
          <a:prstGeom prst="ellipse">
            <a:avLst/>
          </a:prstGeom>
          <a:solidFill>
            <a:srgbClr val="2E7D32"/>
          </a:solidFill>
          <a:ln w="12700">
            <a:solidFill>
              <a:srgbClr val="2E7D32"/>
            </a:solidFill>
            <a:prstDash val="solid"/>
          </a:ln>
        </p:spPr>
      </p:sp>
      <p:sp>
        <p:nvSpPr>
          <p:cNvPr id="7" name="Text 4"/>
          <p:cNvSpPr txBox="1"/>
          <p:nvPr/>
        </p:nvSpPr>
        <p:spPr>
          <a:xfrm>
            <a:off x="777240" y="19110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5"/>
          <p:cNvSpPr txBox="1"/>
          <p:nvPr/>
        </p:nvSpPr>
        <p:spPr>
          <a:xfrm>
            <a:off x="1325880" y="1691640"/>
            <a:ext cx="4206240" cy="822960"/>
          </a:xfrm>
          <a:prstGeom prst="rect">
            <a:avLst/>
          </a:prstGeom>
          <a:noFill/>
          <a:ln/>
        </p:spPr>
        <p:txBody>
          <a:bodyPr wrap="square" lIns="0" tIns="0" rIns="0" bIns="0" rtlCol="0" anchor="ctr"/>
          <a:lstStyle/>
          <a:p>
            <a:pPr indent="0" marL="0">
              <a:buNone/>
            </a:pPr>
            <a:r>
              <a:rPr lang="en-US" sz="1600" b="1" dirty="0">
                <a:solidFill>
                  <a:srgbClr val="2E7D32"/>
                </a:solidFill>
              </a:rPr>
              <a:t>Baja  </a:t>
            </a:r>
            <a:pPr indent="0" marL="0">
              <a:buNone/>
            </a:pPr>
            <a:r>
              <a:rPr lang="en-US" sz="1300" dirty="0">
                <a:solidFill>
                  <a:srgbClr val="222222"/>
                </a:solidFill>
              </a:rPr>
              <a:t>&lt; 25 % del animal oculto</a:t>
            </a:r>
            <a:endParaRPr lang="en-US" sz="1600" dirty="0"/>
          </a:p>
        </p:txBody>
      </p:sp>
      <p:sp>
        <p:nvSpPr>
          <p:cNvPr id="9" name="Shape 6"/>
          <p:cNvSpPr/>
          <p:nvPr/>
        </p:nvSpPr>
        <p:spPr>
          <a:xfrm>
            <a:off x="548640" y="2651760"/>
            <a:ext cx="5120640" cy="822960"/>
          </a:xfrm>
          <a:prstGeom prst="roundRect">
            <a:avLst>
              <a:gd name="adj" fmla="val 8889"/>
            </a:avLst>
          </a:prstGeom>
          <a:solidFill>
            <a:srgbClr val="FFF1D6"/>
          </a:solidFill>
          <a:ln w="9525">
            <a:solidFill>
              <a:srgbClr val="E5B567"/>
            </a:solidFill>
            <a:prstDash val="solid"/>
          </a:ln>
        </p:spPr>
      </p:sp>
      <p:sp>
        <p:nvSpPr>
          <p:cNvPr id="10" name="Shape 7"/>
          <p:cNvSpPr/>
          <p:nvPr/>
        </p:nvSpPr>
        <p:spPr>
          <a:xfrm>
            <a:off x="777240" y="2871216"/>
            <a:ext cx="384048" cy="384048"/>
          </a:xfrm>
          <a:prstGeom prst="ellipse">
            <a:avLst/>
          </a:prstGeom>
          <a:solidFill>
            <a:srgbClr val="B26A00"/>
          </a:solidFill>
          <a:ln w="12700">
            <a:solidFill>
              <a:srgbClr val="B26A00"/>
            </a:solidFill>
            <a:prstDash val="solid"/>
          </a:ln>
        </p:spPr>
      </p:sp>
      <p:sp>
        <p:nvSpPr>
          <p:cNvPr id="11" name="Text 8"/>
          <p:cNvSpPr txBox="1"/>
          <p:nvPr/>
        </p:nvSpPr>
        <p:spPr>
          <a:xfrm>
            <a:off x="777240" y="28712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9"/>
          <p:cNvSpPr txBox="1"/>
          <p:nvPr/>
        </p:nvSpPr>
        <p:spPr>
          <a:xfrm>
            <a:off x="1325880" y="2651760"/>
            <a:ext cx="4206240" cy="822960"/>
          </a:xfrm>
          <a:prstGeom prst="rect">
            <a:avLst/>
          </a:prstGeom>
          <a:noFill/>
          <a:ln/>
        </p:spPr>
        <p:txBody>
          <a:bodyPr wrap="square" lIns="0" tIns="0" rIns="0" bIns="0" rtlCol="0" anchor="ctr"/>
          <a:lstStyle/>
          <a:p>
            <a:pPr indent="0" marL="0">
              <a:buNone/>
            </a:pPr>
            <a:r>
              <a:rPr lang="en-US" sz="1600" b="1" dirty="0">
                <a:solidFill>
                  <a:srgbClr val="B26A00"/>
                </a:solidFill>
              </a:rPr>
              <a:t>Media  </a:t>
            </a:r>
            <a:pPr indent="0" marL="0">
              <a:buNone/>
            </a:pPr>
            <a:r>
              <a:rPr lang="en-US" sz="1300" dirty="0">
                <a:solidFill>
                  <a:srgbClr val="222222"/>
                </a:solidFill>
              </a:rPr>
              <a:t>25–60 % oculto</a:t>
            </a:r>
            <a:endParaRPr lang="en-US" sz="1600" dirty="0"/>
          </a:p>
        </p:txBody>
      </p:sp>
      <p:sp>
        <p:nvSpPr>
          <p:cNvPr id="13" name="Shape 10"/>
          <p:cNvSpPr/>
          <p:nvPr/>
        </p:nvSpPr>
        <p:spPr>
          <a:xfrm>
            <a:off x="548640" y="3611880"/>
            <a:ext cx="5120640" cy="822960"/>
          </a:xfrm>
          <a:prstGeom prst="roundRect">
            <a:avLst>
              <a:gd name="adj" fmla="val 8889"/>
            </a:avLst>
          </a:prstGeom>
          <a:solidFill>
            <a:srgbClr val="F6E4E4"/>
          </a:solidFill>
          <a:ln w="9525">
            <a:solidFill>
              <a:srgbClr val="F2B8B8"/>
            </a:solidFill>
            <a:prstDash val="solid"/>
          </a:ln>
        </p:spPr>
      </p:sp>
      <p:sp>
        <p:nvSpPr>
          <p:cNvPr id="14" name="Shape 11"/>
          <p:cNvSpPr/>
          <p:nvPr/>
        </p:nvSpPr>
        <p:spPr>
          <a:xfrm>
            <a:off x="777240" y="3831336"/>
            <a:ext cx="384048" cy="384048"/>
          </a:xfrm>
          <a:prstGeom prst="ellipse">
            <a:avLst/>
          </a:prstGeom>
          <a:solidFill>
            <a:srgbClr val="7A1518"/>
          </a:solidFill>
          <a:ln w="12700">
            <a:solidFill>
              <a:srgbClr val="7A1518"/>
            </a:solidFill>
            <a:prstDash val="solid"/>
          </a:ln>
        </p:spPr>
      </p:sp>
      <p:sp>
        <p:nvSpPr>
          <p:cNvPr id="15" name="Text 12"/>
          <p:cNvSpPr txBox="1"/>
          <p:nvPr/>
        </p:nvSpPr>
        <p:spPr>
          <a:xfrm>
            <a:off x="777240" y="38313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3"/>
          <p:cNvSpPr txBox="1"/>
          <p:nvPr/>
        </p:nvSpPr>
        <p:spPr>
          <a:xfrm>
            <a:off x="1325880" y="3611880"/>
            <a:ext cx="4206240" cy="822960"/>
          </a:xfrm>
          <a:prstGeom prst="rect">
            <a:avLst/>
          </a:prstGeom>
          <a:noFill/>
          <a:ln/>
        </p:spPr>
        <p:txBody>
          <a:bodyPr wrap="square" lIns="0" tIns="0" rIns="0" bIns="0" rtlCol="0" anchor="ctr"/>
          <a:lstStyle/>
          <a:p>
            <a:pPr indent="0" marL="0">
              <a:buNone/>
            </a:pPr>
            <a:r>
              <a:rPr lang="en-US" sz="1600" b="1" dirty="0">
                <a:solidFill>
                  <a:srgbClr val="7A1518"/>
                </a:solidFill>
              </a:rPr>
              <a:t>Alta  </a:t>
            </a:r>
            <a:pPr indent="0" marL="0">
              <a:buNone/>
            </a:pPr>
            <a:r>
              <a:rPr lang="en-US" sz="1300" dirty="0">
                <a:solidFill>
                  <a:srgbClr val="222222"/>
                </a:solidFill>
              </a:rPr>
              <a:t>&gt; 60 % oculto</a:t>
            </a:r>
            <a:endParaRPr lang="en-US" sz="1600" dirty="0"/>
          </a:p>
        </p:txBody>
      </p:sp>
      <p:sp>
        <p:nvSpPr>
          <p:cNvPr id="17" name="Shape 14"/>
          <p:cNvSpPr/>
          <p:nvPr/>
        </p:nvSpPr>
        <p:spPr>
          <a:xfrm>
            <a:off x="548640" y="4663440"/>
            <a:ext cx="5120640" cy="1463040"/>
          </a:xfrm>
          <a:prstGeom prst="roundRect">
            <a:avLst>
              <a:gd name="adj" fmla="val 5000"/>
            </a:avLst>
          </a:prstGeom>
          <a:solidFill>
            <a:srgbClr val="F3F4F6"/>
          </a:solidFill>
          <a:ln w="9525">
            <a:solidFill>
              <a:srgbClr val="D9D9D9"/>
            </a:solidFill>
            <a:prstDash val="solid"/>
          </a:ln>
        </p:spPr>
      </p:sp>
      <p:sp>
        <p:nvSpPr>
          <p:cNvPr id="18" name="Text 15"/>
          <p:cNvSpPr txBox="1"/>
          <p:nvPr/>
        </p:nvSpPr>
        <p:spPr>
          <a:xfrm>
            <a:off x="731520" y="4773168"/>
            <a:ext cx="4754880" cy="1243584"/>
          </a:xfrm>
          <a:prstGeom prst="rect">
            <a:avLst/>
          </a:prstGeom>
          <a:noFill/>
          <a:ln/>
        </p:spPr>
        <p:txBody>
          <a:bodyPr wrap="square" lIns="0" tIns="0" rIns="0" bIns="0" rtlCol="0" anchor="t"/>
          <a:lstStyle/>
          <a:p>
            <a:pPr indent="0" marL="0">
              <a:spcAft>
                <a:spcPts val="400"/>
              </a:spcAft>
              <a:buNone/>
            </a:pPr>
            <a:r>
              <a:rPr lang="en-US" sz="1300" b="1" dirty="0">
                <a:solidFill>
                  <a:srgbClr val="7A1518"/>
                </a:solidFill>
              </a:rPr>
              <a:t>Protocolo</a:t>
            </a:r>
            <a:endParaRPr lang="en-US" sz="1300" dirty="0"/>
          </a:p>
          <a:p>
            <a:pPr indent="0" marL="0">
              <a:spcAft>
                <a:spcPts val="400"/>
              </a:spcAft>
              <a:buNone/>
            </a:pPr>
            <a:r>
              <a:rPr lang="en-US" sz="1200" dirty="0">
                <a:solidFill>
                  <a:srgbClr val="222222"/>
                </a:solidFill>
              </a:rPr>
              <a:t>150 cajas por split, resolución completa. Etiquetado inicial con un modelo de visión; 50 re-etiquetadas a ciegas por una persona → κ de Cohen.</a:t>
            </a:r>
            <a:endParaRPr lang="en-US" sz="1300" dirty="0"/>
          </a:p>
        </p:txBody>
      </p:sp>
      <p:graphicFrame>
        <p:nvGraphicFramePr>
          <p:cNvPr id="19" name="Chart 0" descr=""/>
          <p:cNvGraphicFramePr/>
          <p:nvPr/>
        </p:nvGraphicFramePr>
        <p:xfrm>
          <a:off x="5943600" y="1554480"/>
          <a:ext cx="5696712" cy="3429000"/>
        </p:xfrm>
        <a:graphic xmlns:a="http://schemas.openxmlformats.org/drawingml/2006/main">
          <a:graphicData uri="http://schemas.openxmlformats.org/drawingml/2006/chart">
            <c:chart xmlns:c="http://schemas.openxmlformats.org/drawingml/2006/chart" r:id="rId1"/>
          </a:graphicData>
        </a:graphic>
      </p:graphicFrame>
      <p:sp>
        <p:nvSpPr>
          <p:cNvPr id="20" name="Shape 16"/>
          <p:cNvSpPr/>
          <p:nvPr/>
        </p:nvSpPr>
        <p:spPr>
          <a:xfrm>
            <a:off x="5943600" y="5120640"/>
            <a:ext cx="5696712" cy="1005840"/>
          </a:xfrm>
          <a:prstGeom prst="roundRect">
            <a:avLst>
              <a:gd name="adj" fmla="val 7273"/>
            </a:avLst>
          </a:prstGeom>
          <a:solidFill>
            <a:srgbClr val="FFF1D6"/>
          </a:solidFill>
          <a:ln w="9525">
            <a:solidFill>
              <a:srgbClr val="E5B567"/>
            </a:solidFill>
            <a:prstDash val="solid"/>
          </a:ln>
        </p:spPr>
      </p:sp>
      <p:sp>
        <p:nvSpPr>
          <p:cNvPr id="21" name="Text 17"/>
          <p:cNvSpPr txBox="1"/>
          <p:nvPr/>
        </p:nvSpPr>
        <p:spPr>
          <a:xfrm>
            <a:off x="6126480" y="5230368"/>
            <a:ext cx="5330952" cy="786384"/>
          </a:xfrm>
          <a:prstGeom prst="rect">
            <a:avLst/>
          </a:prstGeom>
          <a:noFill/>
          <a:ln/>
        </p:spPr>
        <p:txBody>
          <a:bodyPr wrap="square" lIns="0" tIns="0" rIns="0" bIns="0" rtlCol="0" anchor="t"/>
          <a:lstStyle/>
          <a:p>
            <a:pPr indent="0" marL="0">
              <a:spcAft>
                <a:spcPts val="400"/>
              </a:spcAft>
              <a:buNone/>
            </a:pPr>
            <a:r>
              <a:rPr lang="en-US" sz="1300" b="1" dirty="0">
                <a:solidFill>
                  <a:srgbClr val="B26A00"/>
                </a:solidFill>
              </a:rPr>
              <a:t>Lectura</a:t>
            </a:r>
            <a:endParaRPr lang="en-US" sz="1300" dirty="0"/>
          </a:p>
          <a:p>
            <a:pPr indent="0" marL="0">
              <a:spcAft>
                <a:spcPts val="400"/>
              </a:spcAft>
              <a:buNone/>
            </a:pPr>
            <a:r>
              <a:rPr lang="en-US" sz="1200" dirty="0">
                <a:solidFill>
                  <a:srgbClr val="222222"/>
                </a:solidFill>
              </a:rPr>
              <a:t>Con oclusión media, cis 0,74 → trans 0,52. Los cortes del encuadre cuentan como oclusión: conecta con las cajas grandes del borde.</a:t>
            </a:r>
            <a:endParaRPr lang="en-US" sz="130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Módulo de monitoreo</a:t>
            </a:r>
            <a:endParaRPr lang="en-US" sz="2700" dirty="0"/>
          </a:p>
        </p:txBody>
      </p:sp>
      <p:sp>
        <p:nvSpPr>
          <p:cNvPr id="3" name="Text 1"/>
          <p:cNvSpPr txBox="1"/>
          <p:nvPr/>
        </p:nvSpPr>
        <p:spPr>
          <a:xfrm>
            <a:off x="548640" y="1033272"/>
            <a:ext cx="11091672" cy="384048"/>
          </a:xfrm>
          <a:prstGeom prst="rect">
            <a:avLst/>
          </a:prstGeom>
          <a:noFill/>
          <a:ln/>
        </p:spPr>
        <p:txBody>
          <a:bodyPr wrap="square" rtlCol="0" anchor="ctr"/>
          <a:lstStyle/>
          <a:p>
            <a:pPr algn="ctr" indent="0" marL="0">
              <a:buNone/>
            </a:pPr>
            <a:r>
              <a:rPr lang="en-US" sz="1700" b="1" dirty="0">
                <a:solidFill>
                  <a:srgbClr val="7A1518"/>
                </a:solidFill>
                <a:latin typeface="Cambria" pitchFamily="34" charset="0"/>
                <a:ea typeface="Cambria" pitchFamily="34" charset="-122"/>
                <a:cs typeface="Cambria" pitchFamily="34" charset="-120"/>
              </a:rPr>
              <a:t>E5 · De cajas por foto a lo que necesita un ecólogo: eventos, especies e individuos</a:t>
            </a:r>
            <a:endParaRPr lang="en-US" sz="1700" dirty="0"/>
          </a:p>
        </p:txBody>
      </p:sp>
      <p:sp>
        <p:nvSpPr>
          <p:cNvPr id="5" name="Shape 2"/>
          <p:cNvSpPr/>
          <p:nvPr/>
        </p:nvSpPr>
        <p:spPr>
          <a:xfrm>
            <a:off x="548640" y="1691640"/>
            <a:ext cx="2011680" cy="2651760"/>
          </a:xfrm>
          <a:prstGeom prst="roundRect">
            <a:avLst>
              <a:gd name="adj" fmla="val 3636"/>
            </a:avLst>
          </a:prstGeom>
          <a:solidFill>
            <a:srgbClr val="F3F4F6"/>
          </a:solidFill>
          <a:ln w="9525">
            <a:solidFill>
              <a:srgbClr val="D9D9D9"/>
            </a:solidFill>
            <a:prstDash val="solid"/>
          </a:ln>
        </p:spPr>
      </p:sp>
      <p:sp>
        <p:nvSpPr>
          <p:cNvPr id="6" name="Shape 3"/>
          <p:cNvSpPr/>
          <p:nvPr/>
        </p:nvSpPr>
        <p:spPr>
          <a:xfrm>
            <a:off x="731520" y="1828800"/>
            <a:ext cx="502920" cy="502920"/>
          </a:xfrm>
          <a:prstGeom prst="ellipse">
            <a:avLst/>
          </a:prstGeom>
          <a:solidFill>
            <a:srgbClr val="7A1518"/>
          </a:solidFill>
          <a:ln w="12700">
            <a:solidFill>
              <a:srgbClr val="7A1518"/>
            </a:solidFill>
            <a:prstDash val="solid"/>
          </a:ln>
        </p:spPr>
      </p:sp>
      <p:sp>
        <p:nvSpPr>
          <p:cNvPr id="7" name="Text 4"/>
          <p:cNvSpPr txBox="1"/>
          <p:nvPr/>
        </p:nvSpPr>
        <p:spPr>
          <a:xfrm>
            <a:off x="731520" y="18288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R1</a:t>
            </a:r>
            <a:endParaRPr lang="en-US" sz="1400" dirty="0"/>
          </a:p>
        </p:txBody>
      </p:sp>
      <p:sp>
        <p:nvSpPr>
          <p:cNvPr id="8" name="Text 5"/>
          <p:cNvSpPr txBox="1"/>
          <p:nvPr/>
        </p:nvSpPr>
        <p:spPr>
          <a:xfrm>
            <a:off x="731520" y="2468880"/>
            <a:ext cx="1691640" cy="548640"/>
          </a:xfrm>
          <a:prstGeom prst="rect">
            <a:avLst/>
          </a:prstGeom>
          <a:noFill/>
          <a:ln/>
        </p:spPr>
        <p:txBody>
          <a:bodyPr wrap="square" lIns="0" tIns="0" rIns="0" bIns="0" rtlCol="0" anchor="t"/>
          <a:lstStyle/>
          <a:p>
            <a:pPr indent="0" marL="0">
              <a:buNone/>
            </a:pPr>
            <a:r>
              <a:rPr lang="en-US" sz="1400" b="1" dirty="0">
                <a:solidFill>
                  <a:srgbClr val="7A1518"/>
                </a:solidFill>
              </a:rPr>
              <a:t>Filtrar</a:t>
            </a:r>
            <a:endParaRPr lang="en-US" sz="1400" dirty="0"/>
          </a:p>
        </p:txBody>
      </p:sp>
      <p:sp>
        <p:nvSpPr>
          <p:cNvPr id="9" name="Text 6"/>
          <p:cNvSpPr txBox="1"/>
          <p:nvPr/>
        </p:nvSpPr>
        <p:spPr>
          <a:xfrm>
            <a:off x="731520" y="3017520"/>
            <a:ext cx="1691640" cy="1234440"/>
          </a:xfrm>
          <a:prstGeom prst="rect">
            <a:avLst/>
          </a:prstGeom>
          <a:noFill/>
          <a:ln/>
        </p:spPr>
        <p:txBody>
          <a:bodyPr wrap="square" lIns="0" tIns="0" rIns="0" bIns="0" rtlCol="0" anchor="t"/>
          <a:lstStyle/>
          <a:p>
            <a:pPr indent="0" marL="0">
              <a:buNone/>
            </a:pPr>
            <a:r>
              <a:rPr lang="en-US" sz="1200" dirty="0">
                <a:solidFill>
                  <a:srgbClr val="222222"/>
                </a:solidFill>
              </a:rPr>
              <a:t>Una detección cuenta si su confianza es ≥ 0,5.</a:t>
            </a:r>
            <a:endParaRPr lang="en-US" sz="1200" dirty="0"/>
          </a:p>
        </p:txBody>
      </p:sp>
      <p:sp>
        <p:nvSpPr>
          <p:cNvPr id="10" name="Shape 7"/>
          <p:cNvSpPr/>
          <p:nvPr/>
        </p:nvSpPr>
        <p:spPr>
          <a:xfrm>
            <a:off x="2542032" y="2880360"/>
            <a:ext cx="274320" cy="274320"/>
          </a:xfrm>
          <a:prstGeom prst="rightArrow">
            <a:avLst/>
          </a:prstGeom>
          <a:solidFill>
            <a:srgbClr val="7A1518"/>
          </a:solidFill>
          <a:ln w="12700">
            <a:solidFill>
              <a:srgbClr val="7A1518"/>
            </a:solidFill>
            <a:prstDash val="solid"/>
          </a:ln>
        </p:spPr>
      </p:sp>
      <p:sp>
        <p:nvSpPr>
          <p:cNvPr id="11" name="Shape 8"/>
          <p:cNvSpPr/>
          <p:nvPr/>
        </p:nvSpPr>
        <p:spPr>
          <a:xfrm>
            <a:off x="2816352" y="1691640"/>
            <a:ext cx="2011680" cy="2651760"/>
          </a:xfrm>
          <a:prstGeom prst="roundRect">
            <a:avLst>
              <a:gd name="adj" fmla="val 3636"/>
            </a:avLst>
          </a:prstGeom>
          <a:solidFill>
            <a:srgbClr val="F3F4F6"/>
          </a:solidFill>
          <a:ln w="9525">
            <a:solidFill>
              <a:srgbClr val="D9D9D9"/>
            </a:solidFill>
            <a:prstDash val="solid"/>
          </a:ln>
        </p:spPr>
      </p:sp>
      <p:sp>
        <p:nvSpPr>
          <p:cNvPr id="12" name="Shape 9"/>
          <p:cNvSpPr/>
          <p:nvPr/>
        </p:nvSpPr>
        <p:spPr>
          <a:xfrm>
            <a:off x="2999232" y="1828800"/>
            <a:ext cx="502920" cy="502920"/>
          </a:xfrm>
          <a:prstGeom prst="ellipse">
            <a:avLst/>
          </a:prstGeom>
          <a:solidFill>
            <a:srgbClr val="7A1518"/>
          </a:solidFill>
          <a:ln w="12700">
            <a:solidFill>
              <a:srgbClr val="7A1518"/>
            </a:solidFill>
            <a:prstDash val="solid"/>
          </a:ln>
        </p:spPr>
      </p:sp>
      <p:sp>
        <p:nvSpPr>
          <p:cNvPr id="13" name="Text 10"/>
          <p:cNvSpPr txBox="1"/>
          <p:nvPr/>
        </p:nvSpPr>
        <p:spPr>
          <a:xfrm>
            <a:off x="2999232" y="18288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R2</a:t>
            </a:r>
            <a:endParaRPr lang="en-US" sz="1400" dirty="0"/>
          </a:p>
        </p:txBody>
      </p:sp>
      <p:sp>
        <p:nvSpPr>
          <p:cNvPr id="14" name="Text 11"/>
          <p:cNvSpPr txBox="1"/>
          <p:nvPr/>
        </p:nvSpPr>
        <p:spPr>
          <a:xfrm>
            <a:off x="2999232" y="2468880"/>
            <a:ext cx="1691640" cy="548640"/>
          </a:xfrm>
          <a:prstGeom prst="rect">
            <a:avLst/>
          </a:prstGeom>
          <a:noFill/>
          <a:ln/>
        </p:spPr>
        <p:txBody>
          <a:bodyPr wrap="square" lIns="0" tIns="0" rIns="0" bIns="0" rtlCol="0" anchor="t"/>
          <a:lstStyle/>
          <a:p>
            <a:pPr indent="0" marL="0">
              <a:buNone/>
            </a:pPr>
            <a:r>
              <a:rPr lang="en-US" sz="1400" b="1" dirty="0">
                <a:solidFill>
                  <a:srgbClr val="7A1518"/>
                </a:solidFill>
              </a:rPr>
              <a:t>Agrupar en eventos</a:t>
            </a:r>
            <a:endParaRPr lang="en-US" sz="1400" dirty="0"/>
          </a:p>
        </p:txBody>
      </p:sp>
      <p:sp>
        <p:nvSpPr>
          <p:cNvPr id="15" name="Text 12"/>
          <p:cNvSpPr txBox="1"/>
          <p:nvPr/>
        </p:nvSpPr>
        <p:spPr>
          <a:xfrm>
            <a:off x="2999232" y="3017520"/>
            <a:ext cx="1691640" cy="1234440"/>
          </a:xfrm>
          <a:prstGeom prst="rect">
            <a:avLst/>
          </a:prstGeom>
          <a:noFill/>
          <a:ln/>
        </p:spPr>
        <p:txBody>
          <a:bodyPr wrap="square" lIns="0" tIns="0" rIns="0" bIns="0" rtlCol="0" anchor="t"/>
          <a:lstStyle/>
          <a:p>
            <a:pPr indent="0" marL="0">
              <a:buNone/>
            </a:pPr>
            <a:r>
              <a:rPr lang="en-US" sz="1200" dirty="0">
                <a:solidFill>
                  <a:srgbClr val="222222"/>
                </a:solidFill>
              </a:rPr>
              <a:t>Fotos separadas por ≤ 60 s forman un evento (solo con la hora, como en campo).</a:t>
            </a:r>
            <a:endParaRPr lang="en-US" sz="1200" dirty="0"/>
          </a:p>
        </p:txBody>
      </p:sp>
      <p:sp>
        <p:nvSpPr>
          <p:cNvPr id="16" name="Shape 13"/>
          <p:cNvSpPr/>
          <p:nvPr/>
        </p:nvSpPr>
        <p:spPr>
          <a:xfrm>
            <a:off x="4809744" y="2880360"/>
            <a:ext cx="274320" cy="274320"/>
          </a:xfrm>
          <a:prstGeom prst="rightArrow">
            <a:avLst/>
          </a:prstGeom>
          <a:solidFill>
            <a:srgbClr val="7A1518"/>
          </a:solidFill>
          <a:ln w="12700">
            <a:solidFill>
              <a:srgbClr val="7A1518"/>
            </a:solidFill>
            <a:prstDash val="solid"/>
          </a:ln>
        </p:spPr>
      </p:sp>
      <p:sp>
        <p:nvSpPr>
          <p:cNvPr id="17" name="Shape 14"/>
          <p:cNvSpPr/>
          <p:nvPr/>
        </p:nvSpPr>
        <p:spPr>
          <a:xfrm>
            <a:off x="5084064" y="1691640"/>
            <a:ext cx="2011680" cy="2651760"/>
          </a:xfrm>
          <a:prstGeom prst="roundRect">
            <a:avLst>
              <a:gd name="adj" fmla="val 3636"/>
            </a:avLst>
          </a:prstGeom>
          <a:solidFill>
            <a:srgbClr val="F3F4F6"/>
          </a:solidFill>
          <a:ln w="9525">
            <a:solidFill>
              <a:srgbClr val="D9D9D9"/>
            </a:solidFill>
            <a:prstDash val="solid"/>
          </a:ln>
        </p:spPr>
      </p:sp>
      <p:sp>
        <p:nvSpPr>
          <p:cNvPr id="18" name="Shape 15"/>
          <p:cNvSpPr/>
          <p:nvPr/>
        </p:nvSpPr>
        <p:spPr>
          <a:xfrm>
            <a:off x="5266944" y="1828800"/>
            <a:ext cx="502920" cy="502920"/>
          </a:xfrm>
          <a:prstGeom prst="ellipse">
            <a:avLst/>
          </a:prstGeom>
          <a:solidFill>
            <a:srgbClr val="7A1518"/>
          </a:solidFill>
          <a:ln w="12700">
            <a:solidFill>
              <a:srgbClr val="7A1518"/>
            </a:solidFill>
            <a:prstDash val="solid"/>
          </a:ln>
        </p:spPr>
      </p:sp>
      <p:sp>
        <p:nvSpPr>
          <p:cNvPr id="19" name="Text 16"/>
          <p:cNvSpPr txBox="1"/>
          <p:nvPr/>
        </p:nvSpPr>
        <p:spPr>
          <a:xfrm>
            <a:off x="5266944" y="18288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R3</a:t>
            </a:r>
            <a:endParaRPr lang="en-US" sz="1400" dirty="0"/>
          </a:p>
        </p:txBody>
      </p:sp>
      <p:sp>
        <p:nvSpPr>
          <p:cNvPr id="20" name="Text 17"/>
          <p:cNvSpPr txBox="1"/>
          <p:nvPr/>
        </p:nvSpPr>
        <p:spPr>
          <a:xfrm>
            <a:off x="5266944" y="2468880"/>
            <a:ext cx="1691640" cy="548640"/>
          </a:xfrm>
          <a:prstGeom prst="rect">
            <a:avLst/>
          </a:prstGeom>
          <a:noFill/>
          <a:ln/>
        </p:spPr>
        <p:txBody>
          <a:bodyPr wrap="square" lIns="0" tIns="0" rIns="0" bIns="0" rtlCol="0" anchor="t"/>
          <a:lstStyle/>
          <a:p>
            <a:pPr indent="0" marL="0">
              <a:buNone/>
            </a:pPr>
            <a:r>
              <a:rPr lang="en-US" sz="1400" b="1" dirty="0">
                <a:solidFill>
                  <a:srgbClr val="7A1518"/>
                </a:solidFill>
              </a:rPr>
              <a:t>Especie del evento</a:t>
            </a:r>
            <a:endParaRPr lang="en-US" sz="1400" dirty="0"/>
          </a:p>
        </p:txBody>
      </p:sp>
      <p:sp>
        <p:nvSpPr>
          <p:cNvPr id="21" name="Text 18"/>
          <p:cNvSpPr txBox="1"/>
          <p:nvPr/>
        </p:nvSpPr>
        <p:spPr>
          <a:xfrm>
            <a:off x="5266944" y="3017520"/>
            <a:ext cx="1691640" cy="1234440"/>
          </a:xfrm>
          <a:prstGeom prst="rect">
            <a:avLst/>
          </a:prstGeom>
          <a:noFill/>
          <a:ln/>
        </p:spPr>
        <p:txBody>
          <a:bodyPr wrap="square" lIns="0" tIns="0" rIns="0" bIns="0" rtlCol="0" anchor="t"/>
          <a:lstStyle/>
          <a:p>
            <a:pPr indent="0" marL="0">
              <a:buNone/>
            </a:pPr>
            <a:r>
              <a:rPr lang="en-US" sz="1200" dirty="0">
                <a:solidFill>
                  <a:srgbClr val="222222"/>
                </a:solidFill>
              </a:rPr>
              <a:t>La de mayor suma de confianzas.</a:t>
            </a:r>
            <a:endParaRPr lang="en-US" sz="1200" dirty="0"/>
          </a:p>
        </p:txBody>
      </p:sp>
      <p:sp>
        <p:nvSpPr>
          <p:cNvPr id="22" name="Shape 19"/>
          <p:cNvSpPr/>
          <p:nvPr/>
        </p:nvSpPr>
        <p:spPr>
          <a:xfrm>
            <a:off x="7077456" y="2880360"/>
            <a:ext cx="274320" cy="274320"/>
          </a:xfrm>
          <a:prstGeom prst="rightArrow">
            <a:avLst/>
          </a:prstGeom>
          <a:solidFill>
            <a:srgbClr val="7A1518"/>
          </a:solidFill>
          <a:ln w="12700">
            <a:solidFill>
              <a:srgbClr val="7A1518"/>
            </a:solidFill>
            <a:prstDash val="solid"/>
          </a:ln>
        </p:spPr>
      </p:sp>
      <p:sp>
        <p:nvSpPr>
          <p:cNvPr id="23" name="Shape 20"/>
          <p:cNvSpPr/>
          <p:nvPr/>
        </p:nvSpPr>
        <p:spPr>
          <a:xfrm>
            <a:off x="7351776" y="1691640"/>
            <a:ext cx="2011680" cy="2651760"/>
          </a:xfrm>
          <a:prstGeom prst="roundRect">
            <a:avLst>
              <a:gd name="adj" fmla="val 3636"/>
            </a:avLst>
          </a:prstGeom>
          <a:solidFill>
            <a:srgbClr val="F3F4F6"/>
          </a:solidFill>
          <a:ln w="9525">
            <a:solidFill>
              <a:srgbClr val="D9D9D9"/>
            </a:solidFill>
            <a:prstDash val="solid"/>
          </a:ln>
        </p:spPr>
      </p:sp>
      <p:sp>
        <p:nvSpPr>
          <p:cNvPr id="24" name="Shape 21"/>
          <p:cNvSpPr/>
          <p:nvPr/>
        </p:nvSpPr>
        <p:spPr>
          <a:xfrm>
            <a:off x="7534656" y="1828800"/>
            <a:ext cx="502920" cy="502920"/>
          </a:xfrm>
          <a:prstGeom prst="ellipse">
            <a:avLst/>
          </a:prstGeom>
          <a:solidFill>
            <a:srgbClr val="7A1518"/>
          </a:solidFill>
          <a:ln w="12700">
            <a:solidFill>
              <a:srgbClr val="7A1518"/>
            </a:solidFill>
            <a:prstDash val="solid"/>
          </a:ln>
        </p:spPr>
      </p:sp>
      <p:sp>
        <p:nvSpPr>
          <p:cNvPr id="25" name="Text 22"/>
          <p:cNvSpPr txBox="1"/>
          <p:nvPr/>
        </p:nvSpPr>
        <p:spPr>
          <a:xfrm>
            <a:off x="7534656" y="18288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R4</a:t>
            </a:r>
            <a:endParaRPr lang="en-US" sz="1400" dirty="0"/>
          </a:p>
        </p:txBody>
      </p:sp>
      <p:sp>
        <p:nvSpPr>
          <p:cNvPr id="26" name="Text 23"/>
          <p:cNvSpPr txBox="1"/>
          <p:nvPr/>
        </p:nvSpPr>
        <p:spPr>
          <a:xfrm>
            <a:off x="7534656" y="2468880"/>
            <a:ext cx="1691640" cy="548640"/>
          </a:xfrm>
          <a:prstGeom prst="rect">
            <a:avLst/>
          </a:prstGeom>
          <a:noFill/>
          <a:ln/>
        </p:spPr>
        <p:txBody>
          <a:bodyPr wrap="square" lIns="0" tIns="0" rIns="0" bIns="0" rtlCol="0" anchor="t"/>
          <a:lstStyle/>
          <a:p>
            <a:pPr indent="0" marL="0">
              <a:buNone/>
            </a:pPr>
            <a:r>
              <a:rPr lang="en-US" sz="1400" b="1" dirty="0">
                <a:solidFill>
                  <a:srgbClr val="7A1518"/>
                </a:solidFill>
              </a:rPr>
              <a:t>Contar individuos</a:t>
            </a:r>
            <a:endParaRPr lang="en-US" sz="1400" dirty="0"/>
          </a:p>
        </p:txBody>
      </p:sp>
      <p:sp>
        <p:nvSpPr>
          <p:cNvPr id="27" name="Text 24"/>
          <p:cNvSpPr txBox="1"/>
          <p:nvPr/>
        </p:nvSpPr>
        <p:spPr>
          <a:xfrm>
            <a:off x="7534656" y="3017520"/>
            <a:ext cx="1691640" cy="1234440"/>
          </a:xfrm>
          <a:prstGeom prst="rect">
            <a:avLst/>
          </a:prstGeom>
          <a:noFill/>
          <a:ln/>
        </p:spPr>
        <p:txBody>
          <a:bodyPr wrap="square" lIns="0" tIns="0" rIns="0" bIns="0" rtlCol="0" anchor="t"/>
          <a:lstStyle/>
          <a:p>
            <a:pPr indent="0" marL="0">
              <a:buNone/>
            </a:pPr>
            <a:r>
              <a:rPr lang="en-US" sz="1200" dirty="0">
                <a:solidFill>
                  <a:srgbClr val="222222"/>
                </a:solidFill>
              </a:rPr>
              <a:t>Máximo de detecciones en un mismo fotograma, no la suma.</a:t>
            </a:r>
            <a:endParaRPr lang="en-US" sz="1200" dirty="0"/>
          </a:p>
        </p:txBody>
      </p:sp>
      <p:sp>
        <p:nvSpPr>
          <p:cNvPr id="28" name="Shape 25"/>
          <p:cNvSpPr/>
          <p:nvPr/>
        </p:nvSpPr>
        <p:spPr>
          <a:xfrm>
            <a:off x="9345168" y="2880360"/>
            <a:ext cx="274320" cy="274320"/>
          </a:xfrm>
          <a:prstGeom prst="rightArrow">
            <a:avLst/>
          </a:prstGeom>
          <a:solidFill>
            <a:srgbClr val="7A1518"/>
          </a:solidFill>
          <a:ln w="12700">
            <a:solidFill>
              <a:srgbClr val="7A1518"/>
            </a:solidFill>
            <a:prstDash val="solid"/>
          </a:ln>
        </p:spPr>
      </p:sp>
      <p:sp>
        <p:nvSpPr>
          <p:cNvPr id="29" name="Shape 26"/>
          <p:cNvSpPr/>
          <p:nvPr/>
        </p:nvSpPr>
        <p:spPr>
          <a:xfrm>
            <a:off x="9619488" y="1691640"/>
            <a:ext cx="2011680" cy="2651760"/>
          </a:xfrm>
          <a:prstGeom prst="roundRect">
            <a:avLst>
              <a:gd name="adj" fmla="val 3636"/>
            </a:avLst>
          </a:prstGeom>
          <a:solidFill>
            <a:srgbClr val="F3F4F6"/>
          </a:solidFill>
          <a:ln w="9525">
            <a:solidFill>
              <a:srgbClr val="D9D9D9"/>
            </a:solidFill>
            <a:prstDash val="solid"/>
          </a:ln>
        </p:spPr>
      </p:sp>
      <p:sp>
        <p:nvSpPr>
          <p:cNvPr id="30" name="Shape 27"/>
          <p:cNvSpPr/>
          <p:nvPr/>
        </p:nvSpPr>
        <p:spPr>
          <a:xfrm>
            <a:off x="9802368" y="1828800"/>
            <a:ext cx="502920" cy="502920"/>
          </a:xfrm>
          <a:prstGeom prst="ellipse">
            <a:avLst/>
          </a:prstGeom>
          <a:solidFill>
            <a:srgbClr val="7A1518"/>
          </a:solidFill>
          <a:ln w="12700">
            <a:solidFill>
              <a:srgbClr val="7A1518"/>
            </a:solidFill>
            <a:prstDash val="solid"/>
          </a:ln>
        </p:spPr>
      </p:sp>
      <p:sp>
        <p:nvSpPr>
          <p:cNvPr id="31" name="Text 28"/>
          <p:cNvSpPr txBox="1"/>
          <p:nvPr/>
        </p:nvSpPr>
        <p:spPr>
          <a:xfrm>
            <a:off x="9802368" y="18288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R5</a:t>
            </a:r>
            <a:endParaRPr lang="en-US" sz="1400" dirty="0"/>
          </a:p>
        </p:txBody>
      </p:sp>
      <p:sp>
        <p:nvSpPr>
          <p:cNvPr id="32" name="Text 29"/>
          <p:cNvSpPr txBox="1"/>
          <p:nvPr/>
        </p:nvSpPr>
        <p:spPr>
          <a:xfrm>
            <a:off x="9802368" y="2468880"/>
            <a:ext cx="1691640" cy="548640"/>
          </a:xfrm>
          <a:prstGeom prst="rect">
            <a:avLst/>
          </a:prstGeom>
          <a:noFill/>
          <a:ln/>
        </p:spPr>
        <p:txBody>
          <a:bodyPr wrap="square" lIns="0" tIns="0" rIns="0" bIns="0" rtlCol="0" anchor="t"/>
          <a:lstStyle/>
          <a:p>
            <a:pPr indent="0" marL="0">
              <a:buNone/>
            </a:pPr>
            <a:r>
              <a:rPr lang="en-US" sz="1400" b="1" dirty="0">
                <a:solidFill>
                  <a:srgbClr val="7A1518"/>
                </a:solidFill>
              </a:rPr>
              <a:t>Evento vacío</a:t>
            </a:r>
            <a:endParaRPr lang="en-US" sz="1400" dirty="0"/>
          </a:p>
        </p:txBody>
      </p:sp>
      <p:sp>
        <p:nvSpPr>
          <p:cNvPr id="33" name="Text 30"/>
          <p:cNvSpPr txBox="1"/>
          <p:nvPr/>
        </p:nvSpPr>
        <p:spPr>
          <a:xfrm>
            <a:off x="9802368" y="3017520"/>
            <a:ext cx="1691640" cy="1234440"/>
          </a:xfrm>
          <a:prstGeom prst="rect">
            <a:avLst/>
          </a:prstGeom>
          <a:noFill/>
          <a:ln/>
        </p:spPr>
        <p:txBody>
          <a:bodyPr wrap="square" lIns="0" tIns="0" rIns="0" bIns="0" rtlCol="0" anchor="t"/>
          <a:lstStyle/>
          <a:p>
            <a:pPr indent="0" marL="0">
              <a:buNone/>
            </a:pPr>
            <a:r>
              <a:rPr lang="en-US" sz="1200" dirty="0">
                <a:solidFill>
                  <a:srgbClr val="222222"/>
                </a:solidFill>
              </a:rPr>
              <a:t>Sin detecciones: activación por viento, luz o vegetación.</a:t>
            </a:r>
            <a:endParaRPr lang="en-US" sz="1200" dirty="0"/>
          </a:p>
        </p:txBody>
      </p:sp>
      <p:sp>
        <p:nvSpPr>
          <p:cNvPr id="34" name="Shape 31"/>
          <p:cNvSpPr/>
          <p:nvPr/>
        </p:nvSpPr>
        <p:spPr>
          <a:xfrm>
            <a:off x="548640" y="4572000"/>
            <a:ext cx="5486400" cy="1554480"/>
          </a:xfrm>
          <a:prstGeom prst="roundRect">
            <a:avLst>
              <a:gd name="adj" fmla="val 4706"/>
            </a:avLst>
          </a:prstGeom>
          <a:solidFill>
            <a:srgbClr val="E2EFDA"/>
          </a:solidFill>
          <a:ln w="9525">
            <a:solidFill>
              <a:srgbClr val="8FBF7F"/>
            </a:solidFill>
            <a:prstDash val="solid"/>
          </a:ln>
        </p:spPr>
      </p:sp>
      <p:sp>
        <p:nvSpPr>
          <p:cNvPr id="35" name="Text 32"/>
          <p:cNvSpPr txBox="1"/>
          <p:nvPr/>
        </p:nvSpPr>
        <p:spPr>
          <a:xfrm>
            <a:off x="731520" y="4681728"/>
            <a:ext cx="5120640" cy="1335024"/>
          </a:xfrm>
          <a:prstGeom prst="rect">
            <a:avLst/>
          </a:prstGeom>
          <a:noFill/>
          <a:ln/>
        </p:spPr>
        <p:txBody>
          <a:bodyPr wrap="square" lIns="0" tIns="0" rIns="0" bIns="0" rtlCol="0" anchor="t"/>
          <a:lstStyle/>
          <a:p>
            <a:pPr indent="0" marL="0">
              <a:spcAft>
                <a:spcPts val="400"/>
              </a:spcAft>
              <a:buNone/>
            </a:pPr>
            <a:r>
              <a:rPr lang="en-US" sz="1300" b="1" dirty="0">
                <a:solidFill>
                  <a:srgbClr val="2E7D32"/>
                </a:solidFill>
              </a:rPr>
              <a:t>Referencia honesta</a:t>
            </a:r>
            <a:endParaRPr lang="en-US" sz="1300" dirty="0"/>
          </a:p>
          <a:p>
            <a:pPr indent="0" marL="0">
              <a:spcAft>
                <a:spcPts val="400"/>
              </a:spcAft>
              <a:buNone/>
            </a:pPr>
            <a:r>
              <a:rPr lang="en-US" sz="1200" dirty="0">
                <a:solidFill>
                  <a:srgbClr val="222222"/>
                </a:solidFill>
              </a:rPr>
              <a:t>Las mismas reglas aplicadas a las etiquetas reales dan el reporte de una revisión manual: el error se mide en las unidades que usa el ecólogo.</a:t>
            </a:r>
            <a:endParaRPr lang="en-US" sz="1300" dirty="0"/>
          </a:p>
        </p:txBody>
      </p:sp>
      <p:sp>
        <p:nvSpPr>
          <p:cNvPr id="36" name="Shape 33"/>
          <p:cNvSpPr/>
          <p:nvPr/>
        </p:nvSpPr>
        <p:spPr>
          <a:xfrm>
            <a:off x="6263640" y="4572000"/>
            <a:ext cx="5376672" cy="1554480"/>
          </a:xfrm>
          <a:prstGeom prst="roundRect">
            <a:avLst>
              <a:gd name="adj" fmla="val 4706"/>
            </a:avLst>
          </a:prstGeom>
          <a:solidFill>
            <a:srgbClr val="E3EAF4"/>
          </a:solidFill>
          <a:ln w="9525">
            <a:solidFill>
              <a:srgbClr val="B4C6E7"/>
            </a:solidFill>
            <a:prstDash val="solid"/>
          </a:ln>
        </p:spPr>
      </p:sp>
      <p:sp>
        <p:nvSpPr>
          <p:cNvPr id="37" name="Text 34"/>
          <p:cNvSpPr txBox="1"/>
          <p:nvPr/>
        </p:nvSpPr>
        <p:spPr>
          <a:xfrm>
            <a:off x="6446520" y="4681728"/>
            <a:ext cx="5010912" cy="1335024"/>
          </a:xfrm>
          <a:prstGeom prst="rect">
            <a:avLst/>
          </a:prstGeom>
          <a:noFill/>
          <a:ln/>
        </p:spPr>
        <p:txBody>
          <a:bodyPr wrap="square" lIns="0" tIns="0" rIns="0" bIns="0" rtlCol="0" anchor="t"/>
          <a:lstStyle/>
          <a:p>
            <a:pPr indent="0" marL="0">
              <a:spcAft>
                <a:spcPts val="400"/>
              </a:spcAft>
              <a:buNone/>
            </a:pPr>
            <a:r>
              <a:rPr lang="en-US" sz="1300" b="1" dirty="0">
                <a:solidFill>
                  <a:srgbClr val="1F3B66"/>
                </a:solidFill>
              </a:rPr>
              <a:t>Demo en una cámara nueva</a:t>
            </a:r>
            <a:endParaRPr lang="en-US" sz="1300" dirty="0"/>
          </a:p>
          <a:p>
            <a:pPr indent="0" marL="0">
              <a:spcAft>
                <a:spcPts val="400"/>
              </a:spcAft>
              <a:buNone/>
            </a:pPr>
            <a:r>
              <a:rPr lang="en-US" sz="1200" dirty="0">
                <a:solidFill>
                  <a:srgbClr val="222222"/>
                </a:solidFill>
              </a:rPr>
              <a:t>Cámara 46 de trans_test: la de más fotos entre las nunca vistas. 6 276 fotos, mayo 2011 – junio 2012, 1 383 eventos.</a:t>
            </a:r>
            <a:endParaRPr lang="en-US" sz="130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Monitoreo: cámara 46</a:t>
            </a:r>
            <a:endParaRPr lang="en-US" sz="2700" dirty="0"/>
          </a:p>
        </p:txBody>
      </p:sp>
      <p:sp>
        <p:nvSpPr>
          <p:cNvPr id="3" name="Text 1"/>
          <p:cNvSpPr txBox="1"/>
          <p:nvPr/>
        </p:nvSpPr>
        <p:spPr>
          <a:xfrm>
            <a:off x="548640" y="1033272"/>
            <a:ext cx="11091672" cy="384048"/>
          </a:xfrm>
          <a:prstGeom prst="rect">
            <a:avLst/>
          </a:prstGeom>
          <a:noFill/>
          <a:ln/>
        </p:spPr>
        <p:txBody>
          <a:bodyPr wrap="square" rtlCol="0" anchor="ctr"/>
          <a:lstStyle/>
          <a:p>
            <a:pPr algn="ctr" indent="0" marL="0">
              <a:buNone/>
            </a:pPr>
            <a:r>
              <a:rPr lang="en-US" sz="1700" b="1" dirty="0">
                <a:solidFill>
                  <a:srgbClr val="7A1518"/>
                </a:solidFill>
                <a:latin typeface="Cambria" pitchFamily="34" charset="0"/>
                <a:ea typeface="Cambria" pitchFamily="34" charset="-122"/>
                <a:cs typeface="Cambria" pitchFamily="34" charset="-120"/>
              </a:rPr>
              <a:t>E5 · Los patrones de actividad de las especies comunes se reproducen bien</a:t>
            </a:r>
            <a:endParaRPr lang="en-US" sz="1700" dirty="0"/>
          </a:p>
        </p:txBody>
      </p:sp>
      <p:pic>
        <p:nvPicPr>
          <p:cNvPr id="5" name="Image 0" descr="C:\Users\derla\AppData\Local\Temp\claude\C--Users-derla-Documents-maestria-RNC\a18331b0-62b1-40c0-8bf2-8626c603f7b5\scratchpad\ppt\img\actividad_hora_camara46.png">    </p:cNvPr>
          <p:cNvPicPr>
            <a:picLocks noChangeAspect="1"/>
          </p:cNvPicPr>
          <p:nvPr/>
        </p:nvPicPr>
        <p:blipFill>
          <a:blip r:embed="rId1"/>
          <a:stretch>
            <a:fillRect/>
          </a:stretch>
        </p:blipFill>
        <p:spPr>
          <a:xfrm>
            <a:off x="548640" y="1508760"/>
            <a:ext cx="11091672" cy="2679192"/>
          </a:xfrm>
          <a:prstGeom prst="rect">
            <a:avLst/>
          </a:prstGeom>
        </p:spPr>
      </p:pic>
      <p:sp>
        <p:nvSpPr>
          <p:cNvPr id="6" name="Shape 2"/>
          <p:cNvSpPr/>
          <p:nvPr/>
        </p:nvSpPr>
        <p:spPr>
          <a:xfrm>
            <a:off x="548640" y="4343400"/>
            <a:ext cx="2606040" cy="1783080"/>
          </a:xfrm>
          <a:prstGeom prst="roundRect">
            <a:avLst>
              <a:gd name="adj" fmla="val 4103"/>
            </a:avLst>
          </a:prstGeom>
          <a:solidFill>
            <a:srgbClr val="F3F4F6"/>
          </a:solidFill>
          <a:ln w="9525">
            <a:solidFill>
              <a:srgbClr val="D9D9D9"/>
            </a:solidFill>
            <a:prstDash val="solid"/>
          </a:ln>
        </p:spPr>
      </p:sp>
      <p:sp>
        <p:nvSpPr>
          <p:cNvPr id="7" name="Text 3"/>
          <p:cNvSpPr txBox="1"/>
          <p:nvPr/>
        </p:nvSpPr>
        <p:spPr>
          <a:xfrm>
            <a:off x="548640" y="4453128"/>
            <a:ext cx="2606040" cy="927202"/>
          </a:xfrm>
          <a:prstGeom prst="rect">
            <a:avLst/>
          </a:prstGeom>
          <a:noFill/>
          <a:ln/>
        </p:spPr>
        <p:txBody>
          <a:bodyPr wrap="square" lIns="0" tIns="0" rIns="0" bIns="0" rtlCol="0" anchor="ctr"/>
          <a:lstStyle/>
          <a:p>
            <a:pPr algn="ctr" indent="0" marL="0">
              <a:buNone/>
            </a:pPr>
            <a:r>
              <a:rPr lang="en-US" sz="3600" b="1" dirty="0">
                <a:solidFill>
                  <a:srgbClr val="2E7D32"/>
                </a:solidFill>
              </a:rPr>
              <a:t>75 %</a:t>
            </a:r>
            <a:endParaRPr lang="en-US" sz="3600" dirty="0"/>
          </a:p>
        </p:txBody>
      </p:sp>
      <p:sp>
        <p:nvSpPr>
          <p:cNvPr id="8" name="Text 4"/>
          <p:cNvSpPr txBox="1"/>
          <p:nvPr/>
        </p:nvSpPr>
        <p:spPr>
          <a:xfrm>
            <a:off x="685800" y="5413248"/>
            <a:ext cx="2331720" cy="641909"/>
          </a:xfrm>
          <a:prstGeom prst="rect">
            <a:avLst/>
          </a:prstGeom>
          <a:noFill/>
          <a:ln/>
        </p:spPr>
        <p:txBody>
          <a:bodyPr wrap="square" lIns="0" tIns="0" rIns="0" bIns="0" rtlCol="0" anchor="t"/>
          <a:lstStyle/>
          <a:p>
            <a:pPr algn="ctr" indent="0" marL="0">
              <a:buNone/>
            </a:pPr>
            <a:r>
              <a:rPr lang="en-US" sz="1150" dirty="0">
                <a:solidFill>
                  <a:srgbClr val="5A5A5A"/>
                </a:solidFill>
              </a:rPr>
              <a:t>acierto de especie por evento (1 383 eventos)</a:t>
            </a:r>
            <a:endParaRPr lang="en-US" sz="1150" dirty="0"/>
          </a:p>
        </p:txBody>
      </p:sp>
      <p:sp>
        <p:nvSpPr>
          <p:cNvPr id="9" name="Shape 5"/>
          <p:cNvSpPr/>
          <p:nvPr/>
        </p:nvSpPr>
        <p:spPr>
          <a:xfrm>
            <a:off x="3337560" y="4343400"/>
            <a:ext cx="2606040" cy="1783080"/>
          </a:xfrm>
          <a:prstGeom prst="roundRect">
            <a:avLst>
              <a:gd name="adj" fmla="val 4103"/>
            </a:avLst>
          </a:prstGeom>
          <a:solidFill>
            <a:srgbClr val="F3F4F6"/>
          </a:solidFill>
          <a:ln w="9525">
            <a:solidFill>
              <a:srgbClr val="D9D9D9"/>
            </a:solidFill>
            <a:prstDash val="solid"/>
          </a:ln>
        </p:spPr>
      </p:sp>
      <p:sp>
        <p:nvSpPr>
          <p:cNvPr id="10" name="Text 6"/>
          <p:cNvSpPr txBox="1"/>
          <p:nvPr/>
        </p:nvSpPr>
        <p:spPr>
          <a:xfrm>
            <a:off x="3337560" y="4453128"/>
            <a:ext cx="2606040" cy="927202"/>
          </a:xfrm>
          <a:prstGeom prst="rect">
            <a:avLst/>
          </a:prstGeom>
          <a:noFill/>
          <a:ln/>
        </p:spPr>
        <p:txBody>
          <a:bodyPr wrap="square" lIns="0" tIns="0" rIns="0" bIns="0" rtlCol="0" anchor="ctr"/>
          <a:lstStyle/>
          <a:p>
            <a:pPr algn="ctr" indent="0" marL="0">
              <a:buNone/>
            </a:pPr>
            <a:r>
              <a:rPr lang="en-US" sz="3600" b="1" dirty="0">
                <a:solidFill>
                  <a:srgbClr val="2E7D32"/>
                </a:solidFill>
              </a:rPr>
              <a:t>± 0,05</a:t>
            </a:r>
            <a:endParaRPr lang="en-US" sz="3600" dirty="0"/>
          </a:p>
        </p:txBody>
      </p:sp>
      <p:sp>
        <p:nvSpPr>
          <p:cNvPr id="11" name="Text 7"/>
          <p:cNvSpPr txBox="1"/>
          <p:nvPr/>
        </p:nvSpPr>
        <p:spPr>
          <a:xfrm>
            <a:off x="3474720" y="5413248"/>
            <a:ext cx="2331720" cy="641909"/>
          </a:xfrm>
          <a:prstGeom prst="rect">
            <a:avLst/>
          </a:prstGeom>
          <a:noFill/>
          <a:ln/>
        </p:spPr>
        <p:txBody>
          <a:bodyPr wrap="square" lIns="0" tIns="0" rIns="0" bIns="0" rtlCol="0" anchor="t"/>
          <a:lstStyle/>
          <a:p>
            <a:pPr algn="ctr" indent="0" marL="0">
              <a:buNone/>
            </a:pPr>
            <a:r>
              <a:rPr lang="en-US" sz="1150" dirty="0">
                <a:solidFill>
                  <a:srgbClr val="5A5A5A"/>
                </a:solidFill>
              </a:rPr>
              <a:t>diferencia en % nocturno de zarigüeya, mapache, zorrillo y lince</a:t>
            </a:r>
            <a:endParaRPr lang="en-US" sz="1150" dirty="0"/>
          </a:p>
        </p:txBody>
      </p:sp>
      <p:sp>
        <p:nvSpPr>
          <p:cNvPr id="12" name="Shape 8"/>
          <p:cNvSpPr/>
          <p:nvPr/>
        </p:nvSpPr>
        <p:spPr>
          <a:xfrm>
            <a:off x="6126480" y="4343400"/>
            <a:ext cx="5513832" cy="1783080"/>
          </a:xfrm>
          <a:prstGeom prst="roundRect">
            <a:avLst>
              <a:gd name="adj" fmla="val 4103"/>
            </a:avLst>
          </a:prstGeom>
          <a:solidFill>
            <a:srgbClr val="E3EAF4"/>
          </a:solidFill>
          <a:ln w="9525">
            <a:solidFill>
              <a:srgbClr val="B4C6E7"/>
            </a:solidFill>
            <a:prstDash val="solid"/>
          </a:ln>
        </p:spPr>
      </p:sp>
      <p:sp>
        <p:nvSpPr>
          <p:cNvPr id="13" name="Text 9"/>
          <p:cNvSpPr txBox="1"/>
          <p:nvPr/>
        </p:nvSpPr>
        <p:spPr>
          <a:xfrm>
            <a:off x="6309360" y="4453128"/>
            <a:ext cx="5148072" cy="1563624"/>
          </a:xfrm>
          <a:prstGeom prst="rect">
            <a:avLst/>
          </a:prstGeom>
          <a:noFill/>
          <a:ln/>
        </p:spPr>
        <p:txBody>
          <a:bodyPr wrap="square" lIns="0" tIns="0" rIns="0" bIns="0" rtlCol="0" anchor="t"/>
          <a:lstStyle/>
          <a:p>
            <a:pPr indent="0" marL="0">
              <a:spcAft>
                <a:spcPts val="400"/>
              </a:spcAft>
              <a:buNone/>
            </a:pPr>
            <a:r>
              <a:rPr lang="en-US" sz="1300" b="1" dirty="0">
                <a:solidFill>
                  <a:srgbClr val="1F3B66"/>
                </a:solidFill>
              </a:rPr>
              <a:t>Eventos frente a fotos</a:t>
            </a:r>
            <a:endParaRPr lang="en-US" sz="1300" dirty="0"/>
          </a:p>
          <a:p>
            <a:pPr indent="0" marL="0">
              <a:spcAft>
                <a:spcPts val="400"/>
              </a:spcAft>
              <a:buNone/>
            </a:pPr>
            <a:r>
              <a:rPr lang="en-US" sz="1200" dirty="0">
                <a:solidFill>
                  <a:srgbClr val="222222"/>
                </a:solidFill>
              </a:rPr>
              <a:t>El modelo deja sin detección el 56 % de las fotos (real: 12 %), pero por evento la diferencia baja a 32 % frente a 16 %: basta acertar una foto de la ráfaga.</a:t>
            </a:r>
            <a:endParaRPr lang="en-US" sz="130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Monitoreo: dónde falla</a:t>
            </a:r>
            <a:endParaRPr lang="en-US" sz="2700" dirty="0"/>
          </a:p>
        </p:txBody>
      </p:sp>
      <p:sp>
        <p:nvSpPr>
          <p:cNvPr id="3" name="Text 1"/>
          <p:cNvSpPr txBox="1"/>
          <p:nvPr/>
        </p:nvSpPr>
        <p:spPr>
          <a:xfrm>
            <a:off x="548640" y="1033272"/>
            <a:ext cx="11091672" cy="384048"/>
          </a:xfrm>
          <a:prstGeom prst="rect">
            <a:avLst/>
          </a:prstGeom>
          <a:noFill/>
          <a:ln/>
        </p:spPr>
        <p:txBody>
          <a:bodyPr wrap="square" rtlCol="0" anchor="ctr"/>
          <a:lstStyle/>
          <a:p>
            <a:pPr algn="ctr" indent="0" marL="0">
              <a:buNone/>
            </a:pPr>
            <a:r>
              <a:rPr lang="en-US" sz="1700" b="1" dirty="0">
                <a:solidFill>
                  <a:srgbClr val="7A1518"/>
                </a:solidFill>
                <a:latin typeface="Cambria" pitchFamily="34" charset="0"/>
                <a:ea typeface="Cambria" pitchFamily="34" charset="-122"/>
                <a:cs typeface="Cambria" pitchFamily="34" charset="-120"/>
              </a:rPr>
              <a:t>E5 · Se pierde el 19 % de los eventos con animal y casi todas las especies pequeñas</a:t>
            </a:r>
            <a:endParaRPr lang="en-US" sz="1700" dirty="0"/>
          </a:p>
        </p:txBody>
      </p:sp>
      <p:graphicFrame>
        <p:nvGraphicFramePr>
          <p:cNvPr id="5" name="Chart 0" descr=""/>
          <p:cNvGraphicFramePr/>
          <p:nvPr/>
        </p:nvGraphicFramePr>
        <p:xfrm>
          <a:off x="548640" y="150876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772400" y="1645920"/>
            <a:ext cx="1828800" cy="1371600"/>
          </a:xfrm>
          <a:prstGeom prst="roundRect">
            <a:avLst>
              <a:gd name="adj" fmla="val 5333"/>
            </a:avLst>
          </a:prstGeom>
          <a:solidFill>
            <a:srgbClr val="F3F4F6"/>
          </a:solidFill>
          <a:ln w="9525">
            <a:solidFill>
              <a:srgbClr val="D9D9D9"/>
            </a:solidFill>
            <a:prstDash val="solid"/>
          </a:ln>
        </p:spPr>
      </p:sp>
      <p:sp>
        <p:nvSpPr>
          <p:cNvPr id="7" name="Text 3"/>
          <p:cNvSpPr txBox="1"/>
          <p:nvPr/>
        </p:nvSpPr>
        <p:spPr>
          <a:xfrm>
            <a:off x="7772400" y="1755648"/>
            <a:ext cx="1828800" cy="713232"/>
          </a:xfrm>
          <a:prstGeom prst="rect">
            <a:avLst/>
          </a:prstGeom>
          <a:noFill/>
          <a:ln/>
        </p:spPr>
        <p:txBody>
          <a:bodyPr wrap="square" lIns="0" tIns="0" rIns="0" bIns="0" rtlCol="0" anchor="ctr"/>
          <a:lstStyle/>
          <a:p>
            <a:pPr algn="ctr" indent="0" marL="0">
              <a:buNone/>
            </a:pPr>
            <a:r>
              <a:rPr lang="en-US" sz="3000" b="1" dirty="0">
                <a:solidFill>
                  <a:srgbClr val="7A1518"/>
                </a:solidFill>
              </a:rPr>
              <a:t>221</a:t>
            </a:r>
            <a:endParaRPr lang="en-US" sz="3000" dirty="0"/>
          </a:p>
        </p:txBody>
      </p:sp>
      <p:sp>
        <p:nvSpPr>
          <p:cNvPr id="8" name="Text 4"/>
          <p:cNvSpPr txBox="1"/>
          <p:nvPr/>
        </p:nvSpPr>
        <p:spPr>
          <a:xfrm>
            <a:off x="7909560" y="2468880"/>
            <a:ext cx="1554480" cy="493776"/>
          </a:xfrm>
          <a:prstGeom prst="rect">
            <a:avLst/>
          </a:prstGeom>
          <a:noFill/>
          <a:ln/>
        </p:spPr>
        <p:txBody>
          <a:bodyPr wrap="square" lIns="0" tIns="0" rIns="0" bIns="0" rtlCol="0" anchor="t"/>
          <a:lstStyle/>
          <a:p>
            <a:pPr algn="ctr" indent="0" marL="0">
              <a:buNone/>
            </a:pPr>
            <a:r>
              <a:rPr lang="en-US" sz="1150" dirty="0">
                <a:solidFill>
                  <a:srgbClr val="5A5A5A"/>
                </a:solidFill>
              </a:rPr>
              <a:t>eventos con animal marcados vacíos (19 %)</a:t>
            </a:r>
            <a:endParaRPr lang="en-US" sz="1150" dirty="0"/>
          </a:p>
        </p:txBody>
      </p:sp>
      <p:sp>
        <p:nvSpPr>
          <p:cNvPr id="9" name="Shape 5"/>
          <p:cNvSpPr/>
          <p:nvPr/>
        </p:nvSpPr>
        <p:spPr>
          <a:xfrm>
            <a:off x="9811512" y="1645920"/>
            <a:ext cx="1828800" cy="1371600"/>
          </a:xfrm>
          <a:prstGeom prst="roundRect">
            <a:avLst>
              <a:gd name="adj" fmla="val 5333"/>
            </a:avLst>
          </a:prstGeom>
          <a:solidFill>
            <a:srgbClr val="F3F4F6"/>
          </a:solidFill>
          <a:ln w="9525">
            <a:solidFill>
              <a:srgbClr val="D9D9D9"/>
            </a:solidFill>
            <a:prstDash val="solid"/>
          </a:ln>
        </p:spPr>
      </p:sp>
      <p:sp>
        <p:nvSpPr>
          <p:cNvPr id="10" name="Text 6"/>
          <p:cNvSpPr txBox="1"/>
          <p:nvPr/>
        </p:nvSpPr>
        <p:spPr>
          <a:xfrm>
            <a:off x="9811512" y="1755648"/>
            <a:ext cx="1828800" cy="713232"/>
          </a:xfrm>
          <a:prstGeom prst="rect">
            <a:avLst/>
          </a:prstGeom>
          <a:noFill/>
          <a:ln/>
        </p:spPr>
        <p:txBody>
          <a:bodyPr wrap="square" lIns="0" tIns="0" rIns="0" bIns="0" rtlCol="0" anchor="ctr"/>
          <a:lstStyle/>
          <a:p>
            <a:pPr algn="ctr" indent="0" marL="0">
              <a:buNone/>
            </a:pPr>
            <a:r>
              <a:rPr lang="en-US" sz="3000" b="1" dirty="0">
                <a:solidFill>
                  <a:srgbClr val="2E7D32"/>
                </a:solidFill>
              </a:rPr>
              <a:t>3</a:t>
            </a:r>
            <a:endParaRPr lang="en-US" sz="3000" dirty="0"/>
          </a:p>
        </p:txBody>
      </p:sp>
      <p:sp>
        <p:nvSpPr>
          <p:cNvPr id="11" name="Text 7"/>
          <p:cNvSpPr txBox="1"/>
          <p:nvPr/>
        </p:nvSpPr>
        <p:spPr>
          <a:xfrm>
            <a:off x="9948672" y="2468880"/>
            <a:ext cx="1554480" cy="493776"/>
          </a:xfrm>
          <a:prstGeom prst="rect">
            <a:avLst/>
          </a:prstGeom>
          <a:noFill/>
          <a:ln/>
        </p:spPr>
        <p:txBody>
          <a:bodyPr wrap="square" lIns="0" tIns="0" rIns="0" bIns="0" rtlCol="0" anchor="t"/>
          <a:lstStyle/>
          <a:p>
            <a:pPr algn="ctr" indent="0" marL="0">
              <a:buNone/>
            </a:pPr>
            <a:r>
              <a:rPr lang="en-US" sz="1150" dirty="0">
                <a:solidFill>
                  <a:srgbClr val="5A5A5A"/>
                </a:solidFill>
              </a:rPr>
              <a:t>eventos vacíos marcados con animal</a:t>
            </a:r>
            <a:endParaRPr lang="en-US" sz="1150" dirty="0"/>
          </a:p>
        </p:txBody>
      </p:sp>
      <p:sp>
        <p:nvSpPr>
          <p:cNvPr id="12" name="Shape 8"/>
          <p:cNvSpPr/>
          <p:nvPr/>
        </p:nvSpPr>
        <p:spPr>
          <a:xfrm>
            <a:off x="7772400" y="3154680"/>
            <a:ext cx="3867912" cy="1371600"/>
          </a:xfrm>
          <a:prstGeom prst="roundRect">
            <a:avLst>
              <a:gd name="adj" fmla="val 5333"/>
            </a:avLst>
          </a:prstGeom>
          <a:solidFill>
            <a:srgbClr val="F6E4E4"/>
          </a:solidFill>
          <a:ln w="9525">
            <a:solidFill>
              <a:srgbClr val="F2B8B8"/>
            </a:solidFill>
            <a:prstDash val="solid"/>
          </a:ln>
        </p:spPr>
      </p:sp>
      <p:sp>
        <p:nvSpPr>
          <p:cNvPr id="13" name="Text 9"/>
          <p:cNvSpPr txBox="1"/>
          <p:nvPr/>
        </p:nvSpPr>
        <p:spPr>
          <a:xfrm>
            <a:off x="7955280" y="3264408"/>
            <a:ext cx="3502152" cy="1152144"/>
          </a:xfrm>
          <a:prstGeom prst="rect">
            <a:avLst/>
          </a:prstGeom>
          <a:noFill/>
          <a:ln/>
        </p:spPr>
        <p:txBody>
          <a:bodyPr wrap="square" lIns="0" tIns="0" rIns="0" bIns="0" rtlCol="0" anchor="t"/>
          <a:lstStyle/>
          <a:p>
            <a:pPr indent="0" marL="0">
              <a:spcAft>
                <a:spcPts val="400"/>
              </a:spcAft>
              <a:buNone/>
            </a:pPr>
            <a:r>
              <a:rPr lang="en-US" sz="1300" b="1" dirty="0">
                <a:solidFill>
                  <a:srgbClr val="7A1518"/>
                </a:solidFill>
              </a:rPr>
              <a:t>Especies pequeñas</a:t>
            </a:r>
            <a:endParaRPr lang="en-US" sz="1300" dirty="0"/>
          </a:p>
          <a:p>
            <a:pPr indent="0" marL="0">
              <a:spcAft>
                <a:spcPts val="400"/>
              </a:spcAft>
              <a:buNone/>
            </a:pPr>
            <a:r>
              <a:rPr lang="en-US" sz="1200" dirty="0">
                <a:solidFill>
                  <a:srgbClr val="222222"/>
                </a:solidFill>
              </a:rPr>
              <a:t>Ave: 21 de 25 eventos quedan vacíos. Roedor: 12 de 14. Coincide con el bajo recall de cajas pequeñas.</a:t>
            </a:r>
            <a:endParaRPr lang="en-US" sz="1300" dirty="0"/>
          </a:p>
        </p:txBody>
      </p:sp>
      <p:sp>
        <p:nvSpPr>
          <p:cNvPr id="14" name="Shape 10"/>
          <p:cNvSpPr/>
          <p:nvPr/>
        </p:nvSpPr>
        <p:spPr>
          <a:xfrm>
            <a:off x="7772400" y="4663440"/>
            <a:ext cx="3867912" cy="1463040"/>
          </a:xfrm>
          <a:prstGeom prst="roundRect">
            <a:avLst>
              <a:gd name="adj" fmla="val 5000"/>
            </a:avLst>
          </a:prstGeom>
          <a:solidFill>
            <a:srgbClr val="FFF1D6"/>
          </a:solidFill>
          <a:ln w="9525">
            <a:solidFill>
              <a:srgbClr val="E5B567"/>
            </a:solidFill>
            <a:prstDash val="solid"/>
          </a:ln>
        </p:spPr>
      </p:sp>
      <p:sp>
        <p:nvSpPr>
          <p:cNvPr id="15" name="Text 11"/>
          <p:cNvSpPr txBox="1"/>
          <p:nvPr/>
        </p:nvSpPr>
        <p:spPr>
          <a:xfrm>
            <a:off x="7955280" y="4773168"/>
            <a:ext cx="3502152" cy="1243584"/>
          </a:xfrm>
          <a:prstGeom prst="rect">
            <a:avLst/>
          </a:prstGeom>
          <a:noFill/>
          <a:ln/>
        </p:spPr>
        <p:txBody>
          <a:bodyPr wrap="square" lIns="0" tIns="0" rIns="0" bIns="0" rtlCol="0" anchor="t"/>
          <a:lstStyle/>
          <a:p>
            <a:pPr indent="0" marL="0">
              <a:spcAft>
                <a:spcPts val="400"/>
              </a:spcAft>
              <a:buNone/>
            </a:pPr>
            <a:r>
              <a:rPr lang="en-US" sz="1300" b="1" dirty="0">
                <a:solidFill>
                  <a:srgbClr val="B26A00"/>
                </a:solidFill>
              </a:rPr>
              <a:t>Los 55 «gatos»</a:t>
            </a:r>
            <a:endParaRPr lang="en-US" sz="1300" dirty="0"/>
          </a:p>
          <a:p>
            <a:pPr indent="0" marL="0">
              <a:spcAft>
                <a:spcPts val="400"/>
              </a:spcAft>
              <a:buNone/>
            </a:pPr>
            <a:r>
              <a:rPr lang="en-US" sz="1200" dirty="0">
                <a:solidFill>
                  <a:srgbClr val="222222"/>
                </a:solidFill>
              </a:rPr>
              <a:t>Son 24 linces, 16 coyotes y 8 mapaches. Mapache: 74 eventos frente a 175 (74 vacíos, 17 como coyote).</a:t>
            </a:r>
            <a:endParaRPr lang="en-US" sz="130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Consideraciones éticas</a:t>
            </a:r>
            <a:endParaRPr lang="en-US" sz="2700" dirty="0"/>
          </a:p>
        </p:txBody>
      </p:sp>
      <p:sp>
        <p:nvSpPr>
          <p:cNvPr id="3" name="Text 1"/>
          <p:cNvSpPr txBox="1"/>
          <p:nvPr/>
        </p:nvSpPr>
        <p:spPr>
          <a:xfrm>
            <a:off x="548640" y="1033272"/>
            <a:ext cx="11091672" cy="384048"/>
          </a:xfrm>
          <a:prstGeom prst="rect">
            <a:avLst/>
          </a:prstGeom>
          <a:noFill/>
          <a:ln/>
        </p:spPr>
        <p:txBody>
          <a:bodyPr wrap="square" rtlCol="0" anchor="ctr"/>
          <a:lstStyle/>
          <a:p>
            <a:pPr algn="ctr" indent="0" marL="0">
              <a:buNone/>
            </a:pPr>
            <a:r>
              <a:rPr lang="en-US" sz="1700" b="1" dirty="0">
                <a:solidFill>
                  <a:srgbClr val="7A1518"/>
                </a:solidFill>
                <a:latin typeface="Cambria" pitchFamily="34" charset="0"/>
                <a:ea typeface="Cambria" pitchFamily="34" charset="-122"/>
                <a:cs typeface="Cambria" pitchFamily="34" charset="-120"/>
              </a:rPr>
              <a:t>E6 · El error no se reparte por igual, y eso tiene consecuencias para la conservación</a:t>
            </a:r>
            <a:endParaRPr lang="en-US" sz="1700" dirty="0"/>
          </a:p>
        </p:txBody>
      </p:sp>
      <p:sp>
        <p:nvSpPr>
          <p:cNvPr id="5" name="Shape 2"/>
          <p:cNvSpPr/>
          <p:nvPr/>
        </p:nvSpPr>
        <p:spPr>
          <a:xfrm>
            <a:off x="548640" y="1691640"/>
            <a:ext cx="5440680" cy="2057400"/>
          </a:xfrm>
          <a:prstGeom prst="roundRect">
            <a:avLst>
              <a:gd name="adj" fmla="val 3556"/>
            </a:avLst>
          </a:prstGeom>
          <a:solidFill>
            <a:srgbClr val="F6E4E4"/>
          </a:solidFill>
          <a:ln w="9525">
            <a:solidFill>
              <a:srgbClr val="F2B8B8"/>
            </a:solidFill>
            <a:prstDash val="solid"/>
          </a:ln>
        </p:spPr>
      </p:sp>
      <p:sp>
        <p:nvSpPr>
          <p:cNvPr id="6" name="Shape 3"/>
          <p:cNvSpPr/>
          <p:nvPr/>
        </p:nvSpPr>
        <p:spPr>
          <a:xfrm>
            <a:off x="777240" y="1920240"/>
            <a:ext cx="384048" cy="384048"/>
          </a:xfrm>
          <a:prstGeom prst="ellipse">
            <a:avLst/>
          </a:prstGeom>
          <a:solidFill>
            <a:srgbClr val="7A1518"/>
          </a:solidFill>
          <a:ln w="12700">
            <a:solidFill>
              <a:srgbClr val="7A1518"/>
            </a:solidFill>
            <a:prstDash val="solid"/>
          </a:ln>
        </p:spPr>
      </p:sp>
      <p:sp>
        <p:nvSpPr>
          <p:cNvPr id="7" name="Text 4"/>
          <p:cNvSpPr txBox="1"/>
          <p:nvPr/>
        </p:nvSpPr>
        <p:spPr>
          <a:xfrm>
            <a:off x="777240" y="1920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5"/>
          <p:cNvSpPr txBox="1"/>
          <p:nvPr/>
        </p:nvSpPr>
        <p:spPr>
          <a:xfrm>
            <a:off x="1325880" y="1874520"/>
            <a:ext cx="4480560" cy="457200"/>
          </a:xfrm>
          <a:prstGeom prst="rect">
            <a:avLst/>
          </a:prstGeom>
          <a:noFill/>
          <a:ln/>
        </p:spPr>
        <p:txBody>
          <a:bodyPr wrap="square" lIns="0" tIns="0" rIns="0" bIns="0" rtlCol="0" anchor="ctr"/>
          <a:lstStyle/>
          <a:p>
            <a:pPr indent="0" marL="0">
              <a:buNone/>
            </a:pPr>
            <a:r>
              <a:rPr lang="en-US" sz="1500" b="1" dirty="0">
                <a:solidFill>
                  <a:srgbClr val="7A1518"/>
                </a:solidFill>
              </a:rPr>
              <a:t>Sesgo contra las especies raras</a:t>
            </a:r>
            <a:endParaRPr lang="en-US" sz="1500" dirty="0"/>
          </a:p>
        </p:txBody>
      </p:sp>
      <p:sp>
        <p:nvSpPr>
          <p:cNvPr id="9" name="Text 6"/>
          <p:cNvSpPr txBox="1"/>
          <p:nvPr/>
        </p:nvSpPr>
        <p:spPr>
          <a:xfrm>
            <a:off x="1325880" y="2377440"/>
            <a:ext cx="4480560" cy="1280160"/>
          </a:xfrm>
          <a:prstGeom prst="rect">
            <a:avLst/>
          </a:prstGeom>
          <a:noFill/>
          <a:ln/>
        </p:spPr>
        <p:txBody>
          <a:bodyPr wrap="square" lIns="0" tIns="0" rIns="0" bIns="0" rtlCol="0" anchor="t"/>
          <a:lstStyle/>
          <a:p>
            <a:pPr indent="0" marL="0">
              <a:buNone/>
            </a:pPr>
            <a:r>
              <a:rPr lang="en-US" sz="1250" dirty="0">
                <a:solidFill>
                  <a:srgbClr val="222222"/>
                </a:solidFill>
              </a:rPr>
              <a:t>Tejón, zorro, roedor y ave son las peor detectadas. Un reporte automático podría concluir que una especie desapareció cuando solo es invisible para el modelo.</a:t>
            </a:r>
            <a:endParaRPr lang="en-US" sz="1250" dirty="0"/>
          </a:p>
        </p:txBody>
      </p:sp>
      <p:sp>
        <p:nvSpPr>
          <p:cNvPr id="10" name="Shape 7"/>
          <p:cNvSpPr/>
          <p:nvPr/>
        </p:nvSpPr>
        <p:spPr>
          <a:xfrm>
            <a:off x="6199632" y="1691640"/>
            <a:ext cx="5440680" cy="2057400"/>
          </a:xfrm>
          <a:prstGeom prst="roundRect">
            <a:avLst>
              <a:gd name="adj" fmla="val 3556"/>
            </a:avLst>
          </a:prstGeom>
          <a:solidFill>
            <a:srgbClr val="FFF1D6"/>
          </a:solidFill>
          <a:ln w="9525">
            <a:solidFill>
              <a:srgbClr val="E5B567"/>
            </a:solidFill>
            <a:prstDash val="solid"/>
          </a:ln>
        </p:spPr>
      </p:sp>
      <p:sp>
        <p:nvSpPr>
          <p:cNvPr id="11" name="Shape 8"/>
          <p:cNvSpPr/>
          <p:nvPr/>
        </p:nvSpPr>
        <p:spPr>
          <a:xfrm>
            <a:off x="6428232" y="1920240"/>
            <a:ext cx="384048" cy="384048"/>
          </a:xfrm>
          <a:prstGeom prst="ellipse">
            <a:avLst/>
          </a:prstGeom>
          <a:solidFill>
            <a:srgbClr val="7A1518"/>
          </a:solidFill>
          <a:ln w="12700">
            <a:solidFill>
              <a:srgbClr val="7A1518"/>
            </a:solidFill>
            <a:prstDash val="solid"/>
          </a:ln>
        </p:spPr>
      </p:sp>
      <p:sp>
        <p:nvSpPr>
          <p:cNvPr id="12" name="Text 9"/>
          <p:cNvSpPr txBox="1"/>
          <p:nvPr/>
        </p:nvSpPr>
        <p:spPr>
          <a:xfrm>
            <a:off x="6428232" y="1920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6976872" y="1874520"/>
            <a:ext cx="4480560" cy="457200"/>
          </a:xfrm>
          <a:prstGeom prst="rect">
            <a:avLst/>
          </a:prstGeom>
          <a:noFill/>
          <a:ln/>
        </p:spPr>
        <p:txBody>
          <a:bodyPr wrap="square" lIns="0" tIns="0" rIns="0" bIns="0" rtlCol="0" anchor="ctr"/>
          <a:lstStyle/>
          <a:p>
            <a:pPr indent="0" marL="0">
              <a:buNone/>
            </a:pPr>
            <a:r>
              <a:rPr lang="en-US" sz="1500" b="1" dirty="0">
                <a:solidFill>
                  <a:srgbClr val="7A1518"/>
                </a:solidFill>
              </a:rPr>
              <a:t>Falsa sensación de completitud</a:t>
            </a:r>
            <a:endParaRPr lang="en-US" sz="1500" dirty="0"/>
          </a:p>
        </p:txBody>
      </p:sp>
      <p:sp>
        <p:nvSpPr>
          <p:cNvPr id="14" name="Text 11"/>
          <p:cNvSpPr txBox="1"/>
          <p:nvPr/>
        </p:nvSpPr>
        <p:spPr>
          <a:xfrm>
            <a:off x="6976872" y="2377440"/>
            <a:ext cx="4480560" cy="1280160"/>
          </a:xfrm>
          <a:prstGeom prst="rect">
            <a:avLst/>
          </a:prstGeom>
          <a:noFill/>
          <a:ln/>
        </p:spPr>
        <p:txBody>
          <a:bodyPr wrap="square" lIns="0" tIns="0" rIns="0" bIns="0" rtlCol="0" anchor="t"/>
          <a:lstStyle/>
          <a:p>
            <a:pPr indent="0" marL="0">
              <a:buNone/>
            </a:pPr>
            <a:r>
              <a:rPr lang="en-US" sz="1250" dirty="0">
                <a:solidFill>
                  <a:srgbClr val="222222"/>
                </a:solidFill>
              </a:rPr>
              <a:t>19 % de eventos con animal marcados vacíos. Humano en el circuito: revisar una muestra de los vacíos y las detecciones de baja confianza.</a:t>
            </a:r>
            <a:endParaRPr lang="en-US" sz="1250" dirty="0"/>
          </a:p>
        </p:txBody>
      </p:sp>
      <p:sp>
        <p:nvSpPr>
          <p:cNvPr id="15" name="Shape 12"/>
          <p:cNvSpPr/>
          <p:nvPr/>
        </p:nvSpPr>
        <p:spPr>
          <a:xfrm>
            <a:off x="548640" y="3931920"/>
            <a:ext cx="5440680" cy="2057400"/>
          </a:xfrm>
          <a:prstGeom prst="roundRect">
            <a:avLst>
              <a:gd name="adj" fmla="val 3556"/>
            </a:avLst>
          </a:prstGeom>
          <a:solidFill>
            <a:srgbClr val="F3F4F6"/>
          </a:solidFill>
          <a:ln w="9525">
            <a:solidFill>
              <a:srgbClr val="D9D9D9"/>
            </a:solidFill>
            <a:prstDash val="solid"/>
          </a:ln>
        </p:spPr>
      </p:sp>
      <p:sp>
        <p:nvSpPr>
          <p:cNvPr id="16" name="Shape 13"/>
          <p:cNvSpPr/>
          <p:nvPr/>
        </p:nvSpPr>
        <p:spPr>
          <a:xfrm>
            <a:off x="777240" y="4160520"/>
            <a:ext cx="384048" cy="384048"/>
          </a:xfrm>
          <a:prstGeom prst="ellipse">
            <a:avLst/>
          </a:prstGeom>
          <a:solidFill>
            <a:srgbClr val="7A1518"/>
          </a:solidFill>
          <a:ln w="12700">
            <a:solidFill>
              <a:srgbClr val="7A1518"/>
            </a:solidFill>
            <a:prstDash val="solid"/>
          </a:ln>
        </p:spPr>
      </p:sp>
      <p:sp>
        <p:nvSpPr>
          <p:cNvPr id="17" name="Text 14"/>
          <p:cNvSpPr txBox="1"/>
          <p:nvPr/>
        </p:nvSpPr>
        <p:spPr>
          <a:xfrm>
            <a:off x="777240" y="4160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8" name="Text 15"/>
          <p:cNvSpPr txBox="1"/>
          <p:nvPr/>
        </p:nvSpPr>
        <p:spPr>
          <a:xfrm>
            <a:off x="1325880" y="4114800"/>
            <a:ext cx="4480560" cy="457200"/>
          </a:xfrm>
          <a:prstGeom prst="rect">
            <a:avLst/>
          </a:prstGeom>
          <a:noFill/>
          <a:ln/>
        </p:spPr>
        <p:txBody>
          <a:bodyPr wrap="square" lIns="0" tIns="0" rIns="0" bIns="0" rtlCol="0" anchor="ctr"/>
          <a:lstStyle/>
          <a:p>
            <a:pPr indent="0" marL="0">
              <a:buNone/>
            </a:pPr>
            <a:r>
              <a:rPr lang="en-US" sz="1500" b="1" dirty="0">
                <a:solidFill>
                  <a:srgbClr val="7A1518"/>
                </a:solidFill>
              </a:rPr>
              <a:t>Ubicación y privacidad</a:t>
            </a:r>
            <a:endParaRPr lang="en-US" sz="1500" dirty="0"/>
          </a:p>
        </p:txBody>
      </p:sp>
      <p:sp>
        <p:nvSpPr>
          <p:cNvPr id="19" name="Text 16"/>
          <p:cNvSpPr txBox="1"/>
          <p:nvPr/>
        </p:nvSpPr>
        <p:spPr>
          <a:xfrm>
            <a:off x="1325880" y="4617720"/>
            <a:ext cx="4480560" cy="1280160"/>
          </a:xfrm>
          <a:prstGeom prst="rect">
            <a:avLst/>
          </a:prstGeom>
          <a:noFill/>
          <a:ln/>
        </p:spPr>
        <p:txBody>
          <a:bodyPr wrap="square" lIns="0" tIns="0" rIns="0" bIns="0" rtlCol="0" anchor="t"/>
          <a:lstStyle/>
          <a:p>
            <a:pPr indent="0" marL="0">
              <a:buNone/>
            </a:pPr>
            <a:r>
              <a:rPr lang="en-US" sz="1250" dirty="0">
                <a:solidFill>
                  <a:srgbClr val="222222"/>
                </a:solidFill>
              </a:rPr>
              <a:t>Coordenadas y horarios pueden facilitar la caza furtiva; las cámaras fotografían personas sin consentimiento. Generalizar ubicaciones y difuminar personas.</a:t>
            </a:r>
            <a:endParaRPr lang="en-US" sz="1250" dirty="0"/>
          </a:p>
        </p:txBody>
      </p:sp>
      <p:sp>
        <p:nvSpPr>
          <p:cNvPr id="20" name="Shape 17"/>
          <p:cNvSpPr/>
          <p:nvPr/>
        </p:nvSpPr>
        <p:spPr>
          <a:xfrm>
            <a:off x="6199632" y="3931920"/>
            <a:ext cx="5440680" cy="2057400"/>
          </a:xfrm>
          <a:prstGeom prst="roundRect">
            <a:avLst>
              <a:gd name="adj" fmla="val 3556"/>
            </a:avLst>
          </a:prstGeom>
          <a:solidFill>
            <a:srgbClr val="E3EAF4"/>
          </a:solidFill>
          <a:ln w="9525">
            <a:solidFill>
              <a:srgbClr val="B4C6E7"/>
            </a:solidFill>
            <a:prstDash val="solid"/>
          </a:ln>
        </p:spPr>
      </p:sp>
      <p:sp>
        <p:nvSpPr>
          <p:cNvPr id="21" name="Shape 18"/>
          <p:cNvSpPr/>
          <p:nvPr/>
        </p:nvSpPr>
        <p:spPr>
          <a:xfrm>
            <a:off x="6428232" y="4160520"/>
            <a:ext cx="384048" cy="384048"/>
          </a:xfrm>
          <a:prstGeom prst="ellipse">
            <a:avLst/>
          </a:prstGeom>
          <a:solidFill>
            <a:srgbClr val="7A1518"/>
          </a:solidFill>
          <a:ln w="12700">
            <a:solidFill>
              <a:srgbClr val="7A1518"/>
            </a:solidFill>
            <a:prstDash val="solid"/>
          </a:ln>
        </p:spPr>
      </p:sp>
      <p:sp>
        <p:nvSpPr>
          <p:cNvPr id="22" name="Text 19"/>
          <p:cNvSpPr txBox="1"/>
          <p:nvPr/>
        </p:nvSpPr>
        <p:spPr>
          <a:xfrm>
            <a:off x="6428232" y="4160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3" name="Text 20"/>
          <p:cNvSpPr txBox="1"/>
          <p:nvPr/>
        </p:nvSpPr>
        <p:spPr>
          <a:xfrm>
            <a:off x="6976872" y="4114800"/>
            <a:ext cx="4480560" cy="457200"/>
          </a:xfrm>
          <a:prstGeom prst="rect">
            <a:avLst/>
          </a:prstGeom>
          <a:noFill/>
          <a:ln/>
        </p:spPr>
        <p:txBody>
          <a:bodyPr wrap="square" lIns="0" tIns="0" rIns="0" bIns="0" rtlCol="0" anchor="ctr"/>
          <a:lstStyle/>
          <a:p>
            <a:pPr indent="0" marL="0">
              <a:buNone/>
            </a:pPr>
            <a:r>
              <a:rPr lang="en-US" sz="1500" b="1" dirty="0">
                <a:solidFill>
                  <a:srgbClr val="7A1518"/>
                </a:solidFill>
              </a:rPr>
              <a:t>Transferencia a otros ecosistemas</a:t>
            </a:r>
            <a:endParaRPr lang="en-US" sz="1500" dirty="0"/>
          </a:p>
        </p:txBody>
      </p:sp>
      <p:sp>
        <p:nvSpPr>
          <p:cNvPr id="24" name="Text 21"/>
          <p:cNvSpPr txBox="1"/>
          <p:nvPr/>
        </p:nvSpPr>
        <p:spPr>
          <a:xfrm>
            <a:off x="6976872" y="4617720"/>
            <a:ext cx="4480560" cy="1280160"/>
          </a:xfrm>
          <a:prstGeom prst="rect">
            <a:avLst/>
          </a:prstGeom>
          <a:noFill/>
          <a:ln/>
        </p:spPr>
        <p:txBody>
          <a:bodyPr wrap="square" lIns="0" tIns="0" rIns="0" bIns="0" rtlCol="0" anchor="t"/>
          <a:lstStyle/>
          <a:p>
            <a:pPr indent="0" marL="0">
              <a:buNone/>
            </a:pPr>
            <a:r>
              <a:rPr lang="en-US" sz="1250" dirty="0">
                <a:solidFill>
                  <a:srgbClr val="222222"/>
                </a:solidFill>
              </a:rPr>
              <a:t>Un solo ecosistema del suroeste de EE. UU.; incluso entre cámaras cercanas el mAP cae 26 puntos. En la Amazonía o los Andes harían falta datos locales.</a:t>
            </a:r>
            <a:endParaRPr lang="en-US" sz="125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Conclusiones</a:t>
            </a:r>
            <a:endParaRPr lang="en-US" sz="2700" dirty="0"/>
          </a:p>
        </p:txBody>
      </p:sp>
      <p:sp>
        <p:nvSpPr>
          <p:cNvPr id="4" name="Shape 1"/>
          <p:cNvSpPr/>
          <p:nvPr/>
        </p:nvSpPr>
        <p:spPr>
          <a:xfrm>
            <a:off x="822960" y="1234440"/>
            <a:ext cx="10515600" cy="1097280"/>
          </a:xfrm>
          <a:prstGeom prst="roundRect">
            <a:avLst>
              <a:gd name="adj" fmla="val 6667"/>
            </a:avLst>
          </a:prstGeom>
          <a:solidFill>
            <a:srgbClr val="F3F4F6"/>
          </a:solidFill>
          <a:ln w="9525">
            <a:solidFill>
              <a:srgbClr val="D9D9D9"/>
            </a:solidFill>
            <a:prstDash val="solid"/>
          </a:ln>
        </p:spPr>
      </p:sp>
      <p:sp>
        <p:nvSpPr>
          <p:cNvPr id="5" name="Shape 2"/>
          <p:cNvSpPr/>
          <p:nvPr/>
        </p:nvSpPr>
        <p:spPr>
          <a:xfrm>
            <a:off x="1051560" y="1581912"/>
            <a:ext cx="384048" cy="384048"/>
          </a:xfrm>
          <a:prstGeom prst="ellipse">
            <a:avLst/>
          </a:prstGeom>
          <a:solidFill>
            <a:srgbClr val="7A1518"/>
          </a:solidFill>
          <a:ln w="12700">
            <a:solidFill>
              <a:srgbClr val="7A1518"/>
            </a:solidFill>
            <a:prstDash val="solid"/>
          </a:ln>
        </p:spPr>
      </p:sp>
      <p:sp>
        <p:nvSpPr>
          <p:cNvPr id="6" name="Text 3"/>
          <p:cNvSpPr txBox="1"/>
          <p:nvPr/>
        </p:nvSpPr>
        <p:spPr>
          <a:xfrm>
            <a:off x="1051560" y="1581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645920" y="1325880"/>
            <a:ext cx="9509760" cy="914400"/>
          </a:xfrm>
          <a:prstGeom prst="rect">
            <a:avLst/>
          </a:prstGeom>
          <a:noFill/>
          <a:ln/>
        </p:spPr>
        <p:txBody>
          <a:bodyPr wrap="square" lIns="0" tIns="0" rIns="0" bIns="0" rtlCol="0" anchor="ctr"/>
          <a:lstStyle/>
          <a:p>
            <a:pPr indent="0" marL="0">
              <a:buNone/>
            </a:pPr>
            <a:r>
              <a:rPr lang="en-US" sz="1600" b="1" dirty="0">
                <a:solidFill>
                  <a:srgbClr val="1F3B66"/>
                </a:solidFill>
              </a:rPr>
              <a:t>Las vacías como fondo valen la pena</a:t>
            </a:r>
            <a:endParaRPr lang="en-US" sz="1600" dirty="0"/>
          </a:p>
          <a:p>
            <a:pPr indent="0" marL="0">
              <a:buNone/>
            </a:pPr>
            <a:r>
              <a:rPr lang="en-US" sz="1300" dirty="0">
                <a:solidFill>
                  <a:srgbClr val="222222"/>
                </a:solidFill>
              </a:rPr>
              <a:t>Reducen a la mitad los falsos disparos y suben el mAP (+1,8 en mAP@0.5) sin costo de anotación.</a:t>
            </a:r>
            <a:endParaRPr lang="en-US" sz="1600" dirty="0"/>
          </a:p>
        </p:txBody>
      </p:sp>
      <p:sp>
        <p:nvSpPr>
          <p:cNvPr id="8" name="Shape 5"/>
          <p:cNvSpPr/>
          <p:nvPr/>
        </p:nvSpPr>
        <p:spPr>
          <a:xfrm>
            <a:off x="822960" y="2496312"/>
            <a:ext cx="10515600" cy="1097280"/>
          </a:xfrm>
          <a:prstGeom prst="roundRect">
            <a:avLst>
              <a:gd name="adj" fmla="val 6667"/>
            </a:avLst>
          </a:prstGeom>
          <a:solidFill>
            <a:srgbClr val="F3F4F6"/>
          </a:solidFill>
          <a:ln w="9525">
            <a:solidFill>
              <a:srgbClr val="D9D9D9"/>
            </a:solidFill>
            <a:prstDash val="solid"/>
          </a:ln>
        </p:spPr>
      </p:sp>
      <p:sp>
        <p:nvSpPr>
          <p:cNvPr id="9" name="Shape 6"/>
          <p:cNvSpPr/>
          <p:nvPr/>
        </p:nvSpPr>
        <p:spPr>
          <a:xfrm>
            <a:off x="1051560" y="2843784"/>
            <a:ext cx="384048" cy="384048"/>
          </a:xfrm>
          <a:prstGeom prst="ellipse">
            <a:avLst/>
          </a:prstGeom>
          <a:solidFill>
            <a:srgbClr val="7A1518"/>
          </a:solidFill>
          <a:ln w="12700">
            <a:solidFill>
              <a:srgbClr val="7A1518"/>
            </a:solidFill>
            <a:prstDash val="solid"/>
          </a:ln>
        </p:spPr>
      </p:sp>
      <p:sp>
        <p:nvSpPr>
          <p:cNvPr id="10" name="Text 7"/>
          <p:cNvSpPr txBox="1"/>
          <p:nvPr/>
        </p:nvSpPr>
        <p:spPr>
          <a:xfrm>
            <a:off x="1051560" y="2843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1645920" y="2587752"/>
            <a:ext cx="9509760" cy="914400"/>
          </a:xfrm>
          <a:prstGeom prst="rect">
            <a:avLst/>
          </a:prstGeom>
          <a:noFill/>
          <a:ln/>
        </p:spPr>
        <p:txBody>
          <a:bodyPr wrap="square" lIns="0" tIns="0" rIns="0" bIns="0" rtlCol="0" anchor="ctr"/>
          <a:lstStyle/>
          <a:p>
            <a:pPr indent="0" marL="0">
              <a:buNone/>
            </a:pPr>
            <a:r>
              <a:rPr lang="en-US" sz="1600" b="1" dirty="0">
                <a:solidFill>
                  <a:srgbClr val="1F3B66"/>
                </a:solidFill>
              </a:rPr>
              <a:t>En cámaras nuevas se pierde recall, no precisión</a:t>
            </a:r>
            <a:endParaRPr lang="en-US" sz="1600" dirty="0"/>
          </a:p>
          <a:p>
            <a:pPr indent="0" marL="0">
              <a:buNone/>
            </a:pPr>
            <a:r>
              <a:rPr lang="en-US" sz="1300" dirty="0">
                <a:solidFill>
                  <a:srgbClr val="222222"/>
                </a:solidFill>
              </a:rPr>
              <a:t>mAP@0.5 0,72 → 0,46; recall 0,66 → 0,42; falsos disparos 3,6 % → 4,3 %.</a:t>
            </a:r>
            <a:endParaRPr lang="en-US" sz="1600" dirty="0"/>
          </a:p>
        </p:txBody>
      </p:sp>
      <p:sp>
        <p:nvSpPr>
          <p:cNvPr id="12" name="Shape 9"/>
          <p:cNvSpPr/>
          <p:nvPr/>
        </p:nvSpPr>
        <p:spPr>
          <a:xfrm>
            <a:off x="822960" y="3758184"/>
            <a:ext cx="10515600" cy="1097280"/>
          </a:xfrm>
          <a:prstGeom prst="roundRect">
            <a:avLst>
              <a:gd name="adj" fmla="val 6667"/>
            </a:avLst>
          </a:prstGeom>
          <a:solidFill>
            <a:srgbClr val="F3F4F6"/>
          </a:solidFill>
          <a:ln w="9525">
            <a:solidFill>
              <a:srgbClr val="D9D9D9"/>
            </a:solidFill>
            <a:prstDash val="solid"/>
          </a:ln>
        </p:spPr>
      </p:sp>
      <p:sp>
        <p:nvSpPr>
          <p:cNvPr id="13" name="Shape 10"/>
          <p:cNvSpPr/>
          <p:nvPr/>
        </p:nvSpPr>
        <p:spPr>
          <a:xfrm>
            <a:off x="1051560" y="4105656"/>
            <a:ext cx="384048" cy="384048"/>
          </a:xfrm>
          <a:prstGeom prst="ellipse">
            <a:avLst/>
          </a:prstGeom>
          <a:solidFill>
            <a:srgbClr val="7A1518"/>
          </a:solidFill>
          <a:ln w="12700">
            <a:solidFill>
              <a:srgbClr val="7A1518"/>
            </a:solidFill>
            <a:prstDash val="solid"/>
          </a:ln>
        </p:spPr>
      </p:sp>
      <p:sp>
        <p:nvSpPr>
          <p:cNvPr id="14" name="Text 11"/>
          <p:cNvSpPr txBox="1"/>
          <p:nvPr/>
        </p:nvSpPr>
        <p:spPr>
          <a:xfrm>
            <a:off x="1051560" y="41056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2"/>
          <p:cNvSpPr txBox="1"/>
          <p:nvPr/>
        </p:nvSpPr>
        <p:spPr>
          <a:xfrm>
            <a:off x="1645920" y="3849624"/>
            <a:ext cx="9509760" cy="914400"/>
          </a:xfrm>
          <a:prstGeom prst="rect">
            <a:avLst/>
          </a:prstGeom>
          <a:noFill/>
          <a:ln/>
        </p:spPr>
        <p:txBody>
          <a:bodyPr wrap="square" lIns="0" tIns="0" rIns="0" bIns="0" rtlCol="0" anchor="ctr"/>
          <a:lstStyle/>
          <a:p>
            <a:pPr indent="0" marL="0">
              <a:buNone/>
            </a:pPr>
            <a:r>
              <a:rPr lang="en-US" sz="1600" b="1" dirty="0">
                <a:solidFill>
                  <a:srgbClr val="1F3B66"/>
                </a:solidFill>
              </a:rPr>
              <a:t>No es un atajo de fondo: es falta de variedad</a:t>
            </a:r>
            <a:endParaRPr lang="en-US" sz="1600" dirty="0"/>
          </a:p>
          <a:p>
            <a:pPr indent="0" marL="0">
              <a:buNone/>
            </a:pPr>
            <a:r>
              <a:rPr lang="en-US" sz="1300" dirty="0">
                <a:solidFill>
                  <a:srgbClr val="222222"/>
                </a:solidFill>
              </a:rPr>
              <a:t>El borrado lo descarta (0/600). Caen las especies vistas en pocas cámaras y los animales cortados por el encuadre.</a:t>
            </a:r>
            <a:endParaRPr lang="en-US" sz="1600" dirty="0"/>
          </a:p>
        </p:txBody>
      </p:sp>
      <p:sp>
        <p:nvSpPr>
          <p:cNvPr id="16" name="Shape 13"/>
          <p:cNvSpPr/>
          <p:nvPr/>
        </p:nvSpPr>
        <p:spPr>
          <a:xfrm>
            <a:off x="822960" y="5020056"/>
            <a:ext cx="10515600" cy="1097280"/>
          </a:xfrm>
          <a:prstGeom prst="roundRect">
            <a:avLst>
              <a:gd name="adj" fmla="val 6667"/>
            </a:avLst>
          </a:prstGeom>
          <a:solidFill>
            <a:srgbClr val="F3F4F6"/>
          </a:solidFill>
          <a:ln w="9525">
            <a:solidFill>
              <a:srgbClr val="D9D9D9"/>
            </a:solidFill>
            <a:prstDash val="solid"/>
          </a:ln>
        </p:spPr>
      </p:sp>
      <p:sp>
        <p:nvSpPr>
          <p:cNvPr id="17" name="Shape 14"/>
          <p:cNvSpPr/>
          <p:nvPr/>
        </p:nvSpPr>
        <p:spPr>
          <a:xfrm>
            <a:off x="1051560" y="5367528"/>
            <a:ext cx="384048" cy="384048"/>
          </a:xfrm>
          <a:prstGeom prst="ellipse">
            <a:avLst/>
          </a:prstGeom>
          <a:solidFill>
            <a:srgbClr val="7A1518"/>
          </a:solidFill>
          <a:ln w="12700">
            <a:solidFill>
              <a:srgbClr val="7A1518"/>
            </a:solidFill>
            <a:prstDash val="solid"/>
          </a:ln>
        </p:spPr>
      </p:sp>
      <p:sp>
        <p:nvSpPr>
          <p:cNvPr id="18" name="Text 15"/>
          <p:cNvSpPr txBox="1"/>
          <p:nvPr/>
        </p:nvSpPr>
        <p:spPr>
          <a:xfrm>
            <a:off x="1051560" y="5367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1645920" y="5111496"/>
            <a:ext cx="9509760" cy="914400"/>
          </a:xfrm>
          <a:prstGeom prst="rect">
            <a:avLst/>
          </a:prstGeom>
          <a:noFill/>
          <a:ln/>
        </p:spPr>
        <p:txBody>
          <a:bodyPr wrap="square" lIns="0" tIns="0" rIns="0" bIns="0" rtlCol="0" anchor="ctr"/>
          <a:lstStyle/>
          <a:p>
            <a:pPr indent="0" marL="0">
              <a:buNone/>
            </a:pPr>
            <a:r>
              <a:rPr lang="en-US" sz="1600" b="1" dirty="0">
                <a:solidFill>
                  <a:srgbClr val="1F3B66"/>
                </a:solidFill>
              </a:rPr>
              <a:t>Útil para actividad, no para inventarios</a:t>
            </a:r>
            <a:endParaRPr lang="en-US" sz="1600" dirty="0"/>
          </a:p>
          <a:p>
            <a:pPr indent="0" marL="0">
              <a:buNone/>
            </a:pPr>
            <a:r>
              <a:rPr lang="en-US" sz="1300" dirty="0">
                <a:solidFill>
                  <a:srgbClr val="222222"/>
                </a:solidFill>
              </a:rPr>
              <a:t>Cámara 46: 75 % de acierto por evento y patrones nocturnos fieles, pero 19 % de eventos perdidos y especies pequeñas ausentes.</a:t>
            </a:r>
            <a:endParaRPr lang="en-US" sz="160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3291840" y="164592"/>
            <a:ext cx="8595360" cy="713232"/>
          </a:xfrm>
          <a:prstGeom prst="rect">
            <a:avLst/>
          </a:prstGeom>
          <a:noFill/>
          <a:ln/>
        </p:spPr>
        <p:txBody>
          <a:bodyPr wrap="square" rtlCol="0" anchor="ctr"/>
          <a:lstStyle/>
          <a:p>
            <a:pPr algn="ctr" indent="0" marL="0">
              <a:buNone/>
            </a:pPr>
            <a:r>
              <a:rPr lang="en-US" sz="2700" b="1" dirty="0">
                <a:solidFill>
                  <a:srgbClr val="222222"/>
                </a:solidFill>
              </a:rPr>
              <a:t>Conclusiones</a:t>
            </a:r>
            <a:endParaRPr lang="en-US" sz="2700" dirty="0"/>
          </a:p>
        </p:txBody>
      </p:sp>
      <p:sp>
        <p:nvSpPr>
          <p:cNvPr id="3" name="Text 1"/>
          <p:cNvSpPr txBox="1"/>
          <p:nvPr/>
        </p:nvSpPr>
        <p:spPr>
          <a:xfrm>
            <a:off x="548640" y="1033272"/>
            <a:ext cx="11091672" cy="384048"/>
          </a:xfrm>
          <a:prstGeom prst="rect">
            <a:avLst/>
          </a:prstGeom>
          <a:noFill/>
          <a:ln/>
        </p:spPr>
        <p:txBody>
          <a:bodyPr wrap="square" rtlCol="0" anchor="ctr"/>
          <a:lstStyle/>
          <a:p>
            <a:pPr algn="ctr" indent="0" marL="0">
              <a:buNone/>
            </a:pPr>
            <a:r>
              <a:rPr lang="en-US" sz="1700" b="1" dirty="0">
                <a:solidFill>
                  <a:srgbClr val="7A1518"/>
                </a:solidFill>
                <a:latin typeface="Cambria" pitchFamily="34" charset="0"/>
                <a:ea typeface="Cambria" pitchFamily="34" charset="-122"/>
                <a:cs typeface="Cambria" pitchFamily="34" charset="-120"/>
              </a:rPr>
              <a:t>Reproducible con un solo comando, con margen de mejora</a:t>
            </a:r>
            <a:endParaRPr lang="en-US" sz="1700" dirty="0"/>
          </a:p>
        </p:txBody>
      </p:sp>
      <p:sp>
        <p:nvSpPr>
          <p:cNvPr id="5" name="Shape 2"/>
          <p:cNvSpPr/>
          <p:nvPr/>
        </p:nvSpPr>
        <p:spPr>
          <a:xfrm>
            <a:off x="548640" y="1645920"/>
            <a:ext cx="6035040" cy="2148840"/>
          </a:xfrm>
          <a:prstGeom prst="roundRect">
            <a:avLst>
              <a:gd name="adj" fmla="val 3404"/>
            </a:avLst>
          </a:prstGeom>
          <a:solidFill>
            <a:srgbClr val="262A33"/>
          </a:solidFill>
          <a:ln w="9525">
            <a:solidFill>
              <a:srgbClr val="262A33"/>
            </a:solidFill>
            <a:prstDash val="solid"/>
          </a:ln>
        </p:spPr>
      </p:sp>
      <p:sp>
        <p:nvSpPr>
          <p:cNvPr id="6" name="Text 3"/>
          <p:cNvSpPr txBox="1"/>
          <p:nvPr/>
        </p:nvSpPr>
        <p:spPr>
          <a:xfrm>
            <a:off x="731520" y="1719072"/>
            <a:ext cx="5669280" cy="274320"/>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Terminal</a:t>
            </a:r>
            <a:endParaRPr lang="en-US" sz="1000" dirty="0"/>
          </a:p>
        </p:txBody>
      </p:sp>
      <p:sp>
        <p:nvSpPr>
          <p:cNvPr id="7" name="Text 4"/>
          <p:cNvSpPr txBox="1"/>
          <p:nvPr/>
        </p:nvSpPr>
        <p:spPr>
          <a:xfrm>
            <a:off x="731520" y="2029968"/>
            <a:ext cx="5669280" cy="1645920"/>
          </a:xfrm>
          <a:prstGeom prst="rect">
            <a:avLst/>
          </a:prstGeom>
          <a:noFill/>
          <a:ln/>
        </p:spPr>
        <p:txBody>
          <a:bodyPr wrap="square" lIns="0" tIns="0" rIns="0" bIns="0" rtlCol="0" anchor="t"/>
          <a:lstStyle/>
          <a:p>
            <a:pPr indent="0" marL="0">
              <a:buNone/>
            </a:pPr>
            <a:r>
              <a:rPr lang="en-US" sz="1100" dirty="0">
                <a:solidFill>
                  <a:srgbClr val="E6E6E6"/>
                </a:solidFill>
                <a:latin typeface="Consolas" pitchFamily="34" charset="0"/>
                <a:ea typeface="Consolas" pitchFamily="34" charset="-122"/>
                <a:cs typeface="Consolas" pitchFamily="34" charset="-120"/>
              </a:rPr>
              <a:t>pip install -r requirements.txt</a:t>
            </a:r>
            <a:endParaRPr lang="en-US" sz="1100" dirty="0"/>
          </a:p>
          <a:p>
            <a:pPr indent="0" marL="0">
              <a:buNone/>
            </a:pPr>
            <a:r>
              <a:rPr lang="en-US" sz="1100" dirty="0">
                <a:solidFill>
                  <a:srgbClr val="E6E6E6"/>
                </a:solidFill>
                <a:latin typeface="Consolas" pitchFamily="34" charset="0"/>
                <a:ea typeface="Consolas" pitchFamily="34" charset="-122"/>
                <a:cs typeface="Consolas" pitchFamily="34" charset="-120"/>
              </a:rPr>
              <a:t>python run_all.py</a:t>
            </a:r>
            <a:endParaRPr lang="en-US" sz="1100" dirty="0"/>
          </a:p>
          <a:p>
            <a:pPr indent="0" marL="0">
              <a:buNone/>
            </a:pPr>
            <a:r>
              <a:rPr lang="en-US" sz="1100" dirty="0">
                <a:solidFill>
                  <a:srgbClr val="C792EA"/>
                </a:solidFill>
                <a:latin typeface="Consolas" pitchFamily="34" charset="0"/>
                <a:ea typeface="Consolas" pitchFamily="34" charset="-122"/>
                <a:cs typeface="Consolas" pitchFamily="34" charset="-120"/>
              </a:rPr>
              <a:t>  # descarga → conversión → E1/E2/E3 →</a:t>
            </a:r>
            <a:endParaRPr lang="en-US" sz="1100" dirty="0"/>
          </a:p>
          <a:p>
            <a:pPr indent="0" marL="0">
              <a:buNone/>
            </a:pPr>
            <a:r>
              <a:rPr lang="en-US" sz="1100" dirty="0">
                <a:solidFill>
                  <a:srgbClr val="C792EA"/>
                </a:solidFill>
                <a:latin typeface="Consolas" pitchFamily="34" charset="0"/>
                <a:ea typeface="Consolas" pitchFamily="34" charset="-122"/>
                <a:cs typeface="Consolas" pitchFamily="34" charset="-120"/>
              </a:rPr>
              <a:t>  # evaluación cis/trans → análisis</a:t>
            </a:r>
            <a:endParaRPr lang="en-US" sz="1100" dirty="0"/>
          </a:p>
          <a:p>
            <a:pPr indent="0" marL="0">
              <a:buNone/>
            </a:pPr>
            <a:endParaRPr lang="en-US" sz="1100" dirty="0"/>
          </a:p>
          <a:p>
            <a:pPr indent="0" marL="0">
              <a:buNone/>
            </a:pPr>
            <a:r>
              <a:rPr lang="en-US" sz="1100" dirty="0">
                <a:solidFill>
                  <a:srgbClr val="C792EA"/>
                </a:solidFill>
                <a:latin typeface="Consolas" pitchFamily="34" charset="0"/>
                <a:ea typeface="Consolas" pitchFamily="34" charset="-122"/>
                <a:cs typeface="Consolas" pitchFamily="34" charset="-120"/>
              </a:rPr>
              <a:t># en Colab, resultados en Drive:</a:t>
            </a:r>
            <a:endParaRPr lang="en-US" sz="1100" dirty="0"/>
          </a:p>
          <a:p>
            <a:pPr indent="0" marL="0">
              <a:buNone/>
            </a:pPr>
            <a:r>
              <a:rPr lang="en-US" sz="1100" dirty="0">
                <a:solidFill>
                  <a:srgbClr val="E6E6E6"/>
                </a:solidFill>
                <a:latin typeface="Consolas" pitchFamily="34" charset="0"/>
                <a:ea typeface="Consolas" pitchFamily="34" charset="-122"/>
                <a:cs typeface="Consolas" pitchFamily="34" charset="-120"/>
              </a:rPr>
              <a:t>python run_all.py --runs /content/drive/...</a:t>
            </a:r>
            <a:endParaRPr lang="en-US" sz="1100" dirty="0"/>
          </a:p>
        </p:txBody>
      </p:sp>
      <p:sp>
        <p:nvSpPr>
          <p:cNvPr id="8" name="Shape 5"/>
          <p:cNvSpPr/>
          <p:nvPr/>
        </p:nvSpPr>
        <p:spPr>
          <a:xfrm>
            <a:off x="548640" y="3977640"/>
            <a:ext cx="6035040" cy="2148840"/>
          </a:xfrm>
          <a:prstGeom prst="roundRect">
            <a:avLst>
              <a:gd name="adj" fmla="val 3404"/>
            </a:avLst>
          </a:prstGeom>
          <a:solidFill>
            <a:srgbClr val="F3F4F6"/>
          </a:solidFill>
          <a:ln w="9525">
            <a:solidFill>
              <a:srgbClr val="D9D9D9"/>
            </a:solidFill>
            <a:prstDash val="solid"/>
          </a:ln>
        </p:spPr>
      </p:sp>
      <p:sp>
        <p:nvSpPr>
          <p:cNvPr id="9" name="Text 6"/>
          <p:cNvSpPr txBox="1"/>
          <p:nvPr/>
        </p:nvSpPr>
        <p:spPr>
          <a:xfrm>
            <a:off x="731520" y="4087368"/>
            <a:ext cx="5669280" cy="1929384"/>
          </a:xfrm>
          <a:prstGeom prst="rect">
            <a:avLst/>
          </a:prstGeom>
          <a:noFill/>
          <a:ln/>
        </p:spPr>
        <p:txBody>
          <a:bodyPr wrap="square" lIns="0" tIns="0" rIns="0" bIns="0" rtlCol="0" anchor="t"/>
          <a:lstStyle/>
          <a:p>
            <a:pPr indent="0" marL="0">
              <a:spcAft>
                <a:spcPts val="400"/>
              </a:spcAft>
              <a:buNone/>
            </a:pPr>
            <a:r>
              <a:rPr lang="en-US" sz="1500" b="1" dirty="0">
                <a:solidFill>
                  <a:srgbClr val="7A1518"/>
                </a:solidFill>
              </a:rPr>
              <a:t>Repositorio</a:t>
            </a:r>
            <a:endParaRPr lang="en-US" sz="1500" dirty="0"/>
          </a:p>
          <a:p>
            <a:pPr indent="0" marL="0">
              <a:spcAft>
                <a:spcPts val="400"/>
              </a:spcAft>
              <a:buNone/>
            </a:pPr>
            <a:r>
              <a:rPr lang="en-US" sz="1400" dirty="0">
                <a:solidFill>
                  <a:srgbClr val="222222"/>
                </a:solidFill>
              </a:rPr>
              <a:t>github.com/roshan0297/rnc-pregunta3-parcial</a:t>
            </a:r>
            <a:endParaRPr lang="en-US" sz="1500" dirty="0"/>
          </a:p>
          <a:p>
            <a:pPr indent="0" marL="0">
              <a:spcAft>
                <a:spcPts val="400"/>
              </a:spcAft>
              <a:buNone/>
            </a:pPr>
            <a:r>
              <a:rPr lang="en-US" sz="1400" dirty="0">
                <a:solidFill>
                  <a:srgbClr val="222222"/>
                </a:solidFill>
              </a:rPr>
              <a:t>Entrenado en Colab (Tesla T4): E3 ≈ 2,6 h. Cada paso se salta si ya existe y los entrenamientos se reanudan desde last.pt, así que tolera los cortes de sesión.</a:t>
            </a:r>
            <a:endParaRPr lang="en-US" sz="1500" dirty="0"/>
          </a:p>
        </p:txBody>
      </p:sp>
      <p:sp>
        <p:nvSpPr>
          <p:cNvPr id="10" name="Text 7"/>
          <p:cNvSpPr txBox="1"/>
          <p:nvPr/>
        </p:nvSpPr>
        <p:spPr>
          <a:xfrm>
            <a:off x="6858000" y="1645920"/>
            <a:ext cx="4754880" cy="365760"/>
          </a:xfrm>
          <a:prstGeom prst="rect">
            <a:avLst/>
          </a:prstGeom>
          <a:noFill/>
          <a:ln/>
        </p:spPr>
        <p:txBody>
          <a:bodyPr wrap="square" lIns="0" tIns="0" rIns="0" bIns="0" rtlCol="0" anchor="ctr"/>
          <a:lstStyle/>
          <a:p>
            <a:pPr indent="0" marL="0">
              <a:buNone/>
            </a:pPr>
            <a:r>
              <a:rPr lang="en-US" sz="1600" b="1" dirty="0">
                <a:solidFill>
                  <a:srgbClr val="7A1518"/>
                </a:solidFill>
              </a:rPr>
              <a:t>Trabajo futuro</a:t>
            </a:r>
            <a:endParaRPr lang="en-US" sz="1600" dirty="0"/>
          </a:p>
        </p:txBody>
      </p:sp>
      <p:sp>
        <p:nvSpPr>
          <p:cNvPr id="11" name="Shape 8"/>
          <p:cNvSpPr/>
          <p:nvPr/>
        </p:nvSpPr>
        <p:spPr>
          <a:xfrm>
            <a:off x="6858000" y="2148840"/>
            <a:ext cx="4782312" cy="1188720"/>
          </a:xfrm>
          <a:prstGeom prst="roundRect">
            <a:avLst>
              <a:gd name="adj" fmla="val 6154"/>
            </a:avLst>
          </a:prstGeom>
          <a:solidFill>
            <a:srgbClr val="E2EFDA"/>
          </a:solidFill>
          <a:ln w="9525">
            <a:solidFill>
              <a:srgbClr val="8FBF7F"/>
            </a:solidFill>
            <a:prstDash val="solid"/>
          </a:ln>
        </p:spPr>
      </p:sp>
      <p:sp>
        <p:nvSpPr>
          <p:cNvPr id="12" name="Shape 9"/>
          <p:cNvSpPr/>
          <p:nvPr/>
        </p:nvSpPr>
        <p:spPr>
          <a:xfrm>
            <a:off x="7059168" y="2551176"/>
            <a:ext cx="384048" cy="384048"/>
          </a:xfrm>
          <a:prstGeom prst="ellipse">
            <a:avLst/>
          </a:prstGeom>
          <a:solidFill>
            <a:srgbClr val="2E7D32"/>
          </a:solidFill>
          <a:ln w="12700">
            <a:solidFill>
              <a:srgbClr val="2E7D32"/>
            </a:solidFill>
            <a:prstDash val="solid"/>
          </a:ln>
        </p:spPr>
      </p:sp>
      <p:sp>
        <p:nvSpPr>
          <p:cNvPr id="13" name="Text 10"/>
          <p:cNvSpPr txBox="1"/>
          <p:nvPr/>
        </p:nvSpPr>
        <p:spPr>
          <a:xfrm>
            <a:off x="7059168" y="25511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4" name="Text 11"/>
          <p:cNvSpPr txBox="1"/>
          <p:nvPr/>
        </p:nvSpPr>
        <p:spPr>
          <a:xfrm>
            <a:off x="7635240" y="2148840"/>
            <a:ext cx="3840480" cy="1188720"/>
          </a:xfrm>
          <a:prstGeom prst="rect">
            <a:avLst/>
          </a:prstGeom>
          <a:noFill/>
          <a:ln/>
        </p:spPr>
        <p:txBody>
          <a:bodyPr wrap="square" lIns="0" tIns="0" rIns="0" bIns="0" rtlCol="0" anchor="ctr"/>
          <a:lstStyle/>
          <a:p>
            <a:pPr indent="0" marL="0">
              <a:buNone/>
            </a:pPr>
            <a:r>
              <a:rPr lang="en-US" sz="1400" b="1" dirty="0">
                <a:solidFill>
                  <a:srgbClr val="222222"/>
                </a:solidFill>
              </a:rPr>
              <a:t>Mayor resolución (960 px)</a:t>
            </a:r>
            <a:endParaRPr lang="en-US" sz="1400" dirty="0"/>
          </a:p>
          <a:p>
            <a:pPr indent="0" marL="0">
              <a:buNone/>
            </a:pPr>
            <a:r>
              <a:rPr lang="en-US" sz="1200" dirty="0">
                <a:solidFill>
                  <a:srgbClr val="5A5A5A"/>
                </a:solidFill>
              </a:rPr>
              <a:t>Para los animales pequeños, el punto débil en ambos tests.</a:t>
            </a:r>
            <a:endParaRPr lang="en-US" sz="1400" dirty="0"/>
          </a:p>
        </p:txBody>
      </p:sp>
      <p:sp>
        <p:nvSpPr>
          <p:cNvPr id="15" name="Shape 12"/>
          <p:cNvSpPr/>
          <p:nvPr/>
        </p:nvSpPr>
        <p:spPr>
          <a:xfrm>
            <a:off x="6858000" y="3493008"/>
            <a:ext cx="4782312" cy="1188720"/>
          </a:xfrm>
          <a:prstGeom prst="roundRect">
            <a:avLst>
              <a:gd name="adj" fmla="val 6154"/>
            </a:avLst>
          </a:prstGeom>
          <a:solidFill>
            <a:srgbClr val="F3F4F6"/>
          </a:solidFill>
          <a:ln w="9525">
            <a:solidFill>
              <a:srgbClr val="D9D9D9"/>
            </a:solidFill>
            <a:prstDash val="solid"/>
          </a:ln>
        </p:spPr>
      </p:sp>
      <p:sp>
        <p:nvSpPr>
          <p:cNvPr id="16" name="Shape 13"/>
          <p:cNvSpPr/>
          <p:nvPr/>
        </p:nvSpPr>
        <p:spPr>
          <a:xfrm>
            <a:off x="7059168" y="3895344"/>
            <a:ext cx="384048" cy="384048"/>
          </a:xfrm>
          <a:prstGeom prst="ellipse">
            <a:avLst/>
          </a:prstGeom>
          <a:solidFill>
            <a:srgbClr val="7A1518"/>
          </a:solidFill>
          <a:ln w="12700">
            <a:solidFill>
              <a:srgbClr val="7A1518"/>
            </a:solidFill>
            <a:prstDash val="solid"/>
          </a:ln>
        </p:spPr>
      </p:sp>
      <p:sp>
        <p:nvSpPr>
          <p:cNvPr id="17" name="Text 14"/>
          <p:cNvSpPr txBox="1"/>
          <p:nvPr/>
        </p:nvSpPr>
        <p:spPr>
          <a:xfrm>
            <a:off x="7059168" y="38953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8" name="Text 15"/>
          <p:cNvSpPr txBox="1"/>
          <p:nvPr/>
        </p:nvSpPr>
        <p:spPr>
          <a:xfrm>
            <a:off x="7635240" y="3493008"/>
            <a:ext cx="3840480" cy="1188720"/>
          </a:xfrm>
          <a:prstGeom prst="rect">
            <a:avLst/>
          </a:prstGeom>
          <a:noFill/>
          <a:ln/>
        </p:spPr>
        <p:txBody>
          <a:bodyPr wrap="square" lIns="0" tIns="0" rIns="0" bIns="0" rtlCol="0" anchor="ctr"/>
          <a:lstStyle/>
          <a:p>
            <a:pPr indent="0" marL="0">
              <a:buNone/>
            </a:pPr>
            <a:r>
              <a:rPr lang="en-US" sz="1400" b="1" dirty="0">
                <a:solidFill>
                  <a:srgbClr val="222222"/>
                </a:solidFill>
              </a:rPr>
              <a:t>Más cámaras y ecosistemas</a:t>
            </a:r>
            <a:endParaRPr lang="en-US" sz="1400" dirty="0"/>
          </a:p>
          <a:p>
            <a:pPr indent="0" marL="0">
              <a:buNone/>
            </a:pPr>
            <a:r>
              <a:rPr lang="en-US" sz="1200" dirty="0">
                <a:solidFill>
                  <a:srgbClr val="5A5A5A"/>
                </a:solidFill>
              </a:rPr>
              <a:t>Variedad de escenas por especie, que importa más que la cantidad.</a:t>
            </a:r>
            <a:endParaRPr lang="en-US" sz="1400" dirty="0"/>
          </a:p>
        </p:txBody>
      </p:sp>
      <p:sp>
        <p:nvSpPr>
          <p:cNvPr id="19" name="Shape 16"/>
          <p:cNvSpPr/>
          <p:nvPr/>
        </p:nvSpPr>
        <p:spPr>
          <a:xfrm>
            <a:off x="6858000" y="4837176"/>
            <a:ext cx="4782312" cy="1188720"/>
          </a:xfrm>
          <a:prstGeom prst="roundRect">
            <a:avLst>
              <a:gd name="adj" fmla="val 6154"/>
            </a:avLst>
          </a:prstGeom>
          <a:solidFill>
            <a:srgbClr val="F3F4F6"/>
          </a:solidFill>
          <a:ln w="9525">
            <a:solidFill>
              <a:srgbClr val="D9D9D9"/>
            </a:solidFill>
            <a:prstDash val="solid"/>
          </a:ln>
        </p:spPr>
      </p:sp>
      <p:sp>
        <p:nvSpPr>
          <p:cNvPr id="20" name="Shape 17"/>
          <p:cNvSpPr/>
          <p:nvPr/>
        </p:nvSpPr>
        <p:spPr>
          <a:xfrm>
            <a:off x="7059168" y="5239512"/>
            <a:ext cx="384048" cy="384048"/>
          </a:xfrm>
          <a:prstGeom prst="ellipse">
            <a:avLst/>
          </a:prstGeom>
          <a:solidFill>
            <a:srgbClr val="7A1518"/>
          </a:solidFill>
          <a:ln w="12700">
            <a:solidFill>
              <a:srgbClr val="7A1518"/>
            </a:solidFill>
            <a:prstDash val="solid"/>
          </a:ln>
        </p:spPr>
      </p:sp>
      <p:sp>
        <p:nvSpPr>
          <p:cNvPr id="21" name="Text 18"/>
          <p:cNvSpPr txBox="1"/>
          <p:nvPr/>
        </p:nvSpPr>
        <p:spPr>
          <a:xfrm>
            <a:off x="7059168" y="5239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2" name="Text 19"/>
          <p:cNvSpPr txBox="1"/>
          <p:nvPr/>
        </p:nvSpPr>
        <p:spPr>
          <a:xfrm>
            <a:off x="7635240" y="4837176"/>
            <a:ext cx="3840480" cy="1188720"/>
          </a:xfrm>
          <a:prstGeom prst="rect">
            <a:avLst/>
          </a:prstGeom>
          <a:noFill/>
          <a:ln/>
        </p:spPr>
        <p:txBody>
          <a:bodyPr wrap="square" lIns="0" tIns="0" rIns="0" bIns="0" rtlCol="0" anchor="ctr"/>
          <a:lstStyle/>
          <a:p>
            <a:pPr indent="0" marL="0">
              <a:buNone/>
            </a:pPr>
            <a:r>
              <a:rPr lang="en-US" sz="1400" b="1" dirty="0">
                <a:solidFill>
                  <a:srgbClr val="222222"/>
                </a:solidFill>
              </a:rPr>
              <a:t>Interpretabilidad por caja</a:t>
            </a:r>
            <a:endParaRPr lang="en-US" sz="1400" dirty="0"/>
          </a:p>
          <a:p>
            <a:pPr indent="0" marL="0">
              <a:buNone/>
            </a:pPr>
            <a:r>
              <a:rPr lang="en-US" sz="1200" dirty="0">
                <a:solidFill>
                  <a:srgbClr val="5A5A5A"/>
                </a:solidFill>
              </a:rPr>
              <a:t>Mapas con gradientes de cada detección, no solo del backbone.</a:t>
            </a:r>
            <a:endParaRPr lang="en-US" sz="1400" dirty="0"/>
          </a:p>
        </p:txBody>
      </p:sp>
      <p:sp>
        <p:nvSpPr>
          <p:cNvPr id="25" name="Slide Number Placeholder 0"/>
          <p:cNvSpPr>
            <a:spLocks noGrp="1"/>
          </p:cNvSpPr>
          <p:nvPr>
            <p:ph type="sldNum" sz="quarter" idx="4294967295"/>
          </p:nvPr>
        </p:nvSpPr>
        <p:spPr>
          <a:xfrm>
            <a:off x="1133856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Detección de fauna en cámaras trampa con YOLO</dc:title>
  <dc:subject>PptxGenJS Presentation</dc:subject>
  <dc:creator>Grupo 6</dc:creator>
  <cp:lastModifiedBy>Grupo 6</cp:lastModifiedBy>
  <cp:revision>1</cp:revision>
  <dcterms:created xsi:type="dcterms:W3CDTF">2026-10-31T14:35:06Z</dcterms:created>
  <dcterms:modified xsi:type="dcterms:W3CDTF">2026-10-31T14:35:06Z</dcterms:modified>
</cp:coreProperties>
</file>